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 showMasterSp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Master" Type="http://schemas.openxmlformats.org/officeDocument/2006/relationships/image" Target="../media/logo_master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1. Logo IFF no Cabeçalho Superior Esquerdo -->
      <p:pic>
        <p:nvPicPr>
          <p:cNvPr id="1001" name="LogoIFFMaster"/>
          <p:cNvPicPr>
            <a:picLocks noChangeAspect="1"/>
          </p:cNvPicPr>
          <p:nvPr/>
        </p:nvPicPr>
        <p:blipFill>
          <a:blip r:embed="rIdLogoMaster"/>
          <a:stretch>
            <a:fillRect/>
          </a:stretch>
        </p:blipFill>
        <p:spPr>
          <a:xfrm>
            <a:off x="731520" y="73152"/>
            <a:ext cx="1591056" cy="438912"/>
          </a:xfrm>
          <a:prstGeom prst="rect">
            <a:avLst/>
          </a:prstGeom>
        </p:spPr>
      </p:pic>
      <!-- 2. Linha Divisória Superior (Verde IFF / Dourado) -->
      <p:sp>
        <p:nvSpPr>
          <p:cNvPr id="1002" name="LinhaDivisoriaSuperior"/>
          <p:cNvSpPr/>
          <p:nvPr/>
        </p:nvSpPr>
        <p:spPr>
          <a:xfrm>
            <a:off x="0" y="621792"/>
            <a:ext cx="12192000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</p:sp>
      <!-- 3. Disciplina & Tópico no Cabeçalho Superior Direito -->
      <p:sp>
        <p:nvSpPr>
          <p:cNvPr id="1003" name="CabecalhoDisciplinaTopico"/>
          <p:cNvSpPr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r>
              <a:rPr lang="pt-BR" sz="1800" b="1">
                <a:solidFill>
                  <a:srgbClr val="000000"/>
                </a:solidFill>
                <a:latin typeface="Arial"/>
              </a:rPr>
              <a:t>Análise de Software Orientada a Objetos</a:t>
            </a:r>
            <a:r>
              <a:rPr lang="pt-BR" sz="1800">
                <a:solidFill>
                  <a:srgbClr val="5A5A5A"/>
                </a:solidFill>
                <a:latin typeface="Arial"/>
              </a:rPr>
              <a:t>  |  </a:t>
            </a:r>
            <a:r>
              <a:rPr lang="pt-BR" sz="1800" b="1">
                <a:solidFill>
                  <a:srgbClr val="1E823C"/>
                </a:solidFill>
                <a:latin typeface="Arial"/>
              </a:rPr>
              <a:t>Seminário | Coesão &amp; Acoplamento</a:t>
            </a:r>
          </a:p>
        </p:txBody>
      </p:sp>
      <!-- 4. Linha Divisória Inferior (Verde IFF / Dourado) -->
      <p:sp>
        <p:nvSpPr>
          <p:cNvPr id="1004" name="LinhaDivisoriaInferior"/>
          <p:cNvSpPr/>
          <p:nvPr/>
        </p:nvSpPr>
        <p:spPr>
          <a:xfrm>
            <a:off x="0" y="6510528"/>
            <a:ext cx="12192000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</p:sp>
      <!-- 5. Rodapé: Autor à Esquerda -->
      <p:sp>
        <p:nvSpPr>
          <p:cNvPr id="1005" name="RodapeAutor"/>
          <p:cNvSpPr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r>
              <a:rPr lang="pt-BR" sz="1050" b="1">
                <a:solidFill>
                  <a:srgbClr val="000000"/>
                </a:solidFill>
                <a:latin typeface="Arial"/>
              </a:rPr>
              <a:t>Pedro Henrique Rocha de Andrade</a:t>
            </a:r>
          </a:p>
        </p:txBody>
      </p:sp>
      <!-- 6. Rodapé: Título do Trabalho no Centro -->
      <p:sp>
        <p:nvSpPr>
          <p:cNvPr id="1006" name="RodapeTituloTrabalho"/>
          <p:cNvSpPr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ctr"/>
            <a:r>
              <a:rPr lang="pt-BR" sz="1050" b="1">
                <a:solidFill>
                  <a:srgbClr val="141414"/>
                </a:solidFill>
                <a:latin typeface="Arial"/>
              </a:rPr>
              <a:t>Trabalho - Coesão e Acoplamento em Análise Orientada a Objetos</a:t>
            </a:r>
          </a:p>
        </p:txBody>
      </p:sp>
      <!-- 7. Rodapé: Placeholder de Numeração do Slide à Direita -->
      <p:sp>
        <p:nvSpPr>
          <p:cNvPr id="10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fld id="{B6B8CE0B-97CD-45E9-85EC-3FEBD145DE74}" type="slidenum">
              <a:rPr lang="pt-BR" sz="1050" b="1">
                <a:solidFill>
                  <a:srgbClr val="141414"/>
                </a:solidFill>
                <a:latin typeface="Arial"/>
              </a:r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defRPr sz="2000" b="1">
          <a:solidFill>
            <a:srgbClr val="1E823C"/>
          </a:solidFill>
          <a:latin typeface="Arial"/>
        </a:defRPr>
      </a:lvl1pPr>
    </p:titleStyle>
    <p:bodyStyle>
      <a:lvl1pPr>
        <a:defRPr sz="1500">
          <a:solidFill>
            <a:srgbClr val="141414"/>
          </a:solidFill>
          <a:latin typeface="Arial"/>
        </a:defRPr>
      </a:lvl1pPr>
    </p:bodyStyle>
    <p:otherStyle>
      <a:defPPr>
        <a:defRPr lang="pt-BR"/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analise-de-software-orientada-a-objetos/" TargetMode="External"/><Relationship Id="rId4" Type="http://schemas.openxmlformats.org/officeDocument/2006/relationships/hyperlink" Target="https://www.phrandrade.com/pt-br/resource/engenharia-de-computacao/6-periodo/analise-de-software-orientada-a-objetos/anotacoes/atividades/trabalho---coesao-e-acoplamento-aso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%C3%A7%C3%A3o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823C"/>
                </a:solidFill>
                <a:latin typeface="Arial"/>
                <a:hlinkClick r:id="rId3"/>
              </a:rPr>
              <a:t>ANÁLISE DE SOFTWARE ORIENTADA A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23C"/>
                </a:solidFill>
                <a:latin typeface="Arial"/>
                <a:hlinkClick r:id="rId4"/>
              </a:rPr>
              <a:t>Trabalho - Coesão e Acoplamento em Análise Orientada a Objetos</a:t>
            </a:r>
          </a:p>
          <a:p>
            <a:pPr algn="ctr"/>
            <a:r>
              <a:rPr sz="1600">
                <a:solidFill>
                  <a:srgbClr val="141414"/>
                </a:solidFill>
                <a:latin typeface="Arial"/>
              </a:rPr>
              <a:t>Estudo dos Níveis de Coesão, Princípios GRASP, Paradigmas e Métricas 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9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141414"/>
                </a:solidFill>
                <a:latin typeface="Arial"/>
              </a:rPr>
              <a:t>Amanda Moraes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141414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141414"/>
                </a:solidFill>
                <a:latin typeface="Arial"/>
              </a:rPr>
              <a:t>Maria Luiza Dantas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141414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1E823C"/>
                </a:solidFill>
                <a:latin typeface="Arial"/>
              </a:rPr>
              <a:t>28 de Agosto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1.  Introdução &amp; Contextualização do Tema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2.  Metodologia &amp; Etapas de Desenvolvimento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3.  Resultados Obtidos &amp; Análise Crítica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4.  Conclusões Finais &amp; Trabalhos Futuros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Conceitos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O que são Coesão e Acoplamento?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O que é Coesão: Mede o foco interno. Uma classe coesa faz apenas uma coisa e faz bem feita.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O que é Acoplamento: Mede a dependência externa. O quanto uma classe depende das outras para funcionar.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141414"/>
                </a:solidFill>
                <a:latin typeface="Arial"/>
              </a:defRPr>
            </a:pPr>
            <a:r>
              <a:t>•  Meta do Design: Buscar a melhoria arquitetural máxima: Alta Coesão e Baixo Acoplamento.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Métricas de Projeto: Ambos são quantificáveis em engenharia de software para aferir a qualidade.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1 - Coesão vs Acoplamento</a:t>
            </a:r>
          </a:p>
        </p:txBody>
      </p:sp>
      <p:pic>
        <p:nvPicPr>
          <p:cNvPr id="7" name="Picture 6" descr="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A Relação Oposta (O Trade-off de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Opostos: Coesão e acoplamento puxam a complexidade do sistema em sentidos opostos.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Acoplamento Zero: Uma única classe gigante que faz tudo. Não tem acoplamento, mas a coesão é zero (God Class).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Coesão Absoluta: Classes com apenas um método cada. Coesão total, mas o acoplamento explode.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141414"/>
                </a:solidFill>
                <a:latin typeface="Arial"/>
              </a:defRPr>
            </a:pPr>
            <a:r>
              <a:t>•  A Meta: Encontrar a divisão ideal de responsabilidades para equilibrar ambos.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2 - O Equilíbrio de Forças</a:t>
            </a:r>
          </a:p>
        </p:txBody>
      </p:sp>
      <p:pic>
        <p:nvPicPr>
          <p:cNvPr id="7" name="Picture 6" descr="especto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Paradigmas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Coesão e Acoplamento nos Paradigmas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Paradigma Estruturado: Foco em funções independentes e parametrização de dados para evitar globais.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Paradigma Orientado a Objetos: Foco em classes que encapsulam estado e comportamento, isoladas por interfaces.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Paradigma Funcional: Foco em funções matemáticas puras e imutabilidade, zerando o acoplamento de estado.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3 - Evolução do Design de Código</a:t>
            </a:r>
          </a:p>
        </p:txBody>
      </p:sp>
      <p:pic>
        <p:nvPicPr>
          <p:cNvPr id="7" name="Picture 6" descr="TCC_Kiel_Demonst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Métricas CK de Coesão e Acoplamento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Lack of Cohesion (LCOM): Mede se os métodos compartilham as mesmas variáveis. LCOM alto = desunida.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Coupling Between Objects (CBO): Conta quantas outras classes estão acopladas a uma classe.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Alerta Estático: Se LCOM ou CBO estiverem elevados, a classe precisa ser refatorada.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4 - Métricas CK no Código</a:t>
            </a:r>
          </a:p>
        </p:txBody>
      </p:sp>
      <p:pic>
        <p:nvPicPr>
          <p:cNvPr id="7" name="Picture 6" descr="diagramaH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0">
                <a:solidFill>
                  <a:srgbClr val="5A5A5A"/>
                </a:solidFill>
                <a:latin typeface="Arial"/>
              </a:rPr>
              <a:t>Fonte: Baseado em Chidamber &amp; Kemerer (1994)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3"/>
              </a:rPr>
              <a:t>Documento Técnico | Relatório do Trabalho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23C"/>
                </a:solidFill>
                <a:latin typeface="Arial"/>
              </a:rPr>
              <a:t>Obrigado!</a:t>
            </a:r>
            <a:r>
              <a:rPr sz="1800" b="1">
                <a:solidFill>
                  <a:srgbClr val="1E823C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E823C"/>
                </a:solidFill>
                <a:latin typeface="Arial"/>
              </a:rPr>
              <a:t>Contatos: pedroiff0@gmail.com  |  ana.soja@iff.edu.br  |  maria.dantas@iff.edu.br</a:t>
            </a:r>
          </a:p>
        </p:txBody>
      </p:sp>
      <p:pic>
        <p:nvPicPr>
          <p:cNvPr id="4" name="Picture 3" descr="qrcode_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E823C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45A28"/>
      </a:dk2>
      <a:lt2>
        <a:srgbClr val="EEECE1"/>
      </a:lt2>
      <a:accent1>
        <a:srgbClr val="1E823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823C"/>
      </a:hlink>
      <a:folHlink>
        <a:srgbClr val="1E823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