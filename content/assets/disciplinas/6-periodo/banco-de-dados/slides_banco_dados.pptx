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Relationship Id="rIdEmailFooter" Type="http://schemas.openxmlformats.org/officeDocument/2006/relationships/hyperlink" Target="mailto:pedroiff0@gmail.com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41148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5000000" y="73152"/>
            <a:ext cx="6780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000000"/>
                </a:solidFill>
                <a:latin typeface="Arial"/>
              </a:rPr>
              <a:t>Banco de Dados</a:t>
            </a:r>
            <a:r>
              <a:rPr lang="pt-BR" sz="1800">
                <a:solidFill>
                  <a:srgbClr val="5A5A5A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1E823C"/>
                </a:solidFill>
                <a:latin typeface="Arial"/>
              </a:rPr>
              <a:t>Seminário | Normalização &amp; FN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5. Autor no Rodapé Esquerdo Linkado ao Email -->
      <p:sp>
        <p:nvSpPr>
          <p:cNvPr id="1005" name="RodapeAutor"/>
          <p:cNvSpPr/>
          <p:nvPr/>
        </p:nvSpPr>
        <p:spPr>
          <a:xfrm>
            <a:off x="411480" y="6545000"/>
            <a:ext cx="4000000" cy="2743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l"/>
            <a:r>
              <a:rPr lang="pt-BR" sz="1500" b="1">
                <a:hlinkClick r:id="rIdEmailFooter"/>
                <a:solidFill>
                  <a:srgbClr val="000000"/>
                </a:solidFill>
                <a:latin typeface="Arial"/>
              </a:rPr>
              <a:t>de Andrade, P. H. R; Luiz, B.; Salles, I.</a:t>
            </a:r>
          </a:p>
        </p:txBody>
      </p:sp>
      <!-- 6. Título do Trabalho no Rodapé Centro -->
      <p:sp>
        <p:nvSpPr>
          <p:cNvPr id="1006" name="RodapeTituloTrabalho"/>
          <p:cNvSpPr/>
          <p:nvPr/>
        </p:nvSpPr>
        <p:spPr>
          <a:xfrm>
            <a:off x="4500000" y="6545000"/>
            <a:ext cx="4200000" cy="2743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500" b="1">
                <a:solidFill>
                  <a:srgbClr val="1E823C"/>
                </a:solidFill>
                <a:latin typeface="Arial"/>
              </a:rPr>
              <a:t>Normalização e Dependências Funcionais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823C"/>
                </a:solidFill>
                <a:latin typeface="Arial"/>
                <a:hlinkClick r:id="rId3"/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  <a:hlinkClick r:id="rId4"/>
              </a:rPr>
              <a:t>Normalização e Dependências Funcionais</a:t>
            </a:r>
          </a:p>
          <a:p>
            <a:pPr algn="ctr"/>
            <a:r>
              <a:rPr sz="1500">
                <a:solidFill>
                  <a:srgbClr val="141414"/>
                </a:solidFill>
                <a:latin typeface="Arial"/>
              </a:rPr>
              <a:t>Fundamentação Matemática, Decomposição em 1FN, 2FN, 3FN e Modelagem brModelo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141414"/>
                </a:solidFill>
                <a:latin typeface="Arial"/>
              </a:rPr>
              <a:t>Breno Luiz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Isaac Salles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141414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1E823C"/>
                </a:solidFill>
                <a:latin typeface="Arial"/>
              </a:rPr>
              <a:t>29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1.  Motivação: Redundância e Patologias de Esquema (Anomalias)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2.  Fundamentação Teórica: Dependências Funcionais (DFs) e Chaves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3.  Comparativo das Formas Normais (1FN, 2FN, 3FN e BCNF)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4.  Estudo de Caso Prático: Alocação de Projetos de Engenharia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5.  Modelagem Lógica e Relacional no brModelo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6.  Garantias Matemáticas Formais &amp; Avaliação de Desempenho</a:t>
            </a:r>
          </a:p>
          <a:p>
            <a:pPr>
              <a:spcAft>
                <a:spcPts val="1200"/>
              </a:spcAft>
              <a:defRPr sz="1600" b="1">
                <a:solidFill>
                  <a:srgbClr val="1E823C"/>
                </a:solidFill>
                <a:latin typeface="Arial"/>
              </a:defRPr>
            </a:pPr>
            <a:r>
              <a:t>7.  Referências Bibliográficas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Motivação: Redundância e Patologias de Esquema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 i="0">
                <a:solidFill>
                  <a:srgbClr val="1E823C"/>
                </a:solidFill>
                <a:latin typeface="Arial"/>
              </a:defRPr>
            </a:pPr>
            <a:r>
              <a:t>•  O Problema Central: Tabelas universais acumulam múltiplos fatos em um único registro.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B41E1E"/>
                </a:solidFill>
                <a:latin typeface="Arial"/>
              </a:defRPr>
            </a:pPr>
            <a:r>
              <a:t>•  Anomalia de Inserção: Impossível cadastrar um novo departamento sem alocar projeto e empregado.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B41E1E"/>
                </a:solidFill>
                <a:latin typeface="Arial"/>
              </a:defRPr>
            </a:pPr>
            <a:r>
              <a:t>•  Anomalia de Exclusão: Remover o último projeto de um empregado apaga permanentemente o departamento.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B41E1E"/>
                </a:solidFill>
                <a:latin typeface="Arial"/>
              </a:defRPr>
            </a:pPr>
            <a:r>
              <a:t>•  Anomalia de Atualização: Alterar o gerente exige varredura em N linhas redundantes.</a:t>
            </a:r>
          </a:p>
        </p:txBody>
      </p:sp>
      <p:pic>
        <p:nvPicPr>
          <p:cNvPr id="6" name="Picture 5" descr="card_anomalias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22376"/>
            <a:ext cx="5989320" cy="5532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Teoria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Fundamentação: Dependências Funcionais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 i="0">
                <a:solidFill>
                  <a:srgbClr val="1E823C"/>
                </a:solidFill>
                <a:latin typeface="Arial"/>
              </a:defRPr>
            </a:pPr>
            <a:r>
              <a:t>•  Definição Formal: X determina funcionalmente Y (X -&gt; Y) se tuplas iguais em X têm valores idênticos em Y.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1E823C"/>
                </a:solidFill>
                <a:latin typeface="Arial"/>
              </a:defRPr>
            </a:pPr>
            <a:r>
              <a:t>•  Axiomas de Armstrong: Reflexividade, Aumento e Transitividade garantem a derivação formal de todas as DFs.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1E823C"/>
                </a:solidFill>
                <a:latin typeface="Arial"/>
              </a:defRPr>
            </a:pPr>
            <a:r>
              <a:t>•  Fecho X+: Conjunto de todos os atributos determinados por X sob F.</a:t>
            </a:r>
          </a:p>
          <a:p>
            <a:pPr>
              <a:spcAft>
                <a:spcPts val="1000"/>
              </a:spcAft>
              <a:defRPr sz="1400" b="0" i="1">
                <a:solidFill>
                  <a:srgbClr val="141414"/>
                </a:solidFill>
                <a:latin typeface="Arial"/>
              </a:defRPr>
            </a:pPr>
            <a:r>
              <a:t>•  Chave Candidata: Superchave mínima e irredutível do esquema.</a:t>
            </a:r>
          </a:p>
        </p:txBody>
      </p:sp>
      <p:pic>
        <p:nvPicPr>
          <p:cNvPr id="6" name="Picture 5" descr="card_dfs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22376"/>
            <a:ext cx="5989320" cy="5532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Formas Normais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Critérios Formais da Teoria da Normalização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5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1365992" cy="4983480"/>
          </a:xfrm>
          <a:prstGeom prst="roundRect">
            <a:avLst/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Tabela 1 — Síntese Formal das Regras de Normalização Relacional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167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743200"/>
                <a:gridCol w="2468880"/>
                <a:gridCol w="2221992"/>
              </a:tblGrid>
              <a:tr h="7955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Forma Normal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Pré-requisito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Condição Formal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Patologia Eliminada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Mecanismo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1FN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Modelo Relacional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Domínios atômicos; sem vetores ou listas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Atributos multivalorados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Nova tabela associativa com PK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2FN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1FN atendida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Nenhum atributo não-primo depende de parte da PK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Dependência funcional parcial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Decomposição das partes em tabelas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3FN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2FN atendida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Nenhum atributo não-primo depende transitivamente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Dependência transitiva (X -&gt; Y -&gt; Z)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Extração da determinante para tabela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3FN atendida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Todo determinante de DF não-trivial é superchave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Anomalias em chaves sobrepostas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Decomposição estrita orientada a chaves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A5A5A"/>
                </a:solidFill>
                <a:latin typeface="Arial"/>
              </a:rPr>
              <a:t>Fonte: Elaboração dos Autores com base em Codd (1970, 1972) e Elmasri &amp; Navathe (2018)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Estudo de Caso: Transição da 0FN para a 1FN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41E1E"/>
                </a:solidFill>
              </a:defRPr>
            </a:pPr>
            <a:r>
              <a:t>Antes: 0FN (Atributos Multivalorados)</a:t>
            </a:r>
          </a:p>
          <a:p>
            <a:pPr>
              <a:defRPr sz="1000" b="1">
                <a:solidFill>
                  <a:srgbClr val="141414"/>
                </a:solidFill>
                <a:latin typeface="Courier New"/>
              </a:defRPr>
            </a:pPr>
            <a:r>
              <a:t>Problema: Campo Habilidades armazena listas não-atômicas.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PROJETO_ALOCACAO_0FN (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Num_Proj, Num_Emp, Nome_Proj,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Nome_Emp, Cargo, Num_Depto,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Nome_Depto, Cod_Gerente,</a:t>
            </a:r>
          </a:p>
          <a:p>
            <a:pPr>
              <a:defRPr sz="1000" b="0">
                <a:solidFill>
                  <a:srgbClr val="141414"/>
                </a:solidFill>
                <a:latin typeface="Courier New"/>
              </a:defRPr>
            </a:pPr>
            <a:r>
              <a:t>    Habilidades: ['Python, C++, SQL'],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Horas_Semana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B41E1E"/>
                </a:solidFill>
                <a:latin typeface="Courier New"/>
              </a:defRPr>
            </a:pPr>
            <a:r>
              <a:t>Impacto: Impossível indexar ou filtrar por linguagem com integridade.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EBFFEB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823C"/>
                </a:solidFill>
              </a:defRPr>
            </a:pPr>
            <a:r>
              <a:t>Depois: 1FN (Atomicidade e Relação Associativa)</a:t>
            </a:r>
          </a:p>
          <a:p>
            <a:pPr>
              <a:defRPr sz="1000" b="1">
                <a:solidFill>
                  <a:srgbClr val="141414"/>
                </a:solidFill>
                <a:latin typeface="Courier New"/>
              </a:defRPr>
            </a:pPr>
            <a:r>
              <a:t>Solução: Extração de tabela associativa com PK composta.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EMPREGADO_HABILIDADE (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    Num_Emp (PK, FK), Habilidade (PK)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PROJETO_ALOCACAO_1FN (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    Num_Proj (PK), Num_Emp (PK),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Nome_Proj, Nome_Emp, Cargo, Num_Depto,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Nome_Depto, Cod_Gerente, Horas_Semana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1E823C"/>
                </a:solidFill>
                <a:latin typeface="Arial"/>
              </a:defRPr>
            </a:pPr>
            <a:r>
              <a:t>Benefício: Dados 100% escalares com suporte a índices relacionais.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Estudo de Caso: Transição da 1FN para a 2FN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41E1E"/>
                </a:solidFill>
              </a:defRPr>
            </a:pPr>
            <a:r>
              <a:t>Antes: 1FN (Dependências Parciais da PK)</a:t>
            </a:r>
          </a:p>
          <a:p>
            <a:pPr>
              <a:defRPr sz="1000" b="1">
                <a:solidFill>
                  <a:srgbClr val="141414"/>
                </a:solidFill>
                <a:latin typeface="Arial"/>
              </a:defRPr>
            </a:pPr>
            <a:r>
              <a:t>Problema: Atributos dependem de partes isoladas da chave.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// Chave Primária Composta: {Num_Proj, Num_Emp}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DF1: {Num_Proj, Num_Emp} -&gt; Horas_Semana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DF2: Num_Proj -&gt; {Nome_Proj, Orcamento}   (PARCIAL)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DF3: Num_Emp  -&gt; {Nome_Emp, Cargo, Depto} (PARCIAL)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B41E1E"/>
                </a:solidFill>
                <a:latin typeface="Arial"/>
              </a:defRPr>
            </a:pPr>
            <a:r>
              <a:t>Impacto: Não é possível cadastrar projeto sem empregado (NOT NULL).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EBFFEB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823C"/>
                </a:solidFill>
              </a:defRPr>
            </a:pPr>
            <a:r>
              <a:t>Depois: 2FN (Decomposição Total da Chave)</a:t>
            </a:r>
          </a:p>
          <a:p>
            <a:pPr>
              <a:defRPr sz="1000" b="1">
                <a:solidFill>
                  <a:srgbClr val="141414"/>
                </a:solidFill>
                <a:latin typeface="Arial"/>
              </a:defRPr>
            </a:pPr>
            <a:r>
              <a:t>Solução: Isolamento dos determinantes parciais.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PROJETO (Num_Proj (PK), Nome_Proj, Orcamento)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EMPREGADO_TEMP (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    Num_Emp (PK), Nome_Emp, Cargo, Num_Depto,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  <a:r>
              <a:t>    Nome_Depto, Cod_Gerente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ALOCACAO (Num_Proj (PK, FK), Num_Emp (PK, FK), Horas)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1E823C"/>
                </a:solidFill>
                <a:latin typeface="Arial"/>
              </a:defRPr>
            </a:pPr>
            <a:r>
              <a:t>Benefício: Projetos e Empregados existem de forma independente.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Estudo de Caso: Transição da 2FN para a 3FN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8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41E1E"/>
                </a:solidFill>
              </a:defRPr>
            </a:pPr>
            <a:r>
              <a:t>Antes: 2FN (Dependência Transitiva)</a:t>
            </a:r>
          </a:p>
          <a:p>
            <a:pPr>
              <a:defRPr sz="1000" b="1">
                <a:solidFill>
                  <a:srgbClr val="141414"/>
                </a:solidFill>
                <a:latin typeface="Arial"/>
              </a:defRPr>
            </a:pPr>
            <a:r>
              <a:t>Problema: Em EMPREGADO_TEMP, não-chave determina não-chave.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41414"/>
                </a:solidFill>
                <a:latin typeface="Courier New"/>
              </a:defRPr>
            </a:pPr>
            <a:r>
              <a:t>// Chave Primária: Num_Emp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Num_Emp -&gt; Num_Depto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Num_Depto -&gt; {Nome_Depto, Cod_Gerente} (TRANSITIVA)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Cadeia: Num_Emp -&gt; Num_Depto -&gt; Nome_Depto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B41E1E"/>
                </a:solidFill>
                <a:latin typeface="Arial"/>
              </a:defRPr>
            </a:pPr>
            <a:r>
              <a:t>Impacto: Mudar nome do depto exige atualizar dezenas de tuplas.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EBFFEB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823C"/>
                </a:solidFill>
              </a:defRPr>
            </a:pPr>
            <a:r>
              <a:t>Depois: 3FN (Entidade Departamento Isolada)</a:t>
            </a:r>
          </a:p>
          <a:p>
            <a:pPr>
              <a:defRPr sz="1000" b="1">
                <a:solidFill>
                  <a:srgbClr val="141414"/>
                </a:solidFill>
                <a:latin typeface="Arial"/>
              </a:defRPr>
            </a:pPr>
            <a:r>
              <a:t>Solução: Extração de Departamento para tabela própria.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DEPARTAMENTO (Num_Depto (PK), Nome_Depto, Cod_Gerente)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EMPREGADO (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    Num_Emp (PK), Nome_Emp, Cargo,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    Num_Depto (FK -&gt; DEPARTAMENTO)</a:t>
            </a:r>
          </a:p>
          <a:p>
            <a:pPr>
              <a:defRPr sz="950" b="0">
                <a:solidFill>
                  <a:srgbClr val="141414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141414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1E823C"/>
                </a:solidFill>
                <a:latin typeface="Arial"/>
              </a:defRPr>
            </a:pPr>
            <a:r>
              <a:t>Benefício: Modificação atômica de departamento em 1 única linha!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Modelagem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Modelo Lógico e Relacional no brModelo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Garantias Formais e Avaliação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10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1365992" cy="4983480"/>
          </a:xfrm>
          <a:prstGeom prst="roundRect">
            <a:avLst/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Tabela 2 — Comparativo entre Esquema Desnormalizado (0FN) e Normalizado (3FN)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167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651760"/>
                <a:gridCol w="2194560"/>
                <a:gridCol w="2130552"/>
              </a:tblGrid>
              <a:tr h="7955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Dimensão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Esquema 0FN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Esquema 3FN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Impacto Prático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Garantia Teórica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Redundância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Massiva (dados replicados em milhares de linhas)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Estritamente nula (armazenamento único por fato)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Redução drástica de ocupação em disco/RAM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Economia de buffer pool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Anomalias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Vulnerável a inserção, exclusão e update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Imune a inconsistências de esquema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Operações transacionais ACID 100% seguras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Preservação de dependências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Escrita (Update)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Lenta (locks múltiplos e updates em massa)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Instantânea (atualização atômica em 1 linha)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Alto throughput em sistemas OLTP concorrentes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Isolamento e atomicidade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823C"/>
                          </a:solidFill>
                          <a:latin typeface="Arial"/>
                        </a:defRPr>
                      </a:pPr>
                      <a:r>
                        <a:t>Reconstrução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Leitura direta sem JOINs (com dados espúrios)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Exige JOINs via chaves primárias/estrangeiras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Junção sem perdas via índices B-Tree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Lossless Join comprovado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A5A5A"/>
                </a:solidFill>
                <a:latin typeface="Arial"/>
              </a:rPr>
              <a:t>Fonte: Elaboração dos Autores com base em Silberschatz et al. (2012)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E823C"/>
                </a:solidFill>
                <a:latin typeface="Arial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>
                <a:solidFill>
                  <a:srgbClr val="141414"/>
                </a:solidFill>
                <a:latin typeface="Arial"/>
              </a:defRPr>
            </a:pPr>
            <a:r>
              <a:t>[1]  ELMASRI, Ramez; NAVATHE, Shamkant B. Sistemas de Banco de Dados. 7. ed. São Paulo: Pearson, 2018.</a:t>
            </a:r>
          </a:p>
          <a:p>
            <a:pPr>
              <a:spcAft>
                <a:spcPts val="1600"/>
              </a:spcAft>
              <a:defRPr sz="1350">
                <a:solidFill>
                  <a:srgbClr val="141414"/>
                </a:solidFill>
                <a:latin typeface="Arial"/>
              </a:defRPr>
            </a:pPr>
            <a:r>
              <a:t>[2]  SILBERSCHATZ, Abraham; KORTH, Henry F.; SUDARSHAN, S. Sistema de Banco de Dados. 6. ed. Rio de Janeiro: Elsevier, 2012.</a:t>
            </a:r>
          </a:p>
          <a:p>
            <a:pPr>
              <a:spcAft>
                <a:spcPts val="1600"/>
              </a:spcAft>
              <a:defRPr sz="1350">
                <a:solidFill>
                  <a:srgbClr val="141414"/>
                </a:solidFill>
                <a:latin typeface="Arial"/>
              </a:defRPr>
            </a:pPr>
            <a:r>
              <a:t>[3]  CODD, Edgar F. A Relational Model of Data for Large Shared Data Banks. Communications of the ACM, v. 13, n. 6, p. 377-387, 1970.</a:t>
            </a:r>
          </a:p>
          <a:p>
            <a:pPr>
              <a:spcAft>
                <a:spcPts val="1600"/>
              </a:spcAft>
              <a:defRPr sz="1350">
                <a:solidFill>
                  <a:srgbClr val="141414"/>
                </a:solidFill>
                <a:latin typeface="Arial"/>
              </a:defRPr>
            </a:pPr>
            <a:r>
              <a:t>[4]  DATE, C. J. Introdução a Sistemas de Bancos de Dados. 8. ed. Rio de Janeiro: Elsevier, 2004.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300"/>
              </a:spcBef>
            </a:pPr>
            <a:r>
              <a:rPr sz="1200" b="1">
                <a:solidFill>
                  <a:srgbClr val="1E823C"/>
                </a:solidFill>
                <a:latin typeface="Arial"/>
              </a:rPr>
              <a:t>Contatos: pedroiff0@gmail.com  |  breno.luiz@placeholder.edu.br  |  isaac.salles@placeholder.edu.br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28016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E823C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