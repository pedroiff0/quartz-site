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 showMasterSp="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LogoMaster" Type="http://schemas.openxmlformats.org/officeDocument/2006/relationships/image" Target="../media/logo_maste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1. Logo IFF no Cabeçalho Superior Esquerdo -->
      <p:pic>
        <p:nvPicPr>
          <p:cNvPr id="1001" name="LogoIFFMaster"/>
          <p:cNvPicPr>
            <a:picLocks noChangeAspect="1"/>
          </p:cNvPicPr>
          <p:nvPr/>
        </p:nvPicPr>
        <p:blipFill>
          <a:blip r:embed="rIdLogoMaster"/>
          <a:stretch>
            <a:fillRect/>
          </a:stretch>
        </p:blipFill>
        <p:spPr>
          <a:xfrm>
            <a:off x="731520" y="73152"/>
            <a:ext cx="1591056" cy="438912"/>
          </a:xfrm>
          <a:prstGeom prst="rect">
            <a:avLst/>
          </a:prstGeom>
        </p:spPr>
      </p:pic>
      <!-- 2. Linha Divisória Superior (Verde IFF / Dourado) -->
      <p:sp>
        <p:nvSpPr>
          <p:cNvPr id="1002" name="LinhaDivisoriaSuperior"/>
          <p:cNvSpPr/>
          <p:nvPr/>
        </p:nvSpPr>
        <p:spPr>
          <a:xfrm>
            <a:off x="0" y="621792"/>
            <a:ext cx="12192000" cy="13716"/>
          </a:xfrm>
          <a:prstGeom prst="rect">
            <a:avLst/>
          </a:prstGeom>
          <a:solidFill>
            <a:srgbClr val="1E823C"/>
          </a:solidFill>
          <a:ln>
            <a:solidFill>
              <a:srgbClr val="1E823C"/>
            </a:solidFill>
          </a:ln>
        </p:spPr>
      </p:sp>
      <!-- 3. Disciplina & Tópico no Cabeçalho Superior Direito -->
      <p:sp>
        <p:nvSpPr>
          <p:cNvPr id="1003" name="CabecalhoDisciplinaTopico"/>
          <p:cNvSpPr/>
          <p:nvPr/>
        </p:nvSpPr>
        <p:spPr>
          <a:xfrm>
            <a:off x="6217920" y="73152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/>
          <a:lstStyle/>
          <a:p>
            <a:pPr algn="r"/>
            <a:r>
              <a:rPr lang="pt-BR" sz="1800" b="1">
                <a:solidFill>
                  <a:srgbClr val="000000"/>
                </a:solidFill>
                <a:latin typeface="Arial"/>
              </a:rPr>
              <a:t>Banco de Dados</a:t>
            </a:r>
            <a:r>
              <a:rPr lang="pt-BR" sz="1800">
                <a:solidFill>
                  <a:srgbClr val="5A5A5A"/>
                </a:solidFill>
                <a:latin typeface="Arial"/>
              </a:rPr>
              <a:t>  |  </a:t>
            </a:r>
            <a:r>
              <a:rPr lang="pt-BR" sz="1800" b="1">
                <a:solidFill>
                  <a:srgbClr val="1E823C"/>
                </a:solidFill>
                <a:latin typeface="Arial"/>
              </a:rPr>
              <a:t>Seminário | Normalização &amp; FN</a:t>
            </a:r>
          </a:p>
        </p:txBody>
      </p:sp>
      <!-- 4. Linha Divisória Inferior (Verde IFF / Dourado) -->
      <p:sp>
        <p:nvSpPr>
          <p:cNvPr id="1004" name="LinhaDivisoriaInferior"/>
          <p:cNvSpPr/>
          <p:nvPr/>
        </p:nvSpPr>
        <p:spPr>
          <a:xfrm>
            <a:off x="0" y="6510528"/>
            <a:ext cx="12192000" cy="13716"/>
          </a:xfrm>
          <a:prstGeom prst="rect">
            <a:avLst/>
          </a:prstGeom>
          <a:solidFill>
            <a:srgbClr val="1E823C"/>
          </a:solidFill>
          <a:ln>
            <a:solidFill>
              <a:srgbClr val="1E823C"/>
            </a:solidFill>
          </a:ln>
        </p:spPr>
      </p:sp>
      <!-- 5. Rodapé: Autor à Esquerda -->
      <p:sp>
        <p:nvSpPr>
          <p:cNvPr id="1005" name="RodapeAutor"/>
          <p:cNvSpPr/>
          <p:nvPr/>
        </p:nvSpPr>
        <p:spPr>
          <a:xfrm>
            <a:off x="548640" y="6537960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/>
          <a:lstStyle/>
          <a:p>
            <a:r>
              <a:rPr lang="pt-BR" sz="1050" b="1">
                <a:solidFill>
                  <a:srgbClr val="000000"/>
                </a:solidFill>
                <a:latin typeface="Arial"/>
              </a:rPr>
              <a:t>Pedro Henrique Rocha de Andrade</a:t>
            </a:r>
          </a:p>
        </p:txBody>
      </p:sp>
      <!-- 6. Rodapé: Título do Trabalho no Centro -->
      <p:sp>
        <p:nvSpPr>
          <p:cNvPr id="1006" name="RodapeTituloTrabalho"/>
          <p:cNvSpPr/>
          <p:nvPr/>
        </p:nvSpPr>
        <p:spPr>
          <a:xfrm>
            <a:off x="4480560" y="6537960"/>
            <a:ext cx="3593592" cy="256032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/>
          <a:lstStyle/>
          <a:p>
            <a:pPr algn="ctr"/>
            <a:r>
              <a:rPr lang="pt-BR" sz="1050" b="1">
                <a:solidFill>
                  <a:srgbClr val="141414"/>
                </a:solidFill>
                <a:latin typeface="Arial"/>
              </a:rPr>
              <a:t>Trabalho - Normalização e Dependências Funcionais</a:t>
            </a:r>
          </a:p>
        </p:txBody>
      </p:sp>
      <!-- 7. Rodapé: Placeholder de Numeração do Slide à Direita -->
      <p:sp>
        <p:nvSpPr>
          <p:cNvPr id="100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445752" y="6537960"/>
            <a:ext cx="2194560" cy="256032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/>
          <a:lstStyle/>
          <a:p>
            <a:pPr algn="r"/>
            <a:fld id="{B6B8CE0B-97CD-45E9-85EC-3FEBD145DE74}" type="slidenum">
              <a:rPr lang="pt-BR" sz="1050" b="1">
                <a:solidFill>
                  <a:srgbClr val="141414"/>
                </a:solidFill>
                <a:latin typeface="Arial"/>
              </a:rPr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defRPr sz="2000" b="1">
          <a:solidFill>
            <a:srgbClr val="1E823C"/>
          </a:solidFill>
          <a:latin typeface="Arial"/>
        </a:defRPr>
      </a:lvl1pPr>
    </p:titleStyle>
    <p:bodyStyle>
      <a:lvl1pPr>
        <a:defRPr sz="1500">
          <a:solidFill>
            <a:srgbClr val="141414"/>
          </a:solidFill>
          <a:latin typeface="Arial"/>
        </a:defRPr>
      </a:lvl1pPr>
    </p:bodyStyle>
    <p:otherStyle>
      <a:defPPr>
        <a:defRPr lang="pt-BR"/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banco-de-dados/" TargetMode="External"/><Relationship Id="rId4" Type="http://schemas.openxmlformats.org/officeDocument/2006/relationships/hyperlink" Target="https://www.phrandrade.com/pt-br/resource/engenharia-de-computacao/6-periodo/banco-de-dados/anotacoes/atividades/trabalho---normalizacao-e-dependencias-funcionai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/pt-br/resource/engenharia-de-computa%C3%A7%C3%A3o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phrandrade.com/pt-br/resource/engenharia-de-computa%C3%A7%C3%A3o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phrandrade.com/pt-br/resource/engenharia-de-computa%C3%A7%C3%A3o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hyperlink" Target="https://www.phrandrade.com/pt-br/resource/engenharia-de-computa%C3%A7%C3%A3o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www.phrandrade.com/pt-br/resource/engenharia-de-computa%C3%A7%C3%A3o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9236" y="274320"/>
            <a:ext cx="5813526" cy="1600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057400"/>
            <a:ext cx="1072895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E823C"/>
                </a:solidFill>
                <a:latin typeface="Arial"/>
                <a:hlinkClick r:id="rId3"/>
              </a:rPr>
              <a:t>BANCO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728959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E823C"/>
                </a:solidFill>
                <a:latin typeface="Arial"/>
                <a:hlinkClick r:id="rId4"/>
              </a:rPr>
              <a:t>Trabalho - Normalização e Dependências Funcionais</a:t>
            </a:r>
          </a:p>
          <a:p>
            <a:pPr algn="ctr"/>
            <a:r>
              <a:rPr sz="1600">
                <a:solidFill>
                  <a:srgbClr val="141414"/>
                </a:solidFill>
                <a:latin typeface="Arial"/>
              </a:rPr>
              <a:t>Fundamentação Matemática das Dependências Funcionais e Decomposição em 1FN, 2FN e 3FN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28959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50" b="1">
                <a:solidFill>
                  <a:srgbClr val="141414"/>
                </a:solidFill>
                <a:latin typeface="Arial"/>
              </a:rPr>
              <a:t>Breno Luiz</a:t>
            </a:r>
          </a:p>
          <a:p>
            <a:pPr algn="ctr">
              <a:spcBef>
                <a:spcPts val="300"/>
              </a:spcBef>
            </a:pPr>
            <a:r>
              <a:rPr sz="1450" b="1">
                <a:solidFill>
                  <a:srgbClr val="141414"/>
                </a:solidFill>
                <a:latin typeface="Arial"/>
              </a:rPr>
              <a:t>Isaac Salles</a:t>
            </a:r>
          </a:p>
          <a:p>
            <a:pPr algn="ctr">
              <a:spcBef>
                <a:spcPts val="300"/>
              </a:spcBef>
            </a:pPr>
            <a:r>
              <a:rPr sz="1450" b="1">
                <a:solidFill>
                  <a:srgbClr val="141414"/>
                </a:solidFill>
                <a:latin typeface="Arial"/>
              </a:rPr>
              <a:t>Pedro Henrique Rocha de Andrade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06440"/>
            <a:ext cx="1072895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141414"/>
                </a:solidFill>
                <a:latin typeface="Arial"/>
              </a:rPr>
              <a:t>Bom Jesus do Itabapoana — RJ</a:t>
            </a:r>
          </a:p>
          <a:p>
            <a:pPr algn="ctr">
              <a:spcBef>
                <a:spcPts val="300"/>
              </a:spcBef>
            </a:pPr>
            <a:r>
              <a:rPr sz="1250" b="1">
                <a:solidFill>
                  <a:srgbClr val="1E823C"/>
                </a:solidFill>
                <a:latin typeface="Arial"/>
              </a:rPr>
              <a:t>28 de Agosto de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5A5A5A"/>
                </a:solidFill>
                <a:latin typeface="Arial"/>
              </a:rPr>
              <a:t> |   </a:t>
            </a:r>
            <a:r>
              <a:rPr sz="2400" b="1">
                <a:solidFill>
                  <a:srgbClr val="141414"/>
                </a:solidFill>
                <a:latin typeface="Arial"/>
              </a:rPr>
              <a:t>Sumário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23C"/>
                </a:solidFill>
                <a:latin typeface="Arial"/>
              </a:defRPr>
            </a:pPr>
            <a:r>
              <a:t>Estrutura da Apresentação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1.  Introdução &amp; Contextualização do Tema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2.  Metodologia &amp; Etapas de Desenvolvimento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3.  Resultados Obtidos &amp; Análise Crítica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4.  Conclusões Finais &amp; Trabalhos Futuros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5A5A5A"/>
                </a:solidFill>
                <a:latin typeface="Arial"/>
              </a:rPr>
              <a:t> |   </a:t>
            </a:r>
            <a:r>
              <a:rPr sz="2400" b="1">
                <a:solidFill>
                  <a:srgbClr val="141414"/>
                </a:solidFill>
                <a:latin typeface="Arial"/>
              </a:rPr>
              <a:t>Introdução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23C"/>
                </a:solidFill>
                <a:latin typeface="Arial"/>
              </a:defRPr>
            </a:pPr>
            <a:r>
              <a:t>Contextualização e Problemática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4983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 i="0">
                <a:solidFill>
                  <a:srgbClr val="1E823C"/>
                </a:solidFill>
                <a:latin typeface="Arial"/>
              </a:defRPr>
            </a:pPr>
            <a:r>
              <a:t>•  Contexto do Tema: Apresentação dos conceitos fundamentais estudados na disciplina.</a:t>
            </a:r>
          </a:p>
          <a:p>
            <a:pPr>
              <a:spcAft>
                <a:spcPts val="1200"/>
              </a:spcAft>
              <a:defRPr sz="1450" b="1" i="0">
                <a:solidFill>
                  <a:srgbClr val="B41E1E"/>
                </a:solidFill>
                <a:latin typeface="Arial"/>
              </a:defRPr>
            </a:pPr>
            <a:r>
              <a:t>•  O Problema Abordado: Desafios práticos e teóricos encontrados no desenvolvimento do trabalho.</a:t>
            </a:r>
          </a:p>
          <a:p>
            <a:pPr>
              <a:spcAft>
                <a:spcPts val="1200"/>
              </a:spcAft>
              <a:defRPr sz="1450" b="0" i="1">
                <a:solidFill>
                  <a:srgbClr val="141414"/>
                </a:solidFill>
                <a:latin typeface="Arial"/>
              </a:defRPr>
            </a:pPr>
            <a:r>
              <a:t>•  Pergunta Central: Quais metodologias respondem aos objetivos propostos?</a:t>
            </a:r>
          </a:p>
          <a:p>
            <a:pPr>
              <a:spcAft>
                <a:spcPts val="1200"/>
              </a:spcAft>
              <a:defRPr sz="1450" b="1" i="0">
                <a:solidFill>
                  <a:srgbClr val="1E823C"/>
                </a:solidFill>
                <a:latin typeface="Arial"/>
              </a:defRPr>
            </a:pPr>
            <a:r>
              <a:t>•  Objetivo Geral: Implementar e demonstrar soluções eficientes com base no conteúdo programático.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88736" y="722376"/>
            <a:ext cx="6172200" cy="5596128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79208" y="804672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41414"/>
                </a:solidFill>
                <a:latin typeface="Arial"/>
              </a:rPr>
              <a:t>Figura 1 - Visão Geral do Sistema/Experimento</a:t>
            </a:r>
          </a:p>
        </p:txBody>
      </p:sp>
      <p:pic>
        <p:nvPicPr>
          <p:cNvPr id="7" name="Picture 6" descr="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896" y="1078992"/>
            <a:ext cx="5897880" cy="47183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62088" y="5907024"/>
            <a:ext cx="2916936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  <a:p>
            <a:pPr algn="ctr"/>
            <a:r>
              <a:rPr sz="1050" b="1">
                <a:solidFill>
                  <a:srgbClr val="1E823C"/>
                </a:solidFill>
                <a:latin typeface="Arial"/>
                <a:hlinkClick r:id="rId3"/>
              </a:rPr>
              <a:t>Documento Técnico | Relatório do Trabalho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5A5A5A"/>
                </a:solidFill>
                <a:latin typeface="Arial"/>
              </a:rPr>
              <a:t> |   </a:t>
            </a:r>
            <a:r>
              <a:rPr sz="2400" b="1">
                <a:solidFill>
                  <a:srgbClr val="141414"/>
                </a:solidFill>
                <a:latin typeface="Arial"/>
              </a:rPr>
              <a:t>Metodologia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23C"/>
                </a:solidFill>
                <a:latin typeface="Arial"/>
              </a:defRPr>
            </a:pPr>
            <a:r>
              <a:t>Etapas de Execução do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4983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 i="0">
                <a:solidFill>
                  <a:srgbClr val="1E823C"/>
                </a:solidFill>
                <a:latin typeface="Arial"/>
              </a:defRPr>
            </a:pPr>
            <a:r>
              <a:t>•  Coleta e Preparação: Definição das ferramentas computacionais e dados utilizados.</a:t>
            </a:r>
          </a:p>
          <a:p>
            <a:pPr>
              <a:spcAft>
                <a:spcPts val="1200"/>
              </a:spcAft>
              <a:defRPr sz="1450" b="1" i="0">
                <a:solidFill>
                  <a:srgbClr val="1E823C"/>
                </a:solidFill>
                <a:latin typeface="Arial"/>
              </a:defRPr>
            </a:pPr>
            <a:r>
              <a:t>•  Etapas de Desenvolvimento:</a:t>
            </a:r>
          </a:p>
          <a:p>
            <a:pPr>
              <a:spcAft>
                <a:spcPts val="1200"/>
              </a:spcAft>
              <a:defRPr sz="1450" b="0" i="0">
                <a:solidFill>
                  <a:srgbClr val="141414"/>
                </a:solidFill>
                <a:latin typeface="Arial"/>
              </a:defRPr>
            </a:pPr>
            <a:r>
              <a:t>•    - Modelagem e implementação do fluxo de trabalho.</a:t>
            </a:r>
          </a:p>
          <a:p>
            <a:pPr>
              <a:spcAft>
                <a:spcPts val="1200"/>
              </a:spcAft>
              <a:defRPr sz="1450" b="0" i="0">
                <a:solidFill>
                  <a:srgbClr val="141414"/>
                </a:solidFill>
                <a:latin typeface="Arial"/>
              </a:defRPr>
            </a:pPr>
            <a:r>
              <a:t>•    - Testes de validação e verificação de consistência.</a:t>
            </a:r>
          </a:p>
          <a:p>
            <a:pPr>
              <a:spcAft>
                <a:spcPts val="1200"/>
              </a:spcAft>
              <a:defRPr sz="1450" b="1" i="0">
                <a:solidFill>
                  <a:srgbClr val="1E823C"/>
                </a:solidFill>
                <a:latin typeface="Arial"/>
              </a:defRPr>
            </a:pPr>
            <a:r>
              <a:t>•  Critérios de Avaliação: Métricas adotadas para validar o desempenho dos resultados.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88736" y="722376"/>
            <a:ext cx="6172200" cy="5596128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79208" y="804672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41414"/>
                </a:solidFill>
                <a:latin typeface="Arial"/>
              </a:rPr>
              <a:t>Figura 2 - Instrumentação / Espectrógrafo</a:t>
            </a:r>
          </a:p>
        </p:txBody>
      </p:sp>
      <p:pic>
        <p:nvPicPr>
          <p:cNvPr id="7" name="Picture 6" descr="especto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896" y="1078992"/>
            <a:ext cx="5897880" cy="47183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62088" y="5907024"/>
            <a:ext cx="2916936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0">
                <a:solidFill>
                  <a:srgbClr val="5A5A5A"/>
                </a:solidFill>
                <a:latin typeface="Arial"/>
              </a:rPr>
              <a:t>Fonte: Laboratório de Física/Automação (2026)</a:t>
            </a:r>
          </a:p>
          <a:p>
            <a:pPr algn="ctr"/>
            <a:r>
              <a:rPr sz="1050" b="1">
                <a:solidFill>
                  <a:srgbClr val="1E823C"/>
                </a:solidFill>
                <a:latin typeface="Arial"/>
                <a:hlinkClick r:id="rId3"/>
              </a:rPr>
              <a:t>Documento Técnico | Relatório do Trabalho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5A5A5A"/>
                </a:solidFill>
                <a:latin typeface="Arial"/>
              </a:rPr>
              <a:t> |   </a:t>
            </a:r>
            <a:r>
              <a:rPr sz="2400" b="1">
                <a:solidFill>
                  <a:srgbClr val="141414"/>
                </a:solidFill>
                <a:latin typeface="Arial"/>
              </a:rPr>
              <a:t>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23C"/>
                </a:solidFill>
                <a:latin typeface="Arial"/>
              </a:defRPr>
            </a:pPr>
            <a:r>
              <a:t>Resultados Obtidos e Discussão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4983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 i="0">
                <a:solidFill>
                  <a:srgbClr val="1E823C"/>
                </a:solidFill>
                <a:latin typeface="Arial"/>
              </a:defRPr>
            </a:pPr>
            <a:r>
              <a:t>•  Análise Quantitativa: Demonstração dos dados obtidos nas simulações e experimentos.</a:t>
            </a:r>
          </a:p>
          <a:p>
            <a:pPr>
              <a:spcAft>
                <a:spcPts val="1200"/>
              </a:spcAft>
              <a:defRPr sz="1450" b="1" i="0">
                <a:solidFill>
                  <a:srgbClr val="1E823C"/>
                </a:solidFill>
                <a:latin typeface="Arial"/>
              </a:defRPr>
            </a:pPr>
            <a:r>
              <a:t>•  Conformidade com a Teoria: Aderência dos resultados práticos aos modelos estudados em aula.</a:t>
            </a:r>
          </a:p>
          <a:p>
            <a:pPr>
              <a:spcAft>
                <a:spcPts val="1200"/>
              </a:spcAft>
              <a:defRPr sz="1450" b="1" i="0">
                <a:solidFill>
                  <a:srgbClr val="B41E1E"/>
                </a:solidFill>
                <a:latin typeface="Arial"/>
              </a:defRPr>
            </a:pPr>
            <a:r>
              <a:t>•  Casos de Borda e Limitações: Discussão sobre divergências e pontos de melhoria futura.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88736" y="722376"/>
            <a:ext cx="6172200" cy="5596128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79208" y="804672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41414"/>
                </a:solidFill>
                <a:latin typeface="Arial"/>
              </a:rPr>
              <a:t>Figura 3 - Distribuição de Parâmetros Analisados</a:t>
            </a:r>
          </a:p>
        </p:txBody>
      </p:sp>
      <p:pic>
        <p:nvPicPr>
          <p:cNvPr id="7" name="Picture 6" descr="TCC_Kiel_Demonst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896" y="1078992"/>
            <a:ext cx="5897880" cy="47183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62088" y="5907024"/>
            <a:ext cx="2916936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0">
                <a:solidFill>
                  <a:srgbClr val="5A5A5A"/>
                </a:solidFill>
                <a:latin typeface="Arial"/>
              </a:rPr>
              <a:t>Fonte: Resultados dos Autores (2026)</a:t>
            </a:r>
          </a:p>
          <a:p>
            <a:pPr algn="ctr"/>
            <a:r>
              <a:rPr sz="1050" b="1">
                <a:solidFill>
                  <a:srgbClr val="1E823C"/>
                </a:solidFill>
                <a:latin typeface="Arial"/>
                <a:hlinkClick r:id="rId3"/>
              </a:rPr>
              <a:t>Documento Técnico | Relatório do Trabalho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5A5A5A"/>
                </a:solidFill>
                <a:latin typeface="Arial"/>
              </a:rPr>
              <a:t> |   </a:t>
            </a:r>
            <a:r>
              <a:rPr sz="2400" b="1">
                <a:solidFill>
                  <a:srgbClr val="141414"/>
                </a:solidFill>
                <a:latin typeface="Arial"/>
              </a:rPr>
              <a:t>Conclusões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E823C"/>
                </a:solidFill>
                <a:latin typeface="Arial"/>
              </a:defRPr>
            </a:pPr>
            <a:r>
              <a:t>Considerações Finais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4983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 i="0">
                <a:solidFill>
                  <a:srgbClr val="1E823C"/>
                </a:solidFill>
                <a:latin typeface="Arial"/>
              </a:defRPr>
            </a:pPr>
            <a:r>
              <a:t>•  Síntese dos Achados: Cumprimento integral dos objetivos definidos no início do projeto.</a:t>
            </a:r>
          </a:p>
          <a:p>
            <a:pPr>
              <a:spcAft>
                <a:spcPts val="1200"/>
              </a:spcAft>
              <a:defRPr sz="1450" b="1" i="0">
                <a:solidFill>
                  <a:srgbClr val="1E823C"/>
                </a:solidFill>
                <a:latin typeface="Arial"/>
              </a:defRPr>
            </a:pPr>
            <a:r>
              <a:t>•  Contribuição para a Formação: Consolidação prática dos conteúdos lecionados na disciplina.</a:t>
            </a:r>
          </a:p>
          <a:p>
            <a:pPr>
              <a:spcAft>
                <a:spcPts val="1200"/>
              </a:spcAft>
              <a:defRPr sz="1450" b="1" i="0">
                <a:solidFill>
                  <a:srgbClr val="B41E1E"/>
                </a:solidFill>
                <a:latin typeface="Arial"/>
              </a:defRPr>
            </a:pPr>
            <a:r>
              <a:t>•  Trabalhos Futuros: Extensão do modelo para novos conjuntos de dados e aplicações.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88736" y="722376"/>
            <a:ext cx="6172200" cy="5596128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79208" y="804672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41414"/>
                </a:solidFill>
                <a:latin typeface="Arial"/>
              </a:rPr>
              <a:t>Figura 4 - Diagrama Conceitual Final</a:t>
            </a:r>
          </a:p>
        </p:txBody>
      </p:sp>
      <p:pic>
        <p:nvPicPr>
          <p:cNvPr id="7" name="Picture 6" descr="diagramaH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896" y="1078992"/>
            <a:ext cx="5897880" cy="47183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62088" y="5907024"/>
            <a:ext cx="2916936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  <a:p>
            <a:pPr algn="ctr"/>
            <a:r>
              <a:rPr sz="1050" b="1">
                <a:solidFill>
                  <a:srgbClr val="1E823C"/>
                </a:solidFill>
                <a:latin typeface="Arial"/>
                <a:hlinkClick r:id="rId3"/>
              </a:rPr>
              <a:t>Documento Técnico | Relatório do Trabalho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95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E823C"/>
                </a:solidFill>
                <a:latin typeface="Arial"/>
              </a:rPr>
              <a:t>Obrigado!</a:t>
            </a:r>
            <a:r>
              <a:rPr sz="1800" b="1">
                <a:solidFill>
                  <a:srgbClr val="1E823C"/>
                </a:solidFill>
                <a:latin typeface="Arial"/>
              </a:rPr>
              <a:t>   —   Perguntas &amp; Discussão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1E823C"/>
                </a:solidFill>
                <a:latin typeface="Arial"/>
              </a:rPr>
              <a:t>Contatos: pedroiff0@gmail.com  |  ana.soja@iff.edu.br  |  maria.dantas@iff.edu.br</a:t>
            </a:r>
          </a:p>
        </p:txBody>
      </p:sp>
      <p:pic>
        <p:nvPicPr>
          <p:cNvPr id="4" name="Picture 3" descr="qrcode_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679" y="1188720"/>
            <a:ext cx="5120640" cy="51154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63640"/>
            <a:ext cx="1072895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1E823C"/>
                </a:solidFill>
                <a:latin typeface="Arial"/>
                <a:hlinkClick r:id="rId3"/>
              </a:rPr>
              <a:t>https://www.phrandrade.com/pt-br/resource/engenharia-de-computacao/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lla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45A28"/>
      </a:dk2>
      <a:lt2>
        <a:srgbClr val="EEECE1"/>
      </a:lt2>
      <a:accent1>
        <a:srgbClr val="1E823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E823C"/>
      </a:hlink>
      <a:folHlink>
        <a:srgbClr val="1E823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