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cao/6-periodo/banco-de-dados/" TargetMode="External"/><Relationship Id="rId4" Type="http://schemas.openxmlformats.org/officeDocument/2006/relationships/hyperlink" Target="https://www.phrandrade.com/pt-br/resource/engenharia-de-computacao/6-periodo/banco-de-dados/anotacoes/atividades/trabalho---normalizacao-e-dependencias-funcionais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cao/6-periodo/banco-de-dados/" TargetMode="External"/><Relationship Id="rId4" Type="http://schemas.openxmlformats.org/officeDocument/2006/relationships/hyperlink" Target="https://www.phrandrade.com/pt-br/resource/engenharia-de-computacao/6-periodo/banco-de-dados/anotacoes/atividades/trabalho---normalizacao-e-dependencias-funcionais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cao/6-periodo/banco-de-dados/" TargetMode="External"/><Relationship Id="rId4" Type="http://schemas.openxmlformats.org/officeDocument/2006/relationships/hyperlink" Target="https://www.phrandrade.com/pt-br/resource/engenharia-de-computacao/6-periodo/banco-de-dados/anotacoes/atividades/trabalho---normalizacao-e-dependencias-funcionais/" TargetMode="External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cao/6-periodo/banco-de-dados/" TargetMode="External"/><Relationship Id="rId4" Type="http://schemas.openxmlformats.org/officeDocument/2006/relationships/hyperlink" Target="https://www.phrandrade.com/pt-br/resource/engenharia-de-computacao/6-periodo/banco-de-dados/anotacoes/atividades/trabalho---normalizacao-e-dependencias-funcionais/" TargetMode="External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cao/6-periodo/banco-de-dados/" TargetMode="External"/><Relationship Id="rId4" Type="http://schemas.openxmlformats.org/officeDocument/2006/relationships/hyperlink" Target="https://www.phrandrade.com/pt-br/resource/engenharia-de-computacao/6-periodo/banco-de-dados/anotacoes/atividades/trabalho---normalizacao-e-dependencias-funcionais/" TargetMode="External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cao/6-periodo/banco-de-dados/" TargetMode="External"/><Relationship Id="rId4" Type="http://schemas.openxmlformats.org/officeDocument/2006/relationships/hyperlink" Target="https://www.phrandrade.com/pt-br/resource/engenharia-de-computacao/6-periodo/banco-de-dados/anotacoes/atividades/trabalho---normalizacao-e-dependencias-funcionais/" TargetMode="External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cao/6-periodo/banco-de-dados/" TargetMode="External"/><Relationship Id="rId4" Type="http://schemas.openxmlformats.org/officeDocument/2006/relationships/hyperlink" Target="https://www.phrandrade.com/pt-br/resource/engenharia-de-computacao/6-periodo/banco-de-dados/anotacoes/atividades/trabalho---normalizacao-e-dependencias-funcionais/" TargetMode="External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cao/6-periodo/banco-de-dados/" TargetMode="External"/><Relationship Id="rId4" Type="http://schemas.openxmlformats.org/officeDocument/2006/relationships/hyperlink" Target="https://www.phrandrade.com/pt-br/resource/engenharia-de-computacao/6-periodo/banco-de-dados/anotacoes/atividades/trabalho---normalizacao-e-dependencias-funcionais/" TargetMode="External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cao/6-periodo/banco-de-dados/" TargetMode="External"/><Relationship Id="rId4" Type="http://schemas.openxmlformats.org/officeDocument/2006/relationships/hyperlink" Target="https://www.phrandrade.com/pt-br/resource/engenharia-de-computacao/6-periodo/banco-de-dados/anotacoes/atividades/trabalho---normalizacao-e-dependencias-funcionais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www.phrandrade.com/pt-br/resource/engenharia-de-computacao/6-periodo/banco-de-dados/anotacoes/atividades/trabalho---normalizacao-e-dependencias-funcionais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236" y="274320"/>
            <a:ext cx="5813526" cy="1600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57400"/>
            <a:ext cx="10728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E823C"/>
                </a:solidFill>
                <a:latin typeface="Arial"/>
                <a:hlinkClick r:id="rId3"/>
              </a:rPr>
              <a:t>BANCO DE DADOS — 6º PERÍODO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7289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E823C"/>
                </a:solidFill>
                <a:latin typeface="Arial"/>
                <a:hlinkClick r:id="rId4"/>
              </a:rPr>
              <a:t>Normalização &amp; Dependências Funcionais</a:t>
            </a:r>
          </a:p>
          <a:p>
            <a:pPr algn="ctr">
              <a:spcBef>
                <a:spcPts val="400"/>
              </a:spcBef>
            </a:pPr>
            <a:r>
              <a:rPr sz="1500">
                <a:solidFill>
                  <a:srgbClr val="141414"/>
                </a:solidFill>
                <a:latin typeface="Arial"/>
              </a:rPr>
              <a:t>Teoria Relacional e Decomposição em 1FN, 2FN e 3FN (Caso Centro de Memória)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728959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Pedro Henrique Rocha de Andrade</a:t>
            </a:r>
          </a:p>
          <a:p>
            <a:pPr algn="ctr">
              <a:spcBef>
                <a:spcPts val="300"/>
              </a:spcBef>
            </a:pPr>
            <a:r>
              <a:rPr sz="1400" b="1">
                <a:solidFill>
                  <a:srgbClr val="141414"/>
                </a:solidFill>
                <a:latin typeface="Arial"/>
              </a:rPr>
              <a:t>Breno Luiz</a:t>
            </a:r>
          </a:p>
          <a:p>
            <a:pPr algn="ctr">
              <a:spcBef>
                <a:spcPts val="300"/>
              </a:spcBef>
            </a:pPr>
            <a:r>
              <a:rPr sz="1400" b="1">
                <a:solidFill>
                  <a:srgbClr val="141414"/>
                </a:solidFill>
                <a:latin typeface="Arial"/>
              </a:rPr>
              <a:t>Isaac Salles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72895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141414"/>
                </a:solidFill>
                <a:latin typeface="Arial"/>
              </a:rPr>
              <a:t>Bom Jesus do Itabapoana — RJ</a:t>
            </a:r>
          </a:p>
          <a:p>
            <a:pPr algn="ctr">
              <a:spcBef>
                <a:spcPts val="300"/>
              </a:spcBef>
            </a:pPr>
            <a:r>
              <a:rPr sz="1250" b="1">
                <a:solidFill>
                  <a:srgbClr val="1E823C"/>
                </a:solidFill>
                <a:latin typeface="Arial"/>
              </a:rPr>
              <a:t>02 de Setembro de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A5A5A"/>
                </a:solidFill>
                <a:latin typeface="Arial"/>
              </a:rPr>
              <a:t> |   </a:t>
            </a:r>
            <a:r>
              <a:rPr sz="2000" b="1">
                <a:solidFill>
                  <a:srgbClr val="141414"/>
                </a:solidFill>
                <a:latin typeface="Arial"/>
              </a:rPr>
              <a:t>Sumário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41414"/>
                </a:solidFill>
                <a:latin typeface="Arial"/>
                <a:hlinkClick r:id="rId3"/>
              </a:rPr>
              <a:t>Banco de Dados</a:t>
            </a:r>
            <a:r>
              <a:rPr sz="1300">
                <a:solidFill>
                  <a:srgbClr val="5A5A5A"/>
                </a:solidFill>
                <a:latin typeface="Arial"/>
              </a:rPr>
              <a:t>   |   </a:t>
            </a:r>
            <a:r>
              <a:rPr sz="1300" b="1">
                <a:solidFill>
                  <a:srgbClr val="1E823C"/>
                </a:solidFill>
                <a:latin typeface="Arial"/>
                <a:hlinkClick r:id="rId4"/>
              </a:rPr>
              <a:t>Normalização &amp; 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1E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823C"/>
                </a:solidFill>
                <a:latin typeface="Arial"/>
              </a:defRPr>
            </a:pPr>
            <a:r>
              <a:t>Estrutura da Apresentação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1E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Arial"/>
              </a:rPr>
              <a:t>de Andrade, P. H. R.; Luiz, B.; Salles, 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rial"/>
                <a:hlinkClick r:id="rId4"/>
              </a:rPr>
              <a:t>Normalização &amp; Dependências Funcionais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41414"/>
                </a:solidFill>
                <a:latin typeface="Arial"/>
              </a:rPr>
              <a:t>2 /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1.  Conceitos</a:t>
            </a:r>
          </a:p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2.  Cenário 0FN</a:t>
            </a:r>
          </a:p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3.  1ª FN</a:t>
            </a:r>
          </a:p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4.  2ª FN</a:t>
            </a:r>
          </a:p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5.  3ª FN</a:t>
            </a:r>
          </a:p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6.  Conclusões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A5A5A"/>
                </a:solidFill>
                <a:latin typeface="Arial"/>
              </a:rPr>
              <a:t> |   </a:t>
            </a:r>
            <a:r>
              <a:rPr sz="2000" b="1">
                <a:solidFill>
                  <a:srgbClr val="141414"/>
                </a:solidFill>
                <a:latin typeface="Arial"/>
              </a:rPr>
              <a:t>Conceitos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41414"/>
                </a:solidFill>
                <a:latin typeface="Arial"/>
                <a:hlinkClick r:id="rId3"/>
              </a:rPr>
              <a:t>Banco de Dados</a:t>
            </a:r>
            <a:r>
              <a:rPr sz="1300">
                <a:solidFill>
                  <a:srgbClr val="5A5A5A"/>
                </a:solidFill>
                <a:latin typeface="Arial"/>
              </a:rPr>
              <a:t>   |   </a:t>
            </a:r>
            <a:r>
              <a:rPr sz="1300" b="1">
                <a:solidFill>
                  <a:srgbClr val="1E823C"/>
                </a:solidFill>
                <a:latin typeface="Arial"/>
                <a:hlinkClick r:id="rId4"/>
              </a:rPr>
              <a:t>Normalização &amp; 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1E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823C"/>
                </a:solidFill>
                <a:latin typeface="Arial"/>
              </a:defRPr>
            </a:pPr>
            <a:r>
              <a:t>O que são Dependências Funcionais?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1E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Arial"/>
              </a:rPr>
              <a:t>de Andrade, P. H. R.; Luiz, B.; Salles, 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rial"/>
                <a:hlinkClick r:id="rId4"/>
              </a:rPr>
              <a:t>Normalização &amp; Dependências Funcionais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41414"/>
                </a:solidFill>
                <a:latin typeface="Arial"/>
              </a:rPr>
              <a:t>3 /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1206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1E823C"/>
                </a:solidFill>
                <a:latin typeface="Arial"/>
              </a:rPr>
              <a:t>•  </a:t>
            </a:r>
            <a:r>
              <a:rPr sz="1400" b="1">
                <a:solidFill>
                  <a:srgbClr val="1E823C"/>
                </a:solidFill>
                <a:latin typeface="Arial"/>
              </a:rPr>
              <a:t>Definição (X → Y): </a:t>
            </a:r>
            <a:r>
              <a:rPr sz="1400" b="0">
                <a:solidFill>
                  <a:srgbClr val="141414"/>
                </a:solidFill>
                <a:latin typeface="Arial"/>
              </a:rPr>
              <a:t>X determina unicamente o valor de Y.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1E823C"/>
                </a:solidFill>
                <a:latin typeface="Arial"/>
              </a:rPr>
              <a:t>•  </a:t>
            </a:r>
            <a:r>
              <a:rPr sz="1400" b="1">
                <a:solidFill>
                  <a:srgbClr val="1E823C"/>
                </a:solidFill>
                <a:latin typeface="Arial"/>
              </a:rPr>
              <a:t>Determinante vs Determinado: </a:t>
            </a:r>
            <a:r>
              <a:rPr sz="1400" b="0">
                <a:solidFill>
                  <a:srgbClr val="141414"/>
                </a:solidFill>
                <a:latin typeface="Arial"/>
              </a:rPr>
              <a:t>X determina; Y depende.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B41E1E"/>
                </a:solidFill>
                <a:latin typeface="Arial"/>
              </a:rPr>
              <a:t>•  </a:t>
            </a:r>
            <a:r>
              <a:rPr sz="1400" b="1">
                <a:solidFill>
                  <a:srgbClr val="B41E1E"/>
                </a:solidFill>
                <a:latin typeface="Arial"/>
              </a:rPr>
              <a:t>Anomalias Clássicas: </a:t>
            </a:r>
            <a:r>
              <a:rPr sz="1400" b="0">
                <a:solidFill>
                  <a:srgbClr val="141414"/>
                </a:solidFill>
                <a:latin typeface="Arial"/>
              </a:rPr>
              <a:t>Inserção, Exclusão e Alteração.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1E823C"/>
                </a:solidFill>
                <a:latin typeface="Arial"/>
              </a:rPr>
              <a:t>•  </a:t>
            </a:r>
            <a:r>
              <a:rPr sz="1400" b="1">
                <a:solidFill>
                  <a:srgbClr val="1E823C"/>
                </a:solidFill>
                <a:latin typeface="Arial"/>
              </a:rPr>
              <a:t>Objetivo Central: </a:t>
            </a:r>
            <a:r>
              <a:rPr sz="1400" b="0">
                <a:solidFill>
                  <a:srgbClr val="141414"/>
                </a:solidFill>
                <a:latin typeface="Arial"/>
              </a:rPr>
              <a:t>Eliminar redundâncias sem perda de dados.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722376"/>
            <a:ext cx="5806440" cy="553212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77724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E823C"/>
                </a:solidFill>
                <a:latin typeface="Arial"/>
              </a:rPr>
              <a:t>Figura 1 - Teoria de DFs e Anomalias</a:t>
            </a:r>
          </a:p>
        </p:txBody>
      </p:sp>
      <p:pic>
        <p:nvPicPr>
          <p:cNvPr id="15" name="Picture 14" descr="figura1_df_anomalia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097280"/>
            <a:ext cx="5623560" cy="4754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9788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A5A5A"/>
                </a:solidFill>
                <a:latin typeface="Arial"/>
              </a:rPr>
              <a:t>Fonte: Elaboração dos Autores (2026)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A5A5A"/>
                </a:solidFill>
                <a:latin typeface="Arial"/>
              </a:rPr>
              <a:t> |   </a:t>
            </a:r>
            <a:r>
              <a:rPr sz="2000" b="1">
                <a:solidFill>
                  <a:srgbClr val="141414"/>
                </a:solidFill>
                <a:latin typeface="Arial"/>
              </a:rPr>
              <a:t>Cenário 0FN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41414"/>
                </a:solidFill>
                <a:latin typeface="Arial"/>
                <a:hlinkClick r:id="rId3"/>
              </a:rPr>
              <a:t>Banco de Dados</a:t>
            </a:r>
            <a:r>
              <a:rPr sz="1300">
                <a:solidFill>
                  <a:srgbClr val="5A5A5A"/>
                </a:solidFill>
                <a:latin typeface="Arial"/>
              </a:rPr>
              <a:t>   |   </a:t>
            </a:r>
            <a:r>
              <a:rPr sz="1300" b="1">
                <a:solidFill>
                  <a:srgbClr val="1E823C"/>
                </a:solidFill>
                <a:latin typeface="Arial"/>
                <a:hlinkClick r:id="rId4"/>
              </a:rPr>
              <a:t>Normalização &amp; 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1E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823C"/>
                </a:solidFill>
                <a:latin typeface="Arial"/>
              </a:defRPr>
            </a:pPr>
            <a:r>
              <a:t>O Cenário Não-Normalizado (0FN)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1E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Arial"/>
              </a:rPr>
              <a:t>de Andrade, P. H. R.; Luiz, B.; Salles, 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rial"/>
                <a:hlinkClick r:id="rId4"/>
              </a:rPr>
              <a:t>Normalização &amp; Dependências Funcionais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41414"/>
                </a:solidFill>
                <a:latin typeface="Arial"/>
              </a:rPr>
              <a:t>4 /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1206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1E823C"/>
                </a:solidFill>
                <a:latin typeface="Arial"/>
              </a:rPr>
              <a:t>•  </a:t>
            </a:r>
            <a:r>
              <a:rPr sz="1400" b="1">
                <a:solidFill>
                  <a:srgbClr val="1E823C"/>
                </a:solidFill>
                <a:latin typeface="Arial"/>
              </a:rPr>
              <a:t>Domínio: </a:t>
            </a:r>
            <a:r>
              <a:rPr sz="1400" b="0">
                <a:solidFill>
                  <a:srgbClr val="141414"/>
                </a:solidFill>
                <a:latin typeface="Arial"/>
              </a:rPr>
              <a:t>Acervo, doações e exposições unificados.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B41E1E"/>
                </a:solidFill>
                <a:latin typeface="Arial"/>
              </a:rPr>
              <a:t>•  </a:t>
            </a:r>
            <a:r>
              <a:rPr sz="1400" b="1">
                <a:solidFill>
                  <a:srgbClr val="B41E1E"/>
                </a:solidFill>
                <a:latin typeface="Arial"/>
              </a:rPr>
              <a:t>Anomalia de Inserção: </a:t>
            </a:r>
            <a:r>
              <a:rPr sz="1400" b="0">
                <a:solidFill>
                  <a:srgbClr val="141414"/>
                </a:solidFill>
                <a:latin typeface="Arial"/>
              </a:rPr>
              <a:t>Impossível cadastrar doador sem item do acervo.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B41E1E"/>
                </a:solidFill>
                <a:latin typeface="Arial"/>
              </a:rPr>
              <a:t>•  </a:t>
            </a:r>
            <a:r>
              <a:rPr sz="1400" b="1">
                <a:solidFill>
                  <a:srgbClr val="B41E1E"/>
                </a:solidFill>
                <a:latin typeface="Arial"/>
              </a:rPr>
              <a:t>Anomalia de Exclusão: </a:t>
            </a:r>
            <a:r>
              <a:rPr sz="1400" b="0">
                <a:solidFill>
                  <a:srgbClr val="141414"/>
                </a:solidFill>
                <a:latin typeface="Arial"/>
              </a:rPr>
              <a:t>Cancelar exposição apaga o item do acervo.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B41E1E"/>
                </a:solidFill>
                <a:latin typeface="Arial"/>
              </a:rPr>
              <a:t>•  </a:t>
            </a:r>
            <a:r>
              <a:rPr sz="1400" b="1">
                <a:solidFill>
                  <a:srgbClr val="B41E1E"/>
                </a:solidFill>
                <a:latin typeface="Arial"/>
              </a:rPr>
              <a:t>Anomalia de Alteração: </a:t>
            </a:r>
            <a:r>
              <a:rPr sz="1400" b="0">
                <a:solidFill>
                  <a:srgbClr val="141414"/>
                </a:solidFill>
                <a:latin typeface="Arial"/>
              </a:rPr>
              <a:t>Atualização repetida de dados do doador.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722376"/>
            <a:ext cx="5806440" cy="553212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77724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E823C"/>
                </a:solidFill>
                <a:latin typeface="Arial"/>
              </a:rPr>
              <a:t>Figura 2 - Relação Universal 0FN</a:t>
            </a:r>
          </a:p>
        </p:txBody>
      </p:sp>
      <p:pic>
        <p:nvPicPr>
          <p:cNvPr id="15" name="Picture 14" descr="figura2_cenario_0f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097280"/>
            <a:ext cx="5623560" cy="4754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9788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A5A5A"/>
                </a:solidFill>
                <a:latin typeface="Arial"/>
              </a:rPr>
              <a:t>Fonte: Baseado no Sistema Centro de Memória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A5A5A"/>
                </a:solidFill>
                <a:latin typeface="Arial"/>
              </a:rPr>
              <a:t> |   </a:t>
            </a:r>
            <a:r>
              <a:rPr sz="2000" b="1">
                <a:solidFill>
                  <a:srgbClr val="141414"/>
                </a:solidFill>
                <a:latin typeface="Arial"/>
              </a:rPr>
              <a:t>1ª FN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41414"/>
                </a:solidFill>
                <a:latin typeface="Arial"/>
                <a:hlinkClick r:id="rId3"/>
              </a:rPr>
              <a:t>Banco de Dados</a:t>
            </a:r>
            <a:r>
              <a:rPr sz="1300">
                <a:solidFill>
                  <a:srgbClr val="5A5A5A"/>
                </a:solidFill>
                <a:latin typeface="Arial"/>
              </a:rPr>
              <a:t>   |   </a:t>
            </a:r>
            <a:r>
              <a:rPr sz="1300" b="1">
                <a:solidFill>
                  <a:srgbClr val="1E823C"/>
                </a:solidFill>
                <a:latin typeface="Arial"/>
                <a:hlinkClick r:id="rId4"/>
              </a:rPr>
              <a:t>Normalização &amp; 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1E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823C"/>
                </a:solidFill>
                <a:latin typeface="Arial"/>
              </a:defRPr>
            </a:pPr>
            <a:r>
              <a:t>Primeira Forma Normal (1FN) --- Atomicidade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1E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Arial"/>
              </a:rPr>
              <a:t>de Andrade, P. H. R.; Luiz, B.; Salles, 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rial"/>
                <a:hlinkClick r:id="rId4"/>
              </a:rPr>
              <a:t>Normalização &amp; Dependências Funcionais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41414"/>
                </a:solidFill>
                <a:latin typeface="Arial"/>
              </a:rPr>
              <a:t>5 /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1206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1E823C"/>
                </a:solidFill>
                <a:latin typeface="Arial"/>
              </a:rPr>
              <a:t>•  </a:t>
            </a:r>
            <a:r>
              <a:rPr sz="1400" b="1">
                <a:solidFill>
                  <a:srgbClr val="1E823C"/>
                </a:solidFill>
                <a:latin typeface="Arial"/>
              </a:rPr>
              <a:t>Regra da 1FN: </a:t>
            </a:r>
            <a:r>
              <a:rPr sz="1400" b="0">
                <a:solidFill>
                  <a:srgbClr val="141414"/>
                </a:solidFill>
                <a:latin typeface="Arial"/>
              </a:rPr>
              <a:t>Atributos estritamente atômicos.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B41E1E"/>
                </a:solidFill>
                <a:latin typeface="Arial"/>
              </a:rPr>
              <a:t>•  </a:t>
            </a:r>
            <a:r>
              <a:rPr sz="1400" b="1">
                <a:solidFill>
                  <a:srgbClr val="B41E1E"/>
                </a:solidFill>
                <a:latin typeface="Arial"/>
              </a:rPr>
              <a:t>Problema (0FN): </a:t>
            </a:r>
            <a:r>
              <a:rPr sz="1400" b="0">
                <a:solidFill>
                  <a:srgbClr val="141414"/>
                </a:solidFill>
                <a:latin typeface="Arial"/>
              </a:rPr>
              <a:t>palavras_chave agrupadas na mesma célula.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823C"/>
                </a:solidFill>
                <a:latin typeface="Arial"/>
              </a:rPr>
              <a:t>•  </a:t>
            </a:r>
            <a:r>
              <a:rPr sz="1400" b="1">
                <a:solidFill>
                  <a:srgbClr val="1E823C"/>
                </a:solidFill>
                <a:latin typeface="Arial"/>
              </a:rPr>
              <a:t>Decomposição: </a:t>
            </a:r>
            <a:r>
              <a:rPr sz="1400" b="0">
                <a:solidFill>
                  <a:srgbClr val="141414"/>
                </a:solidFill>
                <a:latin typeface="Arial"/>
              </a:rPr>
              <a:t>Extração para tabela associativa: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E823C"/>
                </a:solidFill>
                <a:latin typeface="Arial"/>
              </a:rPr>
              <a:t>     ↳  </a:t>
            </a:r>
            <a:r>
              <a:rPr sz="1200" b="0">
                <a:solidFill>
                  <a:srgbClr val="141414"/>
                </a:solidFill>
                <a:latin typeface="Arial"/>
              </a:rPr>
              <a:t>Item_PalavraChave(cod_tombo, palavra_chave)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•  </a:t>
            </a:r>
            <a:r>
              <a:rPr sz="1400" b="1">
                <a:solidFill>
                  <a:srgbClr val="141414"/>
                </a:solidFill>
                <a:latin typeface="Arial"/>
              </a:rPr>
              <a:t>Benefício: </a:t>
            </a:r>
            <a:r>
              <a:rPr sz="1400" b="0">
                <a:solidFill>
                  <a:srgbClr val="141414"/>
                </a:solidFill>
                <a:latin typeface="Arial"/>
              </a:rPr>
              <a:t>Atomicidade e facilidade de indexação.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722376"/>
            <a:ext cx="5806440" cy="553212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77724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E823C"/>
                </a:solidFill>
                <a:latin typeface="Arial"/>
              </a:rPr>
              <a:t>Figura 3 - Transição para 1FN e 2FN</a:t>
            </a:r>
          </a:p>
        </p:txBody>
      </p:sp>
      <p:pic>
        <p:nvPicPr>
          <p:cNvPr id="15" name="Picture 14" descr="figura3_decomposicao_1fn_2f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097280"/>
            <a:ext cx="5623560" cy="4754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9788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A5A5A"/>
                </a:solidFill>
                <a:latin typeface="Arial"/>
              </a:rPr>
              <a:t>Fonte: Elaboração dos Autores (2026)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A5A5A"/>
                </a:solidFill>
                <a:latin typeface="Arial"/>
              </a:rPr>
              <a:t> |   </a:t>
            </a:r>
            <a:r>
              <a:rPr sz="2000" b="1">
                <a:solidFill>
                  <a:srgbClr val="141414"/>
                </a:solidFill>
                <a:latin typeface="Arial"/>
              </a:rPr>
              <a:t>2ª FN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41414"/>
                </a:solidFill>
                <a:latin typeface="Arial"/>
                <a:hlinkClick r:id="rId3"/>
              </a:rPr>
              <a:t>Banco de Dados</a:t>
            </a:r>
            <a:r>
              <a:rPr sz="1300">
                <a:solidFill>
                  <a:srgbClr val="5A5A5A"/>
                </a:solidFill>
                <a:latin typeface="Arial"/>
              </a:rPr>
              <a:t>   |   </a:t>
            </a:r>
            <a:r>
              <a:rPr sz="1300" b="1">
                <a:solidFill>
                  <a:srgbClr val="1E823C"/>
                </a:solidFill>
                <a:latin typeface="Arial"/>
                <a:hlinkClick r:id="rId4"/>
              </a:rPr>
              <a:t>Normalização &amp; 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1E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823C"/>
                </a:solidFill>
                <a:latin typeface="Arial"/>
              </a:defRPr>
            </a:pPr>
            <a:r>
              <a:t>Segunda Forma Normal (2FN) --- Dependência Total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1E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Arial"/>
              </a:rPr>
              <a:t>de Andrade, P. H. R.; Luiz, B.; Salles, 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rial"/>
                <a:hlinkClick r:id="rId4"/>
              </a:rPr>
              <a:t>Normalização &amp; Dependências Funcionais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41414"/>
                </a:solidFill>
                <a:latin typeface="Arial"/>
              </a:rPr>
              <a:t>6 /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1206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1E823C"/>
                </a:solidFill>
                <a:latin typeface="Arial"/>
              </a:rPr>
              <a:t>•  </a:t>
            </a:r>
            <a:r>
              <a:rPr sz="1400" b="1">
                <a:solidFill>
                  <a:srgbClr val="1E823C"/>
                </a:solidFill>
                <a:latin typeface="Arial"/>
              </a:rPr>
              <a:t>Regra da 2FN: </a:t>
            </a:r>
            <a:r>
              <a:rPr sz="1400" b="0">
                <a:solidFill>
                  <a:srgbClr val="141414"/>
                </a:solidFill>
                <a:latin typeface="Arial"/>
              </a:rPr>
              <a:t>Estar na 1FN e sem dependências parciais.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B41E1E"/>
                </a:solidFill>
                <a:latin typeface="Arial"/>
              </a:rPr>
              <a:t>•  </a:t>
            </a:r>
            <a:r>
              <a:rPr sz="1400" b="1">
                <a:solidFill>
                  <a:srgbClr val="B41E1E"/>
                </a:solidFill>
                <a:latin typeface="Arial"/>
              </a:rPr>
              <a:t>Problema: </a:t>
            </a:r>
            <a:r>
              <a:rPr sz="1400" b="0">
                <a:solidFill>
                  <a:srgbClr val="141414"/>
                </a:solidFill>
                <a:latin typeface="Arial"/>
              </a:rPr>
              <a:t>Título depende só de cod_tombo em chave composta.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823C"/>
                </a:solidFill>
                <a:latin typeface="Arial"/>
              </a:rPr>
              <a:t>•  </a:t>
            </a:r>
            <a:r>
              <a:rPr sz="1400" b="1">
                <a:solidFill>
                  <a:srgbClr val="1E823C"/>
                </a:solidFill>
                <a:latin typeface="Arial"/>
              </a:rPr>
              <a:t>Decomposição 2FN: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E823C"/>
                </a:solidFill>
                <a:latin typeface="Arial"/>
              </a:rPr>
              <a:t>     ↳  </a:t>
            </a:r>
            <a:r>
              <a:rPr sz="1200" b="0">
                <a:solidFill>
                  <a:srgbClr val="141414"/>
                </a:solidFill>
                <a:latin typeface="Arial"/>
              </a:rPr>
              <a:t>Exposicao(codigo_exposicao, titulo, ...)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E823C"/>
                </a:solidFill>
                <a:latin typeface="Arial"/>
              </a:rPr>
              <a:t>     ↳  </a:t>
            </a:r>
            <a:r>
              <a:rPr sz="1200" b="0">
                <a:solidFill>
                  <a:srgbClr val="141414"/>
                </a:solidFill>
                <a:latin typeface="Arial"/>
              </a:rPr>
              <a:t>Item_Acervo(cod_tombo, titulo, ...)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E823C"/>
                </a:solidFill>
                <a:latin typeface="Arial"/>
              </a:rPr>
              <a:t>     ↳  </a:t>
            </a:r>
            <a:r>
              <a:rPr sz="1200" b="0">
                <a:solidFill>
                  <a:srgbClr val="141414"/>
                </a:solidFill>
                <a:latin typeface="Arial"/>
              </a:rPr>
              <a:t>Item_Exposicao(cod_exp, cod_tombo, pos)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•  </a:t>
            </a:r>
            <a:r>
              <a:rPr sz="1400" b="1">
                <a:solidFill>
                  <a:srgbClr val="141414"/>
                </a:solidFill>
                <a:latin typeface="Arial"/>
              </a:rPr>
              <a:t>Garantia: </a:t>
            </a:r>
            <a:r>
              <a:rPr sz="1400" b="0">
                <a:solidFill>
                  <a:srgbClr val="141414"/>
                </a:solidFill>
                <a:latin typeface="Arial"/>
              </a:rPr>
              <a:t>Atributos dependem da chave primária completa.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722376"/>
            <a:ext cx="5806440" cy="553212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77724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E823C"/>
                </a:solidFill>
                <a:latin typeface="Arial"/>
              </a:rPr>
              <a:t>Figura 3 - Eliminação de DFs Parciais</a:t>
            </a:r>
          </a:p>
        </p:txBody>
      </p:sp>
      <p:pic>
        <p:nvPicPr>
          <p:cNvPr id="15" name="Picture 14" descr="figura3_decomposicao_1fn_2f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097280"/>
            <a:ext cx="5623560" cy="4754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9788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A5A5A"/>
                </a:solidFill>
                <a:latin typeface="Arial"/>
              </a:rPr>
              <a:t>Fonte: Elaboração dos Autores (2026)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A5A5A"/>
                </a:solidFill>
                <a:latin typeface="Arial"/>
              </a:rPr>
              <a:t> |   </a:t>
            </a:r>
            <a:r>
              <a:rPr sz="2000" b="1">
                <a:solidFill>
                  <a:srgbClr val="141414"/>
                </a:solidFill>
                <a:latin typeface="Arial"/>
              </a:rPr>
              <a:t>3ª FN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41414"/>
                </a:solidFill>
                <a:latin typeface="Arial"/>
                <a:hlinkClick r:id="rId3"/>
              </a:rPr>
              <a:t>Banco de Dados</a:t>
            </a:r>
            <a:r>
              <a:rPr sz="1300">
                <a:solidFill>
                  <a:srgbClr val="5A5A5A"/>
                </a:solidFill>
                <a:latin typeface="Arial"/>
              </a:rPr>
              <a:t>   |   </a:t>
            </a:r>
            <a:r>
              <a:rPr sz="1300" b="1">
                <a:solidFill>
                  <a:srgbClr val="1E823C"/>
                </a:solidFill>
                <a:latin typeface="Arial"/>
                <a:hlinkClick r:id="rId4"/>
              </a:rPr>
              <a:t>Normalização &amp; 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1E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823C"/>
                </a:solidFill>
                <a:latin typeface="Arial"/>
              </a:defRPr>
            </a:pPr>
            <a:r>
              <a:t>Terceira Forma Normal (3FN) --- Sem DFs Transitivas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1E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Arial"/>
              </a:rPr>
              <a:t>de Andrade, P. H. R.; Luiz, B.; Salles, 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rial"/>
                <a:hlinkClick r:id="rId4"/>
              </a:rPr>
              <a:t>Normalização &amp; Dependências Funcionais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41414"/>
                </a:solidFill>
                <a:latin typeface="Arial"/>
              </a:rPr>
              <a:t>7 /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1206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1E823C"/>
                </a:solidFill>
                <a:latin typeface="Arial"/>
              </a:rPr>
              <a:t>•  </a:t>
            </a:r>
            <a:r>
              <a:rPr sz="1400" b="1">
                <a:solidFill>
                  <a:srgbClr val="1E823C"/>
                </a:solidFill>
                <a:latin typeface="Arial"/>
              </a:rPr>
              <a:t>Regra da 3FN: </a:t>
            </a:r>
            <a:r>
              <a:rPr sz="1400" b="0">
                <a:solidFill>
                  <a:srgbClr val="141414"/>
                </a:solidFill>
                <a:latin typeface="Arial"/>
              </a:rPr>
              <a:t>Estar na 2FN e sem dependências transitivas.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B41E1E"/>
                </a:solidFill>
                <a:latin typeface="Arial"/>
              </a:rPr>
              <a:t>•  </a:t>
            </a:r>
            <a:r>
              <a:rPr sz="1400" b="1">
                <a:solidFill>
                  <a:srgbClr val="B41E1E"/>
                </a:solidFill>
                <a:latin typeface="Arial"/>
              </a:rPr>
              <a:t>Problema: </a:t>
            </a:r>
            <a:r>
              <a:rPr sz="1400" b="0">
                <a:solidFill>
                  <a:srgbClr val="141414"/>
                </a:solidFill>
                <a:latin typeface="Arial"/>
              </a:rPr>
              <a:t>cod_tombo → cod_doacao → dados_doador.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823C"/>
                </a:solidFill>
                <a:latin typeface="Arial"/>
              </a:rPr>
              <a:t>•  </a:t>
            </a:r>
            <a:r>
              <a:rPr sz="1400" b="1">
                <a:solidFill>
                  <a:srgbClr val="1E823C"/>
                </a:solidFill>
                <a:latin typeface="Arial"/>
              </a:rPr>
              <a:t>Decomposição 3FN: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E823C"/>
                </a:solidFill>
                <a:latin typeface="Arial"/>
              </a:rPr>
              <a:t>     ↳  </a:t>
            </a:r>
            <a:r>
              <a:rPr sz="1200" b="0">
                <a:solidFill>
                  <a:srgbClr val="141414"/>
                </a:solidFill>
                <a:latin typeface="Arial"/>
              </a:rPr>
              <a:t>Doacao(cod_doacao, data, termo, id_doador)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E823C"/>
                </a:solidFill>
                <a:latin typeface="Arial"/>
              </a:rPr>
              <a:t>     ↳  </a:t>
            </a:r>
            <a:r>
              <a:rPr sz="1200" b="0">
                <a:solidFill>
                  <a:srgbClr val="141414"/>
                </a:solidFill>
                <a:latin typeface="Arial"/>
              </a:rPr>
              <a:t>Pessoa(id_pessoa, nome, cpf, email, ...)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•  </a:t>
            </a:r>
            <a:r>
              <a:rPr sz="1400" b="1">
                <a:solidFill>
                  <a:srgbClr val="141414"/>
                </a:solidFill>
                <a:latin typeface="Arial"/>
              </a:rPr>
              <a:t>Vínculo: </a:t>
            </a:r>
            <a:r>
              <a:rPr sz="1400" b="0">
                <a:solidFill>
                  <a:srgbClr val="141414"/>
                </a:solidFill>
                <a:latin typeface="Arial"/>
              </a:rPr>
              <a:t>Item_Acervo mantém apenas FK cod_doacao.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722376"/>
            <a:ext cx="5806440" cy="553212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77724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E823C"/>
                </a:solidFill>
                <a:latin typeface="Arial"/>
              </a:rPr>
              <a:t>Figura 4 - Esquema Final em 3FN</a:t>
            </a:r>
          </a:p>
        </p:txBody>
      </p:sp>
      <p:pic>
        <p:nvPicPr>
          <p:cNvPr id="15" name="Picture 14" descr="figura4_esquema_3fn_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097280"/>
            <a:ext cx="5623560" cy="4754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9788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A5A5A"/>
                </a:solidFill>
                <a:latin typeface="Arial"/>
              </a:rPr>
              <a:t>Fonte: Elaboração dos Autores (2026)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A5A5A"/>
                </a:solidFill>
                <a:latin typeface="Arial"/>
              </a:rPr>
              <a:t> |   </a:t>
            </a:r>
            <a:r>
              <a:rPr sz="2000" b="1">
                <a:solidFill>
                  <a:srgbClr val="141414"/>
                </a:solidFill>
                <a:latin typeface="Arial"/>
              </a:rPr>
              <a:t>Conclusões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41414"/>
                </a:solidFill>
                <a:latin typeface="Arial"/>
                <a:hlinkClick r:id="rId3"/>
              </a:rPr>
              <a:t>Banco de Dados</a:t>
            </a:r>
            <a:r>
              <a:rPr sz="1300">
                <a:solidFill>
                  <a:srgbClr val="5A5A5A"/>
                </a:solidFill>
                <a:latin typeface="Arial"/>
              </a:rPr>
              <a:t>   |   </a:t>
            </a:r>
            <a:r>
              <a:rPr sz="1300" b="1">
                <a:solidFill>
                  <a:srgbClr val="1E823C"/>
                </a:solidFill>
                <a:latin typeface="Arial"/>
                <a:hlinkClick r:id="rId4"/>
              </a:rPr>
              <a:t>Normalização &amp; 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1E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823C"/>
                </a:solidFill>
                <a:latin typeface="Arial"/>
              </a:defRPr>
            </a:pPr>
            <a:r>
              <a:t>Esquema Normalizado e Garantias Formais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1E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Arial"/>
              </a:rPr>
              <a:t>de Andrade, P. H. R.; Luiz, B.; Salles, 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rial"/>
                <a:hlinkClick r:id="rId4"/>
              </a:rPr>
              <a:t>Normalização &amp; Dependências Funcionais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41414"/>
                </a:solidFill>
                <a:latin typeface="Arial"/>
              </a:rPr>
              <a:t>8 /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1206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400" b="1">
                <a:solidFill>
                  <a:srgbClr val="1E823C"/>
                </a:solidFill>
                <a:latin typeface="Arial"/>
              </a:rPr>
              <a:t>•  </a:t>
            </a:r>
            <a:r>
              <a:rPr sz="1400" b="1">
                <a:solidFill>
                  <a:srgbClr val="1E823C"/>
                </a:solidFill>
                <a:latin typeface="Arial"/>
              </a:rPr>
              <a:t>Lossless Join: </a:t>
            </a:r>
            <a:r>
              <a:rPr sz="1400" b="0">
                <a:solidFill>
                  <a:srgbClr val="141414"/>
                </a:solidFill>
                <a:latin typeface="Arial"/>
              </a:rPr>
              <a:t>Junção natural recompõe dados sem perdas.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1E823C"/>
                </a:solidFill>
                <a:latin typeface="Arial"/>
              </a:rPr>
              <a:t>•  </a:t>
            </a:r>
            <a:r>
              <a:rPr sz="1400" b="1">
                <a:solidFill>
                  <a:srgbClr val="1E823C"/>
                </a:solidFill>
                <a:latin typeface="Arial"/>
              </a:rPr>
              <a:t>Preservação de DFs: </a:t>
            </a:r>
            <a:r>
              <a:rPr sz="1400" b="0">
                <a:solidFill>
                  <a:srgbClr val="141414"/>
                </a:solidFill>
                <a:latin typeface="Arial"/>
              </a:rPr>
              <a:t>Regras garantidas localmente por constraints.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1E823C"/>
                </a:solidFill>
                <a:latin typeface="Arial"/>
              </a:rPr>
              <a:t>•  </a:t>
            </a:r>
            <a:r>
              <a:rPr sz="1400" b="1">
                <a:solidFill>
                  <a:srgbClr val="1E823C"/>
                </a:solidFill>
                <a:latin typeface="Arial"/>
              </a:rPr>
              <a:t>Redundância Nula: </a:t>
            </a:r>
            <a:r>
              <a:rPr sz="1400" b="0">
                <a:solidFill>
                  <a:srgbClr val="141414"/>
                </a:solidFill>
                <a:latin typeface="Arial"/>
              </a:rPr>
              <a:t>Cada fato registrado em uma única tabela.</a:t>
            </a:r>
          </a:p>
          <a:p>
            <a:pPr>
              <a:spcAft>
                <a:spcPts val="1600"/>
              </a:spcAft>
            </a:pPr>
            <a:r>
              <a:rPr sz="1400" b="1">
                <a:solidFill>
                  <a:srgbClr val="1E823C"/>
                </a:solidFill>
                <a:latin typeface="Arial"/>
              </a:rPr>
              <a:t>•  </a:t>
            </a:r>
            <a:r>
              <a:rPr sz="1400" b="1">
                <a:solidFill>
                  <a:srgbClr val="1E823C"/>
                </a:solidFill>
                <a:latin typeface="Arial"/>
              </a:rPr>
              <a:t>Integridade: </a:t>
            </a:r>
            <a:r>
              <a:rPr sz="1400" b="0">
                <a:solidFill>
                  <a:srgbClr val="141414"/>
                </a:solidFill>
                <a:latin typeface="Arial"/>
              </a:rPr>
              <a:t>Consistência assegurada por PKs e FKs.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722376"/>
            <a:ext cx="5806440" cy="553212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77724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E823C"/>
                </a:solidFill>
                <a:latin typeface="Arial"/>
              </a:rPr>
              <a:t>Figura 4 - Relações Especializadas 3FN</a:t>
            </a:r>
          </a:p>
        </p:txBody>
      </p:sp>
      <p:pic>
        <p:nvPicPr>
          <p:cNvPr id="15" name="Picture 14" descr="figura4_esquema_3fn_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097280"/>
            <a:ext cx="5623560" cy="4754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897880"/>
            <a:ext cx="5715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A5A5A"/>
                </a:solidFill>
                <a:latin typeface="Arial"/>
              </a:rPr>
              <a:t>Fonte: Elaboração dos Autores (2026)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"/>
            <a:ext cx="1395412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A5A5A"/>
                </a:solidFill>
                <a:latin typeface="Arial"/>
              </a:rPr>
              <a:t> |   </a:t>
            </a:r>
            <a:r>
              <a:rPr sz="2000" b="1">
                <a:solidFill>
                  <a:srgbClr val="141414"/>
                </a:solidFill>
                <a:latin typeface="Arial"/>
              </a:rPr>
              <a:t>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7315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141414"/>
                </a:solidFill>
                <a:latin typeface="Arial"/>
                <a:hlinkClick r:id="rId3"/>
              </a:rPr>
              <a:t>Banco de Dados</a:t>
            </a:r>
            <a:r>
              <a:rPr sz="1300">
                <a:solidFill>
                  <a:srgbClr val="5A5A5A"/>
                </a:solidFill>
                <a:latin typeface="Arial"/>
              </a:rPr>
              <a:t>   |   </a:t>
            </a:r>
            <a:r>
              <a:rPr sz="1300" b="1">
                <a:solidFill>
                  <a:srgbClr val="1E823C"/>
                </a:solidFill>
                <a:latin typeface="Arial"/>
                <a:hlinkClick r:id="rId4"/>
              </a:rPr>
              <a:t>Normalização &amp; 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"/>
            <a:ext cx="12191999" cy="13716"/>
          </a:xfrm>
          <a:prstGeom prst="rect">
            <a:avLst/>
          </a:prstGeom>
          <a:solidFill>
            <a:srgbClr val="1E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823C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999" cy="13716"/>
          </a:xfrm>
          <a:prstGeom prst="rect">
            <a:avLst/>
          </a:prstGeom>
          <a:solidFill>
            <a:srgbClr val="1E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Arial"/>
              </a:rPr>
              <a:t>de Andrade, P. H. R.; Luiz, B.; Salles, 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446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41414"/>
                </a:solidFill>
                <a:latin typeface="Arial"/>
                <a:hlinkClick r:id="rId4"/>
              </a:rPr>
              <a:t>Normalização &amp; Dependências Funcionais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4465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141414"/>
                </a:solidFill>
                <a:latin typeface="Arial"/>
              </a:rPr>
              <a:t>9 /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188720"/>
            <a:ext cx="10725912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350" b="1">
                <a:solidFill>
                  <a:srgbClr val="1E823C"/>
                </a:solidFill>
                <a:latin typeface="Arial"/>
              </a:rPr>
              <a:t>[1]  </a:t>
            </a:r>
            <a:r>
              <a:rPr sz="1350">
                <a:solidFill>
                  <a:srgbClr val="141414"/>
                </a:solidFill>
                <a:latin typeface="Arial"/>
              </a:rPr>
              <a:t>ELMASRI, R.; NAVATHE, S. B. Sistemas de Banco de Dados. 7. ed. São Paulo: Pearson, 2018.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1E823C"/>
                </a:solidFill>
                <a:latin typeface="Arial"/>
              </a:rPr>
              <a:t>[2]  </a:t>
            </a:r>
            <a:r>
              <a:rPr sz="1350">
                <a:solidFill>
                  <a:srgbClr val="141414"/>
                </a:solidFill>
                <a:latin typeface="Arial"/>
              </a:rPr>
              <a:t>SILBERSCHATZ, A.; KORTH, H. F.; SUDARSHAN, S. Sistema de Banco de Dados. 6. ed. Elsevier, 2012.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1E823C"/>
                </a:solidFill>
                <a:latin typeface="Arial"/>
              </a:rPr>
              <a:t>[3]  </a:t>
            </a:r>
            <a:r>
              <a:rPr sz="1350">
                <a:solidFill>
                  <a:srgbClr val="141414"/>
                </a:solidFill>
                <a:latin typeface="Arial"/>
              </a:rPr>
              <a:t>CODD, Edgar F. A Relational Model of Data for Large Shared Data Banks. ACM, 1970.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1E823C"/>
                </a:solidFill>
                <a:latin typeface="Arial"/>
              </a:rPr>
              <a:t>[4]  </a:t>
            </a:r>
            <a:r>
              <a:rPr sz="1350">
                <a:solidFill>
                  <a:srgbClr val="141414"/>
                </a:solidFill>
                <a:latin typeface="Arial"/>
              </a:rPr>
              <a:t>DATE, C. J. Introdução a Sistemas de Bancos de Dados. 8. ed. Elsevier, 2004.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1E823C"/>
                </a:solidFill>
                <a:latin typeface="Arial"/>
              </a:rPr>
              <a:t>[5]  </a:t>
            </a:r>
            <a:r>
              <a:rPr sz="1350">
                <a:solidFill>
                  <a:srgbClr val="141414"/>
                </a:solidFill>
                <a:latin typeface="Arial"/>
              </a:rPr>
              <a:t>IBM. Database Normalization: Guia Prático. IBM Think Topics, 2024.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9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E823C"/>
                </a:solidFill>
                <a:latin typeface="Arial"/>
              </a:rPr>
              <a:t>Obrigado!</a:t>
            </a:r>
            <a:r>
              <a:rPr sz="1800" b="1">
                <a:solidFill>
                  <a:srgbClr val="1E823C"/>
                </a:solidFill>
                <a:latin typeface="Arial"/>
              </a:rPr>
              <a:t>   —   Perguntas &amp; Discussão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1E823C"/>
                </a:solidFill>
                <a:latin typeface="Arial"/>
              </a:rPr>
              <a:t>Contatos: pedroiff0@gmail.com  |  brenooh7@gmail.com  |  isaacsalles2005@gmail.com</a:t>
            </a:r>
          </a:p>
        </p:txBody>
      </p:sp>
      <p:pic>
        <p:nvPicPr>
          <p:cNvPr id="4" name="Picture 3" descr="qrcode_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679" y="1188720"/>
            <a:ext cx="5120640" cy="511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7289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E823C"/>
                </a:solidFill>
                <a:latin typeface="Arial"/>
                <a:hlinkClick r:id="rId3"/>
              </a:rPr>
              <a:t>https://www.phrandrade.com/pt-br/resource/engenharia-de-computacao/6-periodo/banco-de-dados/anotacoes/atividades/trabalho---normalizacao-e-dependencias-funcionais/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ll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45A28"/>
      </a:dk2>
      <a:lt2>
        <a:srgbClr val="EEECE1"/>
      </a:lt2>
      <a:accent1>
        <a:srgbClr val="1E823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E823C"/>
      </a:hlink>
      <a:folHlink>
        <a:srgbClr val="1E823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