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banco-de-dados/" TargetMode="External"/><Relationship Id="rId4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&#231;&#227;o/6-periodo/banco-de-dados/anota&#231;&#245;es/atividades/trabalho---normaliza&#231;&#227;o-e-depend&#234;ncias-funcionais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E823C"/>
                </a:solidFill>
                <a:latin typeface="Arial"/>
                <a:hlinkClick r:id="rId3"/>
              </a:rPr>
              <a:t>BANCO DE DADOS — 6º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823C"/>
                </a:solidFill>
                <a:latin typeface="Arial"/>
                <a:hlinkClick r:id="rId4"/>
              </a:rPr>
              <a:t>Normalização &amp; Dependências Funcionais</a:t>
            </a:r>
          </a:p>
          <a:p>
            <a:pPr algn="ctr">
              <a:spcBef>
                <a:spcPts val="400"/>
              </a:spcBef>
            </a:pPr>
            <a:r>
              <a:rPr sz="1500">
                <a:solidFill>
                  <a:srgbClr val="141414"/>
                </a:solidFill>
                <a:latin typeface="Arial"/>
              </a:rPr>
              <a:t>Teoria Relacional e Decomposição em 1FN, 2FN e 3FN (Caso Centro de Memória)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89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141414"/>
                </a:solidFill>
                <a:latin typeface="Arial"/>
              </a:rPr>
              <a:t>Breno Luiz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141414"/>
                </a:solidFill>
                <a:latin typeface="Arial"/>
              </a:rPr>
              <a:t>Isaac Salles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141414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1E823C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2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1.  Conceitos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2.  Cenário 0FN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3.  1ª FN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4.  2ª FN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5.  3ª FN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6.  Conclusões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Conceitos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que são Dependências Funcionais?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3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Definição (X → Y): </a:t>
            </a:r>
            <a:r>
              <a:rPr sz="1400" b="0">
                <a:solidFill>
                  <a:srgbClr val="141414"/>
                </a:solidFill>
                <a:latin typeface="Arial"/>
              </a:rPr>
              <a:t>X determina unicamente o valor de Y.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Determinante vs Determinado: </a:t>
            </a:r>
            <a:r>
              <a:rPr sz="1400" b="0">
                <a:solidFill>
                  <a:srgbClr val="141414"/>
                </a:solidFill>
                <a:latin typeface="Arial"/>
              </a:rPr>
              <a:t>X determina; Y depende.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Anomalias Clássicas: </a:t>
            </a:r>
            <a:r>
              <a:rPr sz="1400" b="0">
                <a:solidFill>
                  <a:srgbClr val="141414"/>
                </a:solidFill>
                <a:latin typeface="Arial"/>
              </a:rPr>
              <a:t>Inserção, Exclusão e Alteração.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Objetivo Central: </a:t>
            </a:r>
            <a:r>
              <a:rPr sz="1400" b="0">
                <a:solidFill>
                  <a:srgbClr val="141414"/>
                </a:solidFill>
                <a:latin typeface="Arial"/>
              </a:rPr>
              <a:t>Eliminar redundâncias sem perda de dados.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1 - Teoria de DFs e Anomalias</a:t>
            </a:r>
          </a:p>
        </p:txBody>
      </p:sp>
      <p:pic>
        <p:nvPicPr>
          <p:cNvPr id="15" name="Picture 14" descr="figura1_df_anomali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Cenário 0FN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Cenário Não-Normalizado (0FN)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4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Domínio: </a:t>
            </a:r>
            <a:r>
              <a:rPr sz="1400" b="0">
                <a:solidFill>
                  <a:srgbClr val="141414"/>
                </a:solidFill>
                <a:latin typeface="Arial"/>
              </a:rPr>
              <a:t>Acervo, doações e exposições unificados.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Anomalia de Inserção: </a:t>
            </a:r>
            <a:r>
              <a:rPr sz="1400" b="0">
                <a:solidFill>
                  <a:srgbClr val="141414"/>
                </a:solidFill>
                <a:latin typeface="Arial"/>
              </a:rPr>
              <a:t>Impossível cadastrar doador sem item do acervo.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Anomalia de Exclusão: </a:t>
            </a:r>
            <a:r>
              <a:rPr sz="1400" b="0">
                <a:solidFill>
                  <a:srgbClr val="141414"/>
                </a:solidFill>
                <a:latin typeface="Arial"/>
              </a:rPr>
              <a:t>Cancelar exposição apaga o item do acervo.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Anomalia de Alteração: </a:t>
            </a:r>
            <a:r>
              <a:rPr sz="1400" b="0">
                <a:solidFill>
                  <a:srgbClr val="141414"/>
                </a:solidFill>
                <a:latin typeface="Arial"/>
              </a:rPr>
              <a:t>Atualização repetida de dados do doador.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2 - Relação Universal 0FN</a:t>
            </a:r>
          </a:p>
        </p:txBody>
      </p:sp>
      <p:pic>
        <p:nvPicPr>
          <p:cNvPr id="15" name="Picture 14" descr="figura2_cenario_0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Baseado no Sistema Centro de Memória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1ª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Primeira Forma Normal (1FN) --- Atomicidade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5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Regra da 1FN: </a:t>
            </a:r>
            <a:r>
              <a:rPr sz="1400" b="0">
                <a:solidFill>
                  <a:srgbClr val="141414"/>
                </a:solidFill>
                <a:latin typeface="Arial"/>
              </a:rPr>
              <a:t>Atributos estritamente atômicos.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Problema (0FN): </a:t>
            </a:r>
            <a:r>
              <a:rPr sz="1400" b="0">
                <a:solidFill>
                  <a:srgbClr val="141414"/>
                </a:solidFill>
                <a:latin typeface="Arial"/>
              </a:rPr>
              <a:t>palavras_chave agrupadas na mesma célula.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Decomposição: </a:t>
            </a:r>
            <a:r>
              <a:rPr sz="1400" b="0">
                <a:solidFill>
                  <a:srgbClr val="141414"/>
                </a:solidFill>
                <a:latin typeface="Arial"/>
              </a:rPr>
              <a:t>Extração para tabela associativa: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Item_PalavraChave(cod_tombo, palavra_chave)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Benefício: </a:t>
            </a:r>
            <a:r>
              <a:rPr sz="1400" b="0">
                <a:solidFill>
                  <a:srgbClr val="141414"/>
                </a:solidFill>
                <a:latin typeface="Arial"/>
              </a:rPr>
              <a:t>Atomicidade e facilidade de indexação.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3 - Transição para 1FN e 2FN</a:t>
            </a:r>
          </a:p>
        </p:txBody>
      </p:sp>
      <p:pic>
        <p:nvPicPr>
          <p:cNvPr id="15" name="Picture 14" descr="figura3_decomposicao_1fn_2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2ª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Segunda Forma Normal (2FN) --- Dependência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6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Regra da 2FN: </a:t>
            </a:r>
            <a:r>
              <a:rPr sz="1400" b="0">
                <a:solidFill>
                  <a:srgbClr val="141414"/>
                </a:solidFill>
                <a:latin typeface="Arial"/>
              </a:rPr>
              <a:t>Estar na 1FN e sem dependências parciais.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Problema: </a:t>
            </a:r>
            <a:r>
              <a:rPr sz="1400" b="0">
                <a:solidFill>
                  <a:srgbClr val="141414"/>
                </a:solidFill>
                <a:latin typeface="Arial"/>
              </a:rPr>
              <a:t>Título depende só de cod_tombo em chave composta.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Decomposição 2FN: 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Exposicao(codigo_exposicao, titulo, ...)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Item_Acervo(cod_tombo, titulo, ...)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Item_Exposicao(cod_exp, cod_tombo, pos)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Garantia: </a:t>
            </a:r>
            <a:r>
              <a:rPr sz="1400" b="0">
                <a:solidFill>
                  <a:srgbClr val="141414"/>
                </a:solidFill>
                <a:latin typeface="Arial"/>
              </a:rPr>
              <a:t>Atributos dependem da chave primária completa.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3 - Eliminação de DFs Parciais</a:t>
            </a:r>
          </a:p>
        </p:txBody>
      </p:sp>
      <p:pic>
        <p:nvPicPr>
          <p:cNvPr id="15" name="Picture 14" descr="figura3_decomposicao_1fn_2f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3ª 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Terceira Forma Normal (3FN) --- Sem DFs Transitivas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7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Regra da 3FN: </a:t>
            </a:r>
            <a:r>
              <a:rPr sz="1400" b="0">
                <a:solidFill>
                  <a:srgbClr val="141414"/>
                </a:solidFill>
                <a:latin typeface="Arial"/>
              </a:rPr>
              <a:t>Estar na 2FN e sem dependências transitivas.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Problema: </a:t>
            </a:r>
            <a:r>
              <a:rPr sz="1400" b="0">
                <a:solidFill>
                  <a:srgbClr val="141414"/>
                </a:solidFill>
                <a:latin typeface="Arial"/>
              </a:rPr>
              <a:t>cod_tombo → cod_doacao → dados_doador.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Decomposição 3FN: 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Doacao(cod_doacao, data, termo, id_doador)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823C"/>
                </a:solidFill>
                <a:latin typeface="Arial"/>
              </a:rPr>
              <a:t>     ↳  </a:t>
            </a:r>
            <a:r>
              <a:rPr sz="1200" b="0">
                <a:solidFill>
                  <a:srgbClr val="141414"/>
                </a:solidFill>
                <a:latin typeface="Arial"/>
              </a:rPr>
              <a:t>Pessoa(id_pessoa, nome, cpf, email, ...)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Vínculo: </a:t>
            </a:r>
            <a:r>
              <a:rPr sz="1400" b="0">
                <a:solidFill>
                  <a:srgbClr val="141414"/>
                </a:solidFill>
                <a:latin typeface="Arial"/>
              </a:rPr>
              <a:t>Item_Acervo mantém apenas FK cod_doacao.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4 - Esquema Final em 3FN</a:t>
            </a:r>
          </a:p>
        </p:txBody>
      </p:sp>
      <p:pic>
        <p:nvPicPr>
          <p:cNvPr id="15" name="Picture 14" descr="figura4_esquema_3fn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Esquema Normalizado e Garantias Formais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8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Lossless Join: </a:t>
            </a:r>
            <a:r>
              <a:rPr sz="1400" b="0">
                <a:solidFill>
                  <a:srgbClr val="141414"/>
                </a:solidFill>
                <a:latin typeface="Arial"/>
              </a:rPr>
              <a:t>Junção natural recompõe dados sem perdas.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Preservação de DFs: </a:t>
            </a:r>
            <a:r>
              <a:rPr sz="1400" b="0">
                <a:solidFill>
                  <a:srgbClr val="141414"/>
                </a:solidFill>
                <a:latin typeface="Arial"/>
              </a:rPr>
              <a:t>Regras garantidas localmente por constraints.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Redundância Nula: </a:t>
            </a:r>
            <a:r>
              <a:rPr sz="1400" b="0">
                <a:solidFill>
                  <a:srgbClr val="141414"/>
                </a:solidFill>
                <a:latin typeface="Arial"/>
              </a:rPr>
              <a:t>Cada fato registrado em uma única tabela.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Integridade: </a:t>
            </a:r>
            <a:r>
              <a:rPr sz="1400" b="0">
                <a:solidFill>
                  <a:srgbClr val="141414"/>
                </a:solidFill>
                <a:latin typeface="Arial"/>
              </a:rPr>
              <a:t>Consistência assegurada por PKs e FKs.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4 - Relações Especializadas 3FN</a:t>
            </a:r>
          </a:p>
        </p:txBody>
      </p:sp>
      <p:pic>
        <p:nvPicPr>
          <p:cNvPr id="15" name="Picture 14" descr="figura4_esquema_3fn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97280"/>
            <a:ext cx="5623560" cy="4754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Banco de Dados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Normalização &amp;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Luiz, B.; Salles, 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Normalização &amp; Dependências Funcionais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9 /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7259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[1]  </a:t>
            </a:r>
            <a:r>
              <a:rPr sz="1350">
                <a:solidFill>
                  <a:srgbClr val="141414"/>
                </a:solidFill>
                <a:latin typeface="Arial"/>
              </a:rPr>
              <a:t>ELMASRI, R.; NAVATHE, S. B. Sistemas de Banco de Dados. 7. ed. São Paulo: Pearson, 2018.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[2]  </a:t>
            </a:r>
            <a:r>
              <a:rPr sz="1350">
                <a:solidFill>
                  <a:srgbClr val="141414"/>
                </a:solidFill>
                <a:latin typeface="Arial"/>
              </a:rPr>
              <a:t>SILBERSCHATZ, A.; KORTH, H. F.; SUDARSHAN, S. Sistema de Banco de Dados. 6. ed. Elsevier, 2012.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[3]  </a:t>
            </a:r>
            <a:r>
              <a:rPr sz="1350">
                <a:solidFill>
                  <a:srgbClr val="141414"/>
                </a:solidFill>
                <a:latin typeface="Arial"/>
              </a:rPr>
              <a:t>CODD, Edgar F. A Relational Model of Data for Large Shared Data Banks. ACM, 1970.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[4]  </a:t>
            </a:r>
            <a:r>
              <a:rPr sz="1350">
                <a:solidFill>
                  <a:srgbClr val="141414"/>
                </a:solidFill>
                <a:latin typeface="Arial"/>
              </a:rPr>
              <a:t>DATE, C. J. Introdução a Sistemas de Bancos de Dados. 8. ed. Elsevier, 2004.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[5]  </a:t>
            </a:r>
            <a:r>
              <a:rPr sz="1350">
                <a:solidFill>
                  <a:srgbClr val="141414"/>
                </a:solidFill>
                <a:latin typeface="Arial"/>
              </a:rPr>
              <a:t>IBM. Database Normalization: Guia Prático. IBM Think Topics, 2024.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</a:rPr>
              <a:t>Obrigado!</a:t>
            </a:r>
            <a:r>
              <a:rPr sz="1800" b="1">
                <a:solidFill>
                  <a:srgbClr val="1E823C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823C"/>
                </a:solidFill>
                <a:latin typeface="Arial"/>
              </a:rPr>
              <a:t>Contatos: pedroiff0@gmail.com  |  brenooh7@gmail.com  |  isaacsalles2005@gmail.com</a:t>
            </a:r>
          </a:p>
        </p:txBody>
      </p:sp>
      <p:pic>
        <p:nvPicPr>
          <p:cNvPr id="4" name="Picture 3" descr="qrcode_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E823C"/>
                </a:solidFill>
                <a:latin typeface="Arial"/>
                <a:hlinkClick r:id="rId3"/>
              </a:rPr>
              <a:t>https://www.phrandrade.com/pt-br/resource/engenharia-de-computação/6-periodo/banco-de-dados/anotações/atividades/trabalho---normalização-e-dependências-funcionais/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45A28"/>
      </a:dk2>
      <a:lt2>
        <a:srgbClr val="EEECE1"/>
      </a:lt2>
      <a:accent1>
        <a:srgbClr val="1E823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823C"/>
      </a:hlink>
      <a:folHlink>
        <a:srgbClr val="1E823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