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6-periodo/analise-de-software-orientada-a-objetos/" TargetMode="External"/><Relationship Id="rId4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www.phrandrade.com/pt-br/resource/engenharia-de-computacao/6-periodo/analise-de-software-orientada-a-objetos/anotacoes/atividades/trabalho---coesao-e-acoplamento-asoo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E823C"/>
                </a:solidFill>
                <a:latin typeface="Arial"/>
                <a:hlinkClick r:id="rId3"/>
              </a:rPr>
              <a:t>ANÁLISE DE SOFTWARE ORIENTADA A OBJETOS — 6º PERÍODO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  <a:p>
            <a:pPr algn="ctr">
              <a:spcBef>
                <a:spcPts val="400"/>
              </a:spcBef>
            </a:pPr>
            <a:r>
              <a:rPr sz="1500">
                <a:solidFill>
                  <a:srgbClr val="141414"/>
                </a:solidFill>
                <a:latin typeface="Arial"/>
              </a:rPr>
              <a:t>Fundamentos de Design, Paradigmas e Métricas Práticas de Qualidade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728959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41414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00" b="1">
                <a:solidFill>
                  <a:srgbClr val="141414"/>
                </a:solidFill>
                <a:latin typeface="Arial"/>
              </a:rPr>
              <a:t>Amanda Moraes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141414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1E823C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Sumário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2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1.  Coesão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2.  Acoplamento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3.  Trade-off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4.  Paradigmas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5.  Métricas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6.  Boas Práticas</a:t>
            </a:r>
          </a:p>
          <a:p>
            <a:pPr>
              <a:spcAft>
                <a:spcPts val="1800"/>
              </a:spcAft>
              <a:defRPr sz="1800" b="1">
                <a:solidFill>
                  <a:srgbClr val="1E823C"/>
                </a:solidFill>
                <a:latin typeface="Arial"/>
              </a:defRPr>
            </a:pPr>
            <a:r>
              <a:t>7.  Conclusões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Coesão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que é Coesão? (Foco Interno)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3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Definição Simples: </a:t>
            </a:r>
            <a:r>
              <a:rPr sz="1400" b="0">
                <a:solidFill>
                  <a:srgbClr val="141414"/>
                </a:solidFill>
                <a:latin typeface="Arial"/>
              </a:rPr>
              <a:t>Mede o foco e a afinidade interna de uma classe.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Regra de Ouro: </a:t>
            </a:r>
            <a:r>
              <a:rPr sz="1400" b="0">
                <a:solidFill>
                  <a:srgbClr val="141414"/>
                </a:solidFill>
                <a:latin typeface="Arial"/>
              </a:rPr>
              <a:t>Cada classe deve fazer apenas uma coisa e fazê-la bem feita.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Sinal de Alta Coesão: </a:t>
            </a:r>
            <a:r>
              <a:rPr sz="1400" b="0">
                <a:solidFill>
                  <a:srgbClr val="141414"/>
                </a:solidFill>
                <a:latin typeface="Arial"/>
              </a:rPr>
              <a:t>Todos os métodos usam e colaboram com os mesmos atributos.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Benefício: </a:t>
            </a:r>
            <a:r>
              <a:rPr sz="1400" b="0">
                <a:solidFill>
                  <a:srgbClr val="141414"/>
                </a:solidFill>
                <a:latin typeface="Arial"/>
              </a:rPr>
              <a:t>Código fácil de ler, depurar, testar e reutilizar.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1 - Foco Interno e Responsabilidade</a:t>
            </a:r>
          </a:p>
        </p:txBody>
      </p:sp>
      <p:pic>
        <p:nvPicPr>
          <p:cNvPr id="15" name="Picture 14" descr="figura1_o_que_e_coes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363208"/>
            <a:ext cx="5532120" cy="41315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que é Acoplamento? (Dependência Externa)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4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Definição Simples: </a:t>
            </a:r>
            <a:r>
              <a:rPr sz="1400" b="0">
                <a:solidFill>
                  <a:srgbClr val="141414"/>
                </a:solidFill>
                <a:latin typeface="Arial"/>
              </a:rPr>
              <a:t>Mede o quanto uma classe depende de outras para funcionar.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Alto Acoplamento: </a:t>
            </a:r>
            <a:r>
              <a:rPr sz="1400" b="0">
                <a:solidFill>
                  <a:srgbClr val="141414"/>
                </a:solidFill>
                <a:latin typeface="Arial"/>
              </a:rPr>
              <a:t>Mudanças em uma classe quebram várias outras em cascata.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Baixo Acoplamento: </a:t>
            </a:r>
            <a:r>
              <a:rPr sz="1400" b="0">
                <a:solidFill>
                  <a:srgbClr val="141414"/>
                </a:solidFill>
                <a:latin typeface="Arial"/>
              </a:rPr>
              <a:t>Módulos independentes comunicando-se por interfaces estáveis.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Benefício: </a:t>
            </a:r>
            <a:r>
              <a:rPr sz="1400" b="0">
                <a:solidFill>
                  <a:srgbClr val="141414"/>
                </a:solidFill>
                <a:latin typeface="Arial"/>
              </a:rPr>
              <a:t>Facilidade para trocar componentes sem efeitos colaterais.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2 - Alto vs Baixo Acoplamento</a:t>
            </a:r>
          </a:p>
        </p:txBody>
      </p:sp>
      <p:pic>
        <p:nvPicPr>
          <p:cNvPr id="15" name="Picture 14" descr="figura2_o_que_e_acoplament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087"/>
            <a:ext cx="5532120" cy="33578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O Trade-off: God Class vs Nanoclasses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5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Extremo 1 (God Class): </a:t>
            </a:r>
            <a:r>
              <a:rPr sz="1400" b="0">
                <a:solidFill>
                  <a:srgbClr val="141414"/>
                </a:solidFill>
                <a:latin typeface="Arial"/>
              </a:rPr>
              <a:t>Uma superclasse que faz tudo; acoplamento zero, mas coesão nula.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Extremo 2 (Nanoclasses): </a:t>
            </a:r>
            <a:r>
              <a:rPr sz="1400" b="0">
                <a:solidFill>
                  <a:srgbClr val="141414"/>
                </a:solidFill>
                <a:latin typeface="Arial"/>
              </a:rPr>
              <a:t>1 método por classe; coesão máxima, mas o acoplamento explode.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 Ponto de Equilíbrio: </a:t>
            </a:r>
            <a:r>
              <a:rPr sz="1400" b="0">
                <a:solidFill>
                  <a:srgbClr val="141414"/>
                </a:solidFill>
                <a:latin typeface="Arial"/>
              </a:rPr>
              <a:t>Responsabilidade clara e classes enxutas.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Meta: </a:t>
            </a:r>
            <a:r>
              <a:rPr sz="1400" b="0">
                <a:solidFill>
                  <a:srgbClr val="141414"/>
                </a:solidFill>
                <a:latin typeface="Arial"/>
              </a:rPr>
              <a:t>Alta Coesão (interna) e Baixo Acoplamento (externo).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3 - Espectro de Complexidade do Design</a:t>
            </a:r>
          </a:p>
        </p:txBody>
      </p:sp>
      <p:pic>
        <p:nvPicPr>
          <p:cNvPr id="15" name="Picture 14" descr="figura3_tradeoff_desig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Paradigmas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Coesão e Acoplamento nos Paradigmas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6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Estruturado: </a:t>
            </a:r>
            <a:r>
              <a:rPr sz="1400" b="0">
                <a:solidFill>
                  <a:srgbClr val="141414"/>
                </a:solidFill>
                <a:latin typeface="Arial"/>
              </a:rPr>
              <a:t>Funções dedicadas; controle via parâmetros (evitar variáveis globais).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Orientado a Objetos: </a:t>
            </a:r>
            <a:r>
              <a:rPr sz="1400" b="0">
                <a:solidFill>
                  <a:srgbClr val="141414"/>
                </a:solidFill>
                <a:latin typeface="Arial"/>
              </a:rPr>
              <a:t>Encapsulamento de estado e métodos; isolamento por interfaces.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Funcional: </a:t>
            </a:r>
            <a:r>
              <a:rPr sz="1400" b="0">
                <a:solidFill>
                  <a:srgbClr val="141414"/>
                </a:solidFill>
                <a:latin typeface="Arial"/>
              </a:rPr>
              <a:t>Funções puras (f: Entrada → Saída) e dados imutáveis (acoplamento nulo de estado).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Conclusão: </a:t>
            </a:r>
            <a:r>
              <a:rPr sz="1400" b="0">
                <a:solidFill>
                  <a:srgbClr val="141414"/>
                </a:solidFill>
                <a:latin typeface="Arial"/>
              </a:rPr>
              <a:t>Princípios universais que mudam apenas de ferramenta.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4 - Análise nos 3 Paradigmas</a:t>
            </a:r>
          </a:p>
        </p:txBody>
      </p:sp>
      <p:pic>
        <p:nvPicPr>
          <p:cNvPr id="15" name="Picture 14" descr="figura4_paradigm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920240"/>
            <a:ext cx="5532120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Métricas Práticas de Qualidade (LCOM &amp; CBO)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7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LCOM (Falta de Coesão): </a:t>
            </a:r>
            <a:r>
              <a:rPr sz="1400" b="0">
                <a:solidFill>
                  <a:srgbClr val="141414"/>
                </a:solidFill>
                <a:latin typeface="Arial"/>
              </a:rPr>
              <a:t>Avalia se os métodos usam os mesmos atributos.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LCOM Alto: </a:t>
            </a:r>
            <a:r>
              <a:rPr sz="1400" b="0">
                <a:solidFill>
                  <a:srgbClr val="141414"/>
                </a:solidFill>
                <a:latin typeface="Arial"/>
              </a:rPr>
              <a:t>Métodos isolados que não conversam → Dividir a classe!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CBO (Acoplamento): </a:t>
            </a:r>
            <a:r>
              <a:rPr sz="1400" b="0">
                <a:solidFill>
                  <a:srgbClr val="141414"/>
                </a:solidFill>
                <a:latin typeface="Arial"/>
              </a:rPr>
              <a:t>Conta com quantas classes externas há dependência direta.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B41E1E"/>
                </a:solidFill>
                <a:latin typeface="Arial"/>
              </a:rPr>
              <a:t>•  </a:t>
            </a:r>
            <a:r>
              <a:rPr sz="1400" b="1">
                <a:solidFill>
                  <a:srgbClr val="B41E1E"/>
                </a:solidFill>
                <a:latin typeface="Arial"/>
              </a:rPr>
              <a:t>CBO Alto: </a:t>
            </a:r>
            <a:r>
              <a:rPr sz="1400" b="0">
                <a:solidFill>
                  <a:srgbClr val="141414"/>
                </a:solidFill>
                <a:latin typeface="Arial"/>
              </a:rPr>
              <a:t>Classe sobrecarregada e rígida → Criar interfaces!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5 - Leitura Prática de LCOM e CBO</a:t>
            </a:r>
          </a:p>
        </p:txBody>
      </p:sp>
      <p:pic>
        <p:nvPicPr>
          <p:cNvPr id="15" name="Picture 14" descr="figura5_metricas_qualida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35493"/>
            <a:ext cx="5532120" cy="338701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Boas Práticas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Boas Práticas de Desacoplamento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8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Programar para Interfaces: </a:t>
            </a:r>
            <a:r>
              <a:rPr sz="1400" b="0">
                <a:solidFill>
                  <a:srgbClr val="141414"/>
                </a:solidFill>
                <a:latin typeface="Arial"/>
              </a:rPr>
              <a:t>Módulos dependem de contratos, não de implementações.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Injeção de Dependência: </a:t>
            </a:r>
            <a:r>
              <a:rPr sz="1400" b="0">
                <a:solidFill>
                  <a:srgbClr val="141414"/>
                </a:solidFill>
                <a:latin typeface="Arial"/>
              </a:rPr>
              <a:t>Receber conexões de fora em vez de instanciá-las internamente.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Princípio de Responsabilidade Única (SRP): </a:t>
            </a:r>
            <a:r>
              <a:rPr sz="1400" b="0">
                <a:solidFill>
                  <a:srgbClr val="141414"/>
                </a:solidFill>
                <a:latin typeface="Arial"/>
              </a:rPr>
              <a:t>Uma única razão para mudar.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41414"/>
                </a:solidFill>
                <a:latin typeface="Arial"/>
              </a:rPr>
              <a:t>•  </a:t>
            </a:r>
            <a:r>
              <a:rPr sz="1400" b="1">
                <a:solidFill>
                  <a:srgbClr val="141414"/>
                </a:solidFill>
                <a:latin typeface="Arial"/>
              </a:rPr>
              <a:t>Resultado: </a:t>
            </a:r>
            <a:r>
              <a:rPr sz="1400" b="0">
                <a:solidFill>
                  <a:srgbClr val="141414"/>
                </a:solidFill>
                <a:latin typeface="Arial"/>
              </a:rPr>
              <a:t>Facilidade total de testes unitários com *mocks*.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6 - Inversão de Dependência e Contratos</a:t>
            </a:r>
          </a:p>
        </p:txBody>
      </p:sp>
      <p:pic>
        <p:nvPicPr>
          <p:cNvPr id="15" name="Picture 14" descr="figura6_boas_pratic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Conclusões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Síntese e Diretrizes Arquiteturais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9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188720"/>
            <a:ext cx="512064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Métricas como Guia: </a:t>
            </a:r>
            <a:r>
              <a:rPr sz="1400" b="0">
                <a:solidFill>
                  <a:srgbClr val="141414"/>
                </a:solidFill>
                <a:latin typeface="Arial"/>
              </a:rPr>
              <a:t>LCOM e CBO servem de termômetro para refatoração preventiva.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Equilíbrio Constante: </a:t>
            </a:r>
            <a:r>
              <a:rPr sz="1400" b="0">
                <a:solidFill>
                  <a:srgbClr val="141414"/>
                </a:solidFill>
                <a:latin typeface="Arial"/>
              </a:rPr>
              <a:t>Nem classes gigantes, nem classes com 1 linha só.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Sustentabilidade: </a:t>
            </a:r>
            <a:r>
              <a:rPr sz="1400" b="0">
                <a:solidFill>
                  <a:srgbClr val="141414"/>
                </a:solidFill>
                <a:latin typeface="Arial"/>
              </a:rPr>
              <a:t>Código limpo evolui rápido sem quebrar o sistema.</a:t>
            </a:r>
          </a:p>
          <a:p>
            <a:pPr>
              <a:spcAft>
                <a:spcPts val="1600"/>
              </a:spcAft>
            </a:pPr>
            <a:r>
              <a:rPr sz="1400" b="1">
                <a:solidFill>
                  <a:srgbClr val="1E823C"/>
                </a:solidFill>
                <a:latin typeface="Arial"/>
              </a:rPr>
              <a:t>•  </a:t>
            </a:r>
            <a:r>
              <a:rPr sz="1400" b="1">
                <a:solidFill>
                  <a:srgbClr val="1E823C"/>
                </a:solidFill>
                <a:latin typeface="Arial"/>
              </a:rPr>
              <a:t>Objetivo Final: </a:t>
            </a:r>
            <a:r>
              <a:rPr sz="1400" b="0">
                <a:solidFill>
                  <a:srgbClr val="141414"/>
                </a:solidFill>
                <a:latin typeface="Arial"/>
              </a:rPr>
              <a:t>Software sustentável, testável e desacoplado.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722376"/>
            <a:ext cx="5806440" cy="553212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12700">
            <a:solidFill>
              <a:srgbClr val="1E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89320" y="77724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E823C"/>
                </a:solidFill>
                <a:latin typeface="Arial"/>
              </a:rPr>
              <a:t>Figura 7 - Síntese da Arquitetura Limpa</a:t>
            </a:r>
          </a:p>
        </p:txBody>
      </p:sp>
      <p:pic>
        <p:nvPicPr>
          <p:cNvPr id="15" name="Picture 14" descr="figura6_boas_pratic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1750716"/>
            <a:ext cx="5532120" cy="335656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89320" y="5897880"/>
            <a:ext cx="5715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5A5A5A"/>
                </a:solidFill>
                <a:latin typeface="Arial"/>
              </a:rPr>
              <a:t>Fonte: Elaboração dos Autores (2026)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3152"/>
            <a:ext cx="1395412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5A5A5A"/>
                </a:solidFill>
                <a:latin typeface="Arial"/>
              </a:rPr>
              <a:t> |   </a:t>
            </a:r>
            <a:r>
              <a:rPr sz="2000" b="1">
                <a:solidFill>
                  <a:srgbClr val="141414"/>
                </a:solidFill>
                <a:latin typeface="Arial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73152"/>
            <a:ext cx="5943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b="1">
                <a:solidFill>
                  <a:srgbClr val="141414"/>
                </a:solidFill>
                <a:latin typeface="Arial"/>
                <a:hlinkClick r:id="rId3"/>
              </a:rPr>
              <a:t>Análise de Software Orientada a Objetos</a:t>
            </a:r>
            <a:r>
              <a:rPr sz="1300">
                <a:solidFill>
                  <a:srgbClr val="5A5A5A"/>
                </a:solidFill>
                <a:latin typeface="Arial"/>
              </a:rPr>
              <a:t>   |   </a:t>
            </a:r>
            <a:r>
              <a:rPr sz="1300" b="1">
                <a:solidFill>
                  <a:srgbClr val="1E823C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66928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8368"/>
            <a:ext cx="5303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E823C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00800"/>
            <a:ext cx="12191999" cy="13716"/>
          </a:xfrm>
          <a:prstGeom prst="rect">
            <a:avLst/>
          </a:prstGeom>
          <a:solidFill>
            <a:srgbClr val="1E8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Arial"/>
              </a:rPr>
              <a:t>de Andrade, P. H. R.; Moraes, 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64465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41414"/>
                </a:solidFill>
                <a:latin typeface="Arial"/>
                <a:hlinkClick r:id="rId4"/>
              </a:rPr>
              <a:t>Coesão &amp; Acoplamento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465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141414"/>
                </a:solidFill>
                <a:latin typeface="Arial"/>
              </a:rPr>
              <a:t>10 /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188720"/>
            <a:ext cx="10725912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[1]  </a:t>
            </a:r>
            <a:r>
              <a:rPr sz="1350">
                <a:solidFill>
                  <a:srgbClr val="141414"/>
                </a:solidFill>
                <a:latin typeface="Arial"/>
              </a:rPr>
              <a:t>LARMAN, Craig. Utilizando UML e Padrões: Uma Introdução à Análise e ao Projeto Orientados a Objetos. 3. ed. Porto Alegre: Bookman, 2007.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[2]  </a:t>
            </a:r>
            <a:r>
              <a:rPr sz="1350">
                <a:solidFill>
                  <a:srgbClr val="141414"/>
                </a:solidFill>
                <a:latin typeface="Arial"/>
              </a:rPr>
              <a:t>VALENTE, Marco Tulio. Engenharia de Software Moderna: Princípios e Práticas para Desenvolvimento de Software com Produtividade. Editora UFMG, 2020.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[3]  </a:t>
            </a:r>
            <a:r>
              <a:rPr sz="1350">
                <a:solidFill>
                  <a:srgbClr val="141414"/>
                </a:solidFill>
                <a:latin typeface="Arial"/>
              </a:rPr>
              <a:t>MARTIN, Robert C. Clean Architecture: A Craftsman's Guide to Software Structure and Design. Prentice Hall, 2017.</a:t>
            </a:r>
          </a:p>
          <a:p>
            <a:pPr>
              <a:spcAft>
                <a:spcPts val="1400"/>
              </a:spcAft>
            </a:pPr>
            <a:r>
              <a:rPr sz="1350" b="1">
                <a:solidFill>
                  <a:srgbClr val="1E823C"/>
                </a:solidFill>
                <a:latin typeface="Arial"/>
              </a:rPr>
              <a:t>[4]  </a:t>
            </a:r>
            <a:r>
              <a:rPr sz="1350">
                <a:solidFill>
                  <a:srgbClr val="141414"/>
                </a:solidFill>
                <a:latin typeface="Arial"/>
              </a:rPr>
              <a:t>CHIDAMBER, S. R.; KEMERER, C. F. A Metrics Suite for Object Oriented Design. IEEE Transactions on Software Engineering, 1994.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E823C"/>
                </a:solidFill>
                <a:latin typeface="Arial"/>
              </a:rPr>
              <a:t>Obrigado!</a:t>
            </a:r>
            <a:r>
              <a:rPr sz="1800" b="1">
                <a:solidFill>
                  <a:srgbClr val="1E823C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200"/>
              </a:spcBef>
            </a:pPr>
            <a:r>
              <a:rPr sz="1300" b="1">
                <a:solidFill>
                  <a:srgbClr val="1E823C"/>
                </a:solidFill>
                <a:latin typeface="Arial"/>
              </a:rPr>
              <a:t>Contatos: pedroiff0@gmail.com  |  amanda.moraes@iff.edu.br</a:t>
            </a:r>
          </a:p>
        </p:txBody>
      </p:sp>
      <p:pic>
        <p:nvPicPr>
          <p:cNvPr id="4" name="Picture 3" descr="qrcode_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18872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1E823C"/>
                </a:solidFill>
                <a:latin typeface="Arial"/>
                <a:hlinkClick r:id="rId3"/>
              </a:rPr>
              <a:t>https://www.phrandrade.com/pt-br/resource/engenharia-de-computacao/6-periodo/analise-de-software-orientada-a-objetos/anotacoes/atividades/trabalho---coesao-e-acoplamento-asoo/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45A28"/>
      </a:dk2>
      <a:lt2>
        <a:srgbClr val="EEECE1"/>
      </a:lt2>
      <a:accent1>
        <a:srgbClr val="1E823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E823C"/>
      </a:hlink>
      <a:folHlink>
        <a:srgbClr val="1E823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