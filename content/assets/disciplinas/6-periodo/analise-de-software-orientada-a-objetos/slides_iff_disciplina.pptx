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&#231;&#227;o/6-periodo/analise-de-software-orientada-a-objetos/" TargetMode="External"/><Relationship Id="rId4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phrandrade.com/pt-br/resource/engenharia-de-computa&#231;&#227;o/6-periodo/analise-de-software-orientada-a-objetos/anota&#231;&#245;es/atividades/trabalho---coes&#227;o-e-acoplamento---asoo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E823C"/>
                </a:solidFill>
                <a:latin typeface="Arial"/>
                <a:hlinkClick r:id="rId3"/>
              </a:rPr>
              <a:t>ANÁLISE DE SOFTWARE ORIENTADA A OBJETOS — 6º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  <a:p>
            <a:pPr algn="ctr">
              <a:spcBef>
                <a:spcPts val="400"/>
              </a:spcBef>
            </a:pPr>
            <a:r>
              <a:rPr sz="1500">
                <a:solidFill>
                  <a:srgbClr val="141414"/>
                </a:solidFill>
                <a:latin typeface="Arial"/>
              </a:rPr>
              <a:t>Fundamentos de Design, Paradigmas e Métricas Práticas de Qualidade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728959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Pedro Henrique Rocha de Andrade</a:t>
            </a:r>
          </a:p>
          <a:p>
            <a:pPr algn="ctr">
              <a:spcBef>
                <a:spcPts val="300"/>
              </a:spcBef>
            </a:pPr>
            <a:r>
              <a:rPr sz="1400" b="1">
                <a:solidFill>
                  <a:srgbClr val="141414"/>
                </a:solidFill>
                <a:latin typeface="Arial"/>
              </a:rPr>
              <a:t>Amanda Moraes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141414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1E823C"/>
                </a:solidFill>
                <a:latin typeface="Arial"/>
              </a:rPr>
              <a:t>02 de Setembro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2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1.  Coesão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2.  Acoplamento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3.  Trade-off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4.  Paradigmas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5.  Métricas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6.  Boas Práticas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7.  Conclusões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Coesão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O que é Coesão? (Foco Interno)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3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Definição Simples: </a:t>
            </a:r>
            <a:r>
              <a:rPr sz="1400" b="0">
                <a:solidFill>
                  <a:srgbClr val="141414"/>
                </a:solidFill>
                <a:latin typeface="Arial"/>
              </a:rPr>
              <a:t>Mede o foco e a afinidade interna de uma classe.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Regra de Ouro: </a:t>
            </a:r>
            <a:r>
              <a:rPr sz="1400" b="0">
                <a:solidFill>
                  <a:srgbClr val="141414"/>
                </a:solidFill>
                <a:latin typeface="Arial"/>
              </a:rPr>
              <a:t>Cada classe deve fazer apenas uma coisa e fazê-la bem feita.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Sinal de Alta Coesão: </a:t>
            </a:r>
            <a:r>
              <a:rPr sz="1400" b="0">
                <a:solidFill>
                  <a:srgbClr val="141414"/>
                </a:solidFill>
                <a:latin typeface="Arial"/>
              </a:rPr>
              <a:t>Todos os métodos usam e colaboram com os mesmos atributos.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Benefício: </a:t>
            </a:r>
            <a:r>
              <a:rPr sz="1400" b="0">
                <a:solidFill>
                  <a:srgbClr val="141414"/>
                </a:solidFill>
                <a:latin typeface="Arial"/>
              </a:rPr>
              <a:t>Código fácil de ler, depurar, testar e reutilizar.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1 - Foco Interno e Responsabilidade</a:t>
            </a:r>
          </a:p>
        </p:txBody>
      </p:sp>
      <p:pic>
        <p:nvPicPr>
          <p:cNvPr id="15" name="Picture 14" descr="figura1_o_que_e_coes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363208"/>
            <a:ext cx="5532120" cy="413158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O que é Acoplamento? (Dependência Externa)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4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Definição Simples: </a:t>
            </a:r>
            <a:r>
              <a:rPr sz="1400" b="0">
                <a:solidFill>
                  <a:srgbClr val="141414"/>
                </a:solidFill>
                <a:latin typeface="Arial"/>
              </a:rPr>
              <a:t>Mede o quanto uma classe depende de outras para funcionar.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Alto Acoplamento: </a:t>
            </a:r>
            <a:r>
              <a:rPr sz="1400" b="0">
                <a:solidFill>
                  <a:srgbClr val="141414"/>
                </a:solidFill>
                <a:latin typeface="Arial"/>
              </a:rPr>
              <a:t>Mudanças em uma classe quebram várias outras em cascata.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Baixo Acoplamento: </a:t>
            </a:r>
            <a:r>
              <a:rPr sz="1400" b="0">
                <a:solidFill>
                  <a:srgbClr val="141414"/>
                </a:solidFill>
                <a:latin typeface="Arial"/>
              </a:rPr>
              <a:t>Módulos independentes comunicando-se por interfaces estáveis.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Benefício: </a:t>
            </a:r>
            <a:r>
              <a:rPr sz="1400" b="0">
                <a:solidFill>
                  <a:srgbClr val="141414"/>
                </a:solidFill>
                <a:latin typeface="Arial"/>
              </a:rPr>
              <a:t>Facilidade para trocar componentes sem efeitos colaterais.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2 - Alto vs Baixo Acoplamento</a:t>
            </a:r>
          </a:p>
        </p:txBody>
      </p:sp>
      <p:pic>
        <p:nvPicPr>
          <p:cNvPr id="15" name="Picture 14" descr="figura2_o_que_e_acoplamen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087"/>
            <a:ext cx="5532120" cy="3357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O Trade-off: God Class vs Nanoclasses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5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Extremo 1 (God Class): </a:t>
            </a:r>
            <a:r>
              <a:rPr sz="1400" b="0">
                <a:solidFill>
                  <a:srgbClr val="141414"/>
                </a:solidFill>
                <a:latin typeface="Arial"/>
              </a:rPr>
              <a:t>Uma superclasse que faz tudo; acoplamento zero, mas coesão nula.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Extremo 2 (Nanoclasses): </a:t>
            </a:r>
            <a:r>
              <a:rPr sz="1400" b="0">
                <a:solidFill>
                  <a:srgbClr val="141414"/>
                </a:solidFill>
                <a:latin typeface="Arial"/>
              </a:rPr>
              <a:t>1 método por classe; coesão máxima, mas o acoplamento explode.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O Ponto de Equilíbrio: </a:t>
            </a:r>
            <a:r>
              <a:rPr sz="1400" b="0">
                <a:solidFill>
                  <a:srgbClr val="141414"/>
                </a:solidFill>
                <a:latin typeface="Arial"/>
              </a:rPr>
              <a:t>Responsabilidade clara e classes enxutas.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Meta: </a:t>
            </a:r>
            <a:r>
              <a:rPr sz="1400" b="0">
                <a:solidFill>
                  <a:srgbClr val="141414"/>
                </a:solidFill>
                <a:latin typeface="Arial"/>
              </a:rPr>
              <a:t>Alta Coesão (interna) e Baixo Acoplamento (externo).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3 - Espectro de Complexidade do Design</a:t>
            </a:r>
          </a:p>
        </p:txBody>
      </p:sp>
      <p:pic>
        <p:nvPicPr>
          <p:cNvPr id="15" name="Picture 14" descr="figura3_tradeoff_desig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Paradigmas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Coesão e Acoplamento nos Paradigmas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6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Estruturado: </a:t>
            </a:r>
            <a:r>
              <a:rPr sz="1400" b="0">
                <a:solidFill>
                  <a:srgbClr val="141414"/>
                </a:solidFill>
                <a:latin typeface="Arial"/>
              </a:rPr>
              <a:t>Funções dedicadas; controle via parâmetros (evitar variáveis globais).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Orientado a Objetos: </a:t>
            </a:r>
            <a:r>
              <a:rPr sz="1400" b="0">
                <a:solidFill>
                  <a:srgbClr val="141414"/>
                </a:solidFill>
                <a:latin typeface="Arial"/>
              </a:rPr>
              <a:t>Encapsulamento de estado e métodos; isolamento por interfaces.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Funcional: </a:t>
            </a:r>
            <a:r>
              <a:rPr sz="1400" b="0">
                <a:solidFill>
                  <a:srgbClr val="141414"/>
                </a:solidFill>
                <a:latin typeface="Arial"/>
              </a:rPr>
              <a:t>Funções puras (f: Entrada → Saída) e dados imutáveis (acoplamento nulo de estado).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Conclusão: </a:t>
            </a:r>
            <a:r>
              <a:rPr sz="1400" b="0">
                <a:solidFill>
                  <a:srgbClr val="141414"/>
                </a:solidFill>
                <a:latin typeface="Arial"/>
              </a:rPr>
              <a:t>Princípios universais que mudam apenas de ferramenta.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4 - Análise nos 3 Paradigmas</a:t>
            </a:r>
          </a:p>
        </p:txBody>
      </p:sp>
      <p:pic>
        <p:nvPicPr>
          <p:cNvPr id="15" name="Picture 14" descr="figura4_paradigm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920240"/>
            <a:ext cx="5532120" cy="3017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Métricas Práticas de Qualidade (LCOM &amp; CBO)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7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LCOM (Falta de Coesão): </a:t>
            </a:r>
            <a:r>
              <a:rPr sz="1400" b="0">
                <a:solidFill>
                  <a:srgbClr val="141414"/>
                </a:solidFill>
                <a:latin typeface="Arial"/>
              </a:rPr>
              <a:t>Avalia se os métodos usam os mesmos atributos.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LCOM Alto: </a:t>
            </a:r>
            <a:r>
              <a:rPr sz="1400" b="0">
                <a:solidFill>
                  <a:srgbClr val="141414"/>
                </a:solidFill>
                <a:latin typeface="Arial"/>
              </a:rPr>
              <a:t>Métodos isolados que não conversam → Dividir a classe!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CBO (Acoplamento): </a:t>
            </a:r>
            <a:r>
              <a:rPr sz="1400" b="0">
                <a:solidFill>
                  <a:srgbClr val="141414"/>
                </a:solidFill>
                <a:latin typeface="Arial"/>
              </a:rPr>
              <a:t>Conta com quantas classes externas há dependência direta.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CBO Alto: </a:t>
            </a:r>
            <a:r>
              <a:rPr sz="1400" b="0">
                <a:solidFill>
                  <a:srgbClr val="141414"/>
                </a:solidFill>
                <a:latin typeface="Arial"/>
              </a:rPr>
              <a:t>Classe sobrecarregada e rígida → Criar interfaces!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5 - Leitura Prática de LCOM e CBO</a:t>
            </a:r>
          </a:p>
        </p:txBody>
      </p:sp>
      <p:pic>
        <p:nvPicPr>
          <p:cNvPr id="15" name="Picture 14" descr="figura5_metricas_qu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35493"/>
            <a:ext cx="5532120" cy="33870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Boas Práticas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Boas Práticas de Desacoplamento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8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Programar para Interfaces: </a:t>
            </a:r>
            <a:r>
              <a:rPr sz="1400" b="0">
                <a:solidFill>
                  <a:srgbClr val="141414"/>
                </a:solidFill>
                <a:latin typeface="Arial"/>
              </a:rPr>
              <a:t>Módulos dependem de contratos, não de implementações.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Injeção de Dependência: </a:t>
            </a:r>
            <a:r>
              <a:rPr sz="1400" b="0">
                <a:solidFill>
                  <a:srgbClr val="141414"/>
                </a:solidFill>
                <a:latin typeface="Arial"/>
              </a:rPr>
              <a:t>Receber conexões de fora em vez de instanciá-las internamente.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Princípio de Responsabilidade Única (SRP): </a:t>
            </a:r>
            <a:r>
              <a:rPr sz="1400" b="0">
                <a:solidFill>
                  <a:srgbClr val="141414"/>
                </a:solidFill>
                <a:latin typeface="Arial"/>
              </a:rPr>
              <a:t>Uma única razão para mudar.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Resultado: </a:t>
            </a:r>
            <a:r>
              <a:rPr sz="1400" b="0">
                <a:solidFill>
                  <a:srgbClr val="141414"/>
                </a:solidFill>
                <a:latin typeface="Arial"/>
              </a:rPr>
              <a:t>Facilidade total de testes unitários com *mocks*.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6 - Inversão de Dependência e Contratos</a:t>
            </a:r>
          </a:p>
        </p:txBody>
      </p:sp>
      <p:pic>
        <p:nvPicPr>
          <p:cNvPr id="15" name="Picture 14" descr="figura6_boas_pratic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Conclusões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Síntese e Diretrizes Arquiteturais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9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Métricas como Guia: </a:t>
            </a:r>
            <a:r>
              <a:rPr sz="1400" b="0">
                <a:solidFill>
                  <a:srgbClr val="141414"/>
                </a:solidFill>
                <a:latin typeface="Arial"/>
              </a:rPr>
              <a:t>LCOM e CBO servem de termômetro para refatoração preventiva.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Equilíbrio Constante: </a:t>
            </a:r>
            <a:r>
              <a:rPr sz="1400" b="0">
                <a:solidFill>
                  <a:srgbClr val="141414"/>
                </a:solidFill>
                <a:latin typeface="Arial"/>
              </a:rPr>
              <a:t>Nem classes gigantes, nem classes com 1 linha só.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Sustentabilidade: </a:t>
            </a:r>
            <a:r>
              <a:rPr sz="1400" b="0">
                <a:solidFill>
                  <a:srgbClr val="141414"/>
                </a:solidFill>
                <a:latin typeface="Arial"/>
              </a:rPr>
              <a:t>Código limpo evolui rápido sem quebrar o sistema.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Objetivo Final: </a:t>
            </a:r>
            <a:r>
              <a:rPr sz="1400" b="0">
                <a:solidFill>
                  <a:srgbClr val="141414"/>
                </a:solidFill>
                <a:latin typeface="Arial"/>
              </a:rPr>
              <a:t>Software sustentável, testável e desacoplado.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7 - Síntese da Arquitetura Limpa</a:t>
            </a:r>
          </a:p>
        </p:txBody>
      </p:sp>
      <p:pic>
        <p:nvPicPr>
          <p:cNvPr id="15" name="Picture 14" descr="figura6_boas_pratic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10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188720"/>
            <a:ext cx="107259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[1]  </a:t>
            </a:r>
            <a:r>
              <a:rPr sz="1350">
                <a:solidFill>
                  <a:srgbClr val="141414"/>
                </a:solidFill>
                <a:latin typeface="Arial"/>
              </a:rPr>
              <a:t>LARMAN, Craig. Utilizando UML e Padrões: Uma Introdução à Análise e ao Projeto Orientados a Objetos. 3. ed. Porto Alegre: Bookman, 2007.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[2]  </a:t>
            </a:r>
            <a:r>
              <a:rPr sz="1350">
                <a:solidFill>
                  <a:srgbClr val="141414"/>
                </a:solidFill>
                <a:latin typeface="Arial"/>
              </a:rPr>
              <a:t>VALENTE, Marco Tulio. Engenharia de Software Moderna: Princípios e Práticas para Desenvolvimento de Software com Produtividade. Editora UFMG, 2020.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[3]  </a:t>
            </a:r>
            <a:r>
              <a:rPr sz="1350">
                <a:solidFill>
                  <a:srgbClr val="141414"/>
                </a:solidFill>
                <a:latin typeface="Arial"/>
              </a:rPr>
              <a:t>MARTIN, Robert C. Clean Architecture: A Craftsman's Guide to Software Structure and Design. Prentice Hall, 2017.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[4]  </a:t>
            </a:r>
            <a:r>
              <a:rPr sz="1350">
                <a:solidFill>
                  <a:srgbClr val="141414"/>
                </a:solidFill>
                <a:latin typeface="Arial"/>
              </a:rPr>
              <a:t>CHIDAMBER, S. R.; KEMERER, C. F. A Metrics Suite for Object Oriented Design. IEEE Transactions on Software Engineering, 1994.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E823C"/>
                </a:solidFill>
                <a:latin typeface="Arial"/>
              </a:rPr>
              <a:t>Obrigado!</a:t>
            </a:r>
            <a:r>
              <a:rPr sz="1800" b="1">
                <a:solidFill>
                  <a:srgbClr val="1E823C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1E823C"/>
                </a:solidFill>
                <a:latin typeface="Arial"/>
              </a:rPr>
              <a:t>Contatos: pedroiff0@gmail.com  |  amanda.moraes@iff.edu.br</a:t>
            </a:r>
          </a:p>
        </p:txBody>
      </p:sp>
      <p:pic>
        <p:nvPicPr>
          <p:cNvPr id="4" name="Picture 3" descr="qrcode_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188720"/>
            <a:ext cx="512064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E823C"/>
                </a:solidFill>
                <a:latin typeface="Arial"/>
                <a:hlinkClick r:id="rId3"/>
              </a:rPr>
              <a:t>https://www.phrandrade.com/pt-br/resource/engenharia-de-computação/6-periodo/analise-de-software-orientada-a-objetos/anotações/atividades/trabalho---coesão-e-acoplamento---asoo/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45A28"/>
      </a:dk2>
      <a:lt2>
        <a:srgbClr val="EEECE1"/>
      </a:lt2>
      <a:accent1>
        <a:srgbClr val="1E823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E823C"/>
      </a:hlink>
      <a:folHlink>
        <a:srgbClr val="1E823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