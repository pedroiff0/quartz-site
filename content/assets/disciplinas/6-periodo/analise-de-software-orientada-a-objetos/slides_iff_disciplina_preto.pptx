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%C3%A7%C3%A3o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phrandrade.com/pt-br/resource/engenharia-de-computa%C3%A7%C3%A3o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hyperlink" Target="https://www.phrandrade.com/pt-br/resource/engenharia-de-computa%C3%A7%C3%A3o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hyperlink" Target="https://www.phrandrade.com/pt-br/resource/engenharia-de-computa%C3%A7%C3%A3o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Relationship Id="rId4" Type="http://schemas.openxmlformats.org/officeDocument/2006/relationships/hyperlink" Target="https://www.phrandrade.com/pt-br/resource/engenharia-de-computa%C3%A7%C3%A3o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www.phrandrade.com/pt-br/resource/engenharia-de-computa%C3%A7%C3%A3o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9236" y="274320"/>
            <a:ext cx="5813526" cy="1600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057400"/>
            <a:ext cx="1072895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DCB437"/>
                </a:solidFill>
                <a:latin typeface="Arial"/>
                <a:hlinkClick r:id="rId3"/>
              </a:rPr>
              <a:t>NOME DA DISCIPLINA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728959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DCB437"/>
                </a:solidFill>
                <a:latin typeface="Arial"/>
              </a:rPr>
              <a:t>Título do Trabalho Acadêmico</a:t>
            </a:r>
          </a:p>
          <a:p>
            <a:pPr algn="ctr">
              <a:spcBef>
                <a:spcPts val="600"/>
              </a:spcBef>
            </a:pPr>
            <a:r>
              <a:rPr sz="1600">
                <a:solidFill>
                  <a:srgbClr val="F0F0F0"/>
                </a:solidFill>
                <a:latin typeface="Arial"/>
              </a:rPr>
              <a:t>Subtítulo Descritivo e Objetivos Centrais do Seminário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728959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50" b="1">
                <a:solidFill>
                  <a:srgbClr val="F0F0F0"/>
                </a:solidFill>
                <a:latin typeface="Arial"/>
              </a:rPr>
              <a:t>Pedro Henrique Rocha de Andrade</a:t>
            </a:r>
          </a:p>
          <a:p>
            <a:pPr algn="ctr">
              <a:spcBef>
                <a:spcPts val="300"/>
              </a:spcBef>
            </a:pPr>
            <a:r>
              <a:rPr sz="1450" b="1">
                <a:solidFill>
                  <a:srgbClr val="F0F0F0"/>
                </a:solidFill>
                <a:latin typeface="Arial"/>
              </a:rPr>
              <a:t>Ana Cecília Soja</a:t>
            </a:r>
          </a:p>
          <a:p>
            <a:pPr algn="ctr">
              <a:spcBef>
                <a:spcPts val="300"/>
              </a:spcBef>
            </a:pPr>
            <a:r>
              <a:rPr sz="1450" b="1">
                <a:solidFill>
                  <a:srgbClr val="F0F0F0"/>
                </a:solidFill>
                <a:latin typeface="Arial"/>
              </a:rPr>
              <a:t>Maria Luiza Dantas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06440"/>
            <a:ext cx="1072895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F0F0F0"/>
                </a:solidFill>
                <a:latin typeface="Arial"/>
              </a:rPr>
              <a:t>Bom Jesus do Itabapoana — RJ</a:t>
            </a:r>
          </a:p>
          <a:p>
            <a:pPr algn="ctr">
              <a:spcBef>
                <a:spcPts val="300"/>
              </a:spcBef>
            </a:pPr>
            <a:r>
              <a:rPr sz="1250" b="1">
                <a:solidFill>
                  <a:srgbClr val="DCB437"/>
                </a:solidFill>
                <a:latin typeface="Arial"/>
              </a:rPr>
              <a:t>28 de Agosto de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"/>
            <a:ext cx="1594757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B4B4B4"/>
                </a:solidFill>
                <a:latin typeface="Arial"/>
              </a:rPr>
              <a:t> |   </a:t>
            </a:r>
            <a:r>
              <a:rPr sz="2400" b="1">
                <a:solidFill>
                  <a:srgbClr val="F0F0F0"/>
                </a:solidFill>
                <a:latin typeface="Arial"/>
              </a:rPr>
              <a:t>Sumário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73152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 u="none">
                <a:solidFill>
                  <a:srgbClr val="F0F0F0"/>
                </a:solidFill>
                <a:latin typeface="Arial"/>
              </a:rPr>
              <a:t>Nome da Disciplina</a:t>
            </a:r>
            <a:r>
              <a:rPr sz="1800">
                <a:solidFill>
                  <a:srgbClr val="B4B4B4"/>
                </a:solidFill>
                <a:latin typeface="Arial"/>
              </a:rPr>
              <a:t>  |  </a:t>
            </a:r>
            <a:r>
              <a:rPr sz="1800" b="1" u="none">
                <a:solidFill>
                  <a:srgbClr val="DCB437"/>
                </a:solidFill>
                <a:latin typeface="Arial"/>
              </a:rPr>
              <a:t>Seminário | Tópico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1792"/>
            <a:ext cx="12191999" cy="13716"/>
          </a:xfrm>
          <a:prstGeom prst="rect">
            <a:avLst/>
          </a:prstGeom>
          <a:solidFill>
            <a:srgbClr val="DCB437"/>
          </a:solidFill>
          <a:ln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999" cy="13716"/>
          </a:xfrm>
          <a:prstGeom prst="rect">
            <a:avLst/>
          </a:prstGeom>
          <a:solidFill>
            <a:srgbClr val="DCB437"/>
          </a:solidFill>
          <a:ln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B437"/>
                </a:solidFill>
                <a:latin typeface="Arial"/>
              </a:defRPr>
            </a:pPr>
            <a:r>
              <a:t>Estrutura da Apresentação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 u="none">
                <a:solidFill>
                  <a:srgbClr val="F0F0F0"/>
                </a:solidFill>
                <a:latin typeface="Arial"/>
              </a:rPr>
              <a:t>Pedro Henrique Rocha de Andrade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37960"/>
            <a:ext cx="359359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0F0F0"/>
                </a:solidFill>
                <a:latin typeface="Arial"/>
              </a:rPr>
              <a:t>Título do Trabalho Acadêmico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5752" y="6537960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F0F0F0"/>
                </a:solidFill>
                <a:latin typeface="Arial"/>
              </a:rPr>
              <a:t>2 /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 b="1">
                <a:solidFill>
                  <a:srgbClr val="DCB437"/>
                </a:solidFill>
                <a:latin typeface="Arial"/>
              </a:defRPr>
            </a:pPr>
            <a:r>
              <a:t>1.  Introdução &amp; Contextualização do Tema</a:t>
            </a:r>
          </a:p>
          <a:p>
            <a:pPr>
              <a:spcAft>
                <a:spcPts val="1800"/>
              </a:spcAft>
              <a:defRPr sz="1800" b="1">
                <a:solidFill>
                  <a:srgbClr val="DCB437"/>
                </a:solidFill>
                <a:latin typeface="Arial"/>
              </a:defRPr>
            </a:pPr>
            <a:r>
              <a:t>2.  Metodologia &amp; Etapas de Desenvolvimento</a:t>
            </a:r>
          </a:p>
          <a:p>
            <a:pPr>
              <a:spcAft>
                <a:spcPts val="1800"/>
              </a:spcAft>
              <a:defRPr sz="1800" b="1">
                <a:solidFill>
                  <a:srgbClr val="DCB437"/>
                </a:solidFill>
                <a:latin typeface="Arial"/>
              </a:defRPr>
            </a:pPr>
            <a:r>
              <a:t>3.  Resultados Obtidos &amp; Análise Crítica</a:t>
            </a:r>
          </a:p>
          <a:p>
            <a:pPr>
              <a:spcAft>
                <a:spcPts val="1800"/>
              </a:spcAft>
              <a:defRPr sz="1800" b="1">
                <a:solidFill>
                  <a:srgbClr val="DCB437"/>
                </a:solidFill>
                <a:latin typeface="Arial"/>
              </a:defRPr>
            </a:pPr>
            <a:r>
              <a:t>4.  Conclusões Finais &amp; Trabalhos Futuros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"/>
            <a:ext cx="1594757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B4B4B4"/>
                </a:solidFill>
                <a:latin typeface="Arial"/>
              </a:rPr>
              <a:t> |   </a:t>
            </a:r>
            <a:r>
              <a:rPr sz="2400" b="1">
                <a:solidFill>
                  <a:srgbClr val="F0F0F0"/>
                </a:solidFill>
                <a:latin typeface="Arial"/>
              </a:rPr>
              <a:t>Introdução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73152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 u="none">
                <a:solidFill>
                  <a:srgbClr val="F0F0F0"/>
                </a:solidFill>
                <a:latin typeface="Arial"/>
              </a:rPr>
              <a:t>Nome da Disciplina</a:t>
            </a:r>
            <a:r>
              <a:rPr sz="1800">
                <a:solidFill>
                  <a:srgbClr val="B4B4B4"/>
                </a:solidFill>
                <a:latin typeface="Arial"/>
              </a:rPr>
              <a:t>  |  </a:t>
            </a:r>
            <a:r>
              <a:rPr sz="1800" b="1" u="none">
                <a:solidFill>
                  <a:srgbClr val="DCB437"/>
                </a:solidFill>
                <a:latin typeface="Arial"/>
              </a:rPr>
              <a:t>Seminário | Tópico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1792"/>
            <a:ext cx="12191999" cy="13716"/>
          </a:xfrm>
          <a:prstGeom prst="rect">
            <a:avLst/>
          </a:prstGeom>
          <a:solidFill>
            <a:srgbClr val="DCB437"/>
          </a:solidFill>
          <a:ln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999" cy="13716"/>
          </a:xfrm>
          <a:prstGeom prst="rect">
            <a:avLst/>
          </a:prstGeom>
          <a:solidFill>
            <a:srgbClr val="DCB437"/>
          </a:solidFill>
          <a:ln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B437"/>
                </a:solidFill>
                <a:latin typeface="Arial"/>
              </a:defRPr>
            </a:pPr>
            <a:r>
              <a:t>Contextualização e Problemática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 u="none">
                <a:solidFill>
                  <a:srgbClr val="F0F0F0"/>
                </a:solidFill>
                <a:latin typeface="Arial"/>
              </a:rPr>
              <a:t>Pedro Henrique Rocha de Andrade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37960"/>
            <a:ext cx="359359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0F0F0"/>
                </a:solidFill>
                <a:latin typeface="Arial"/>
              </a:rPr>
              <a:t>Título do Trabalho Acadêmico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5752" y="6537960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F0F0F0"/>
                </a:solidFill>
                <a:latin typeface="Arial"/>
              </a:rPr>
              <a:t>3 /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88720"/>
            <a:ext cx="4983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 i="0">
                <a:solidFill>
                  <a:srgbClr val="DCB437"/>
                </a:solidFill>
                <a:latin typeface="Arial"/>
              </a:defRPr>
            </a:pPr>
            <a:r>
              <a:t>•  Contexto do Tema: Apresentação dos conceitos fundamentais estudados na disciplina.</a:t>
            </a:r>
          </a:p>
          <a:p>
            <a:pPr>
              <a:spcAft>
                <a:spcPts val="1200"/>
              </a:spcAft>
              <a:defRPr sz="1450" b="1" i="0">
                <a:solidFill>
                  <a:srgbClr val="F05050"/>
                </a:solidFill>
                <a:latin typeface="Arial"/>
              </a:defRPr>
            </a:pPr>
            <a:r>
              <a:t>•  O Problema Abordado: Desafios práticos e teóricos encontrados no desenvolvimento do trabalho.</a:t>
            </a:r>
          </a:p>
          <a:p>
            <a:pPr>
              <a:spcAft>
                <a:spcPts val="1200"/>
              </a:spcAft>
              <a:defRPr sz="1450" b="0" i="1">
                <a:solidFill>
                  <a:srgbClr val="F0F0F0"/>
                </a:solidFill>
                <a:latin typeface="Arial"/>
              </a:defRPr>
            </a:pPr>
            <a:r>
              <a:t>•  Pergunta Central: Quais metodologias respondem aos objetivos propostos?</a:t>
            </a:r>
          </a:p>
          <a:p>
            <a:pPr>
              <a:spcAft>
                <a:spcPts val="1200"/>
              </a:spcAft>
              <a:defRPr sz="1450" b="1" i="0">
                <a:solidFill>
                  <a:srgbClr val="50C878"/>
                </a:solidFill>
                <a:latin typeface="Arial"/>
              </a:defRPr>
            </a:pPr>
            <a:r>
              <a:t>•  Objetivo Geral: Implementar e demonstrar soluções eficientes com base no conteúdo programático.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88736" y="722376"/>
            <a:ext cx="6172200" cy="5596128"/>
          </a:xfrm>
          <a:prstGeom prst="roundRect">
            <a:avLst>
              <a:gd name="adj" fmla="val 3000"/>
            </a:avLst>
          </a:prstGeom>
          <a:solidFill>
            <a:srgbClr val="1C1C1C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9208" y="804672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0F0F0"/>
                </a:solidFill>
                <a:latin typeface="Arial"/>
              </a:rPr>
              <a:t>Figura 1 - Visão Geral do Sistema/Experimento</a:t>
            </a:r>
          </a:p>
        </p:txBody>
      </p:sp>
      <p:pic>
        <p:nvPicPr>
          <p:cNvPr id="15" name="Picture 14" descr="anatom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5896" y="1078992"/>
            <a:ext cx="5897880" cy="47183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562088" y="5907024"/>
            <a:ext cx="2916936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0">
                <a:solidFill>
                  <a:srgbClr val="B4B4B4"/>
                </a:solidFill>
                <a:latin typeface="Arial"/>
              </a:rPr>
              <a:t>Fonte: Elaboração dos Autores (2026)</a:t>
            </a:r>
          </a:p>
          <a:p>
            <a:pPr algn="ctr"/>
            <a:r>
              <a:rPr sz="1050" b="1">
                <a:solidFill>
                  <a:srgbClr val="DCB437"/>
                </a:solidFill>
                <a:latin typeface="Arial"/>
                <a:hlinkClick r:id="rId4"/>
              </a:rPr>
              <a:t>Documento Técnico | Relatório do Trabalho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"/>
            <a:ext cx="1594757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B4B4B4"/>
                </a:solidFill>
                <a:latin typeface="Arial"/>
              </a:rPr>
              <a:t> |   </a:t>
            </a:r>
            <a:r>
              <a:rPr sz="2400" b="1">
                <a:solidFill>
                  <a:srgbClr val="F0F0F0"/>
                </a:solidFill>
                <a:latin typeface="Arial"/>
              </a:rPr>
              <a:t>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73152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 u="none">
                <a:solidFill>
                  <a:srgbClr val="F0F0F0"/>
                </a:solidFill>
                <a:latin typeface="Arial"/>
              </a:rPr>
              <a:t>Nome da Disciplina</a:t>
            </a:r>
            <a:r>
              <a:rPr sz="1800">
                <a:solidFill>
                  <a:srgbClr val="B4B4B4"/>
                </a:solidFill>
                <a:latin typeface="Arial"/>
              </a:rPr>
              <a:t>  |  </a:t>
            </a:r>
            <a:r>
              <a:rPr sz="1800" b="1" u="none">
                <a:solidFill>
                  <a:srgbClr val="DCB437"/>
                </a:solidFill>
                <a:latin typeface="Arial"/>
              </a:rPr>
              <a:t>Seminário | Tópico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1792"/>
            <a:ext cx="12191999" cy="13716"/>
          </a:xfrm>
          <a:prstGeom prst="rect">
            <a:avLst/>
          </a:prstGeom>
          <a:solidFill>
            <a:srgbClr val="DCB437"/>
          </a:solidFill>
          <a:ln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999" cy="13716"/>
          </a:xfrm>
          <a:prstGeom prst="rect">
            <a:avLst/>
          </a:prstGeom>
          <a:solidFill>
            <a:srgbClr val="DCB437"/>
          </a:solidFill>
          <a:ln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B437"/>
                </a:solidFill>
                <a:latin typeface="Arial"/>
              </a:defRPr>
            </a:pPr>
            <a:r>
              <a:t>Etapas de Execução do Trabalho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 u="none">
                <a:solidFill>
                  <a:srgbClr val="F0F0F0"/>
                </a:solidFill>
                <a:latin typeface="Arial"/>
              </a:rPr>
              <a:t>Pedro Henrique Rocha de Andrade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37960"/>
            <a:ext cx="359359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0F0F0"/>
                </a:solidFill>
                <a:latin typeface="Arial"/>
              </a:rPr>
              <a:t>Título do Trabalho Acadêmico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5752" y="6537960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F0F0F0"/>
                </a:solidFill>
                <a:latin typeface="Arial"/>
              </a:rPr>
              <a:t>4 /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88720"/>
            <a:ext cx="4983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 i="0">
                <a:solidFill>
                  <a:srgbClr val="DCB437"/>
                </a:solidFill>
                <a:latin typeface="Arial"/>
              </a:defRPr>
            </a:pPr>
            <a:r>
              <a:t>•  Coleta e Preparação: Definição das ferramentas computacionais e dados utilizados.</a:t>
            </a:r>
          </a:p>
          <a:p>
            <a:pPr>
              <a:spcAft>
                <a:spcPts val="1200"/>
              </a:spcAft>
              <a:defRPr sz="1450" b="1" i="0">
                <a:solidFill>
                  <a:srgbClr val="DCB437"/>
                </a:solidFill>
                <a:latin typeface="Arial"/>
              </a:defRPr>
            </a:pPr>
            <a:r>
              <a:t>•  Etapas de Desenvolvimento:</a:t>
            </a:r>
          </a:p>
          <a:p>
            <a:pPr>
              <a:spcAft>
                <a:spcPts val="1200"/>
              </a:spcAft>
              <a:defRPr sz="1450" b="0" i="0">
                <a:solidFill>
                  <a:srgbClr val="F0F0F0"/>
                </a:solidFill>
                <a:latin typeface="Arial"/>
              </a:defRPr>
            </a:pPr>
            <a:r>
              <a:t>•    - Modelagem e implementação do fluxo de trabalho.</a:t>
            </a:r>
          </a:p>
          <a:p>
            <a:pPr>
              <a:spcAft>
                <a:spcPts val="1200"/>
              </a:spcAft>
              <a:defRPr sz="1450" b="0" i="0">
                <a:solidFill>
                  <a:srgbClr val="F0F0F0"/>
                </a:solidFill>
                <a:latin typeface="Arial"/>
              </a:defRPr>
            </a:pPr>
            <a:r>
              <a:t>•    - Testes de validação e verificação de consistência.</a:t>
            </a:r>
          </a:p>
          <a:p>
            <a:pPr>
              <a:spcAft>
                <a:spcPts val="1200"/>
              </a:spcAft>
              <a:defRPr sz="1450" b="1" i="0">
                <a:solidFill>
                  <a:srgbClr val="50C878"/>
                </a:solidFill>
                <a:latin typeface="Arial"/>
              </a:defRPr>
            </a:pPr>
            <a:r>
              <a:t>•  Critérios de Avaliação: Métricas adotadas para validar o desempenho dos resultados.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88736" y="722376"/>
            <a:ext cx="6172200" cy="5596128"/>
          </a:xfrm>
          <a:prstGeom prst="roundRect">
            <a:avLst>
              <a:gd name="adj" fmla="val 3000"/>
            </a:avLst>
          </a:prstGeom>
          <a:solidFill>
            <a:srgbClr val="1C1C1C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9208" y="804672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0F0F0"/>
                </a:solidFill>
                <a:latin typeface="Arial"/>
              </a:rPr>
              <a:t>Figura 2 - Instrumentação / Espectrógrafo</a:t>
            </a:r>
          </a:p>
        </p:txBody>
      </p:sp>
      <p:pic>
        <p:nvPicPr>
          <p:cNvPr id="15" name="Picture 14" descr="especto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5896" y="1078992"/>
            <a:ext cx="5897880" cy="47183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562088" y="5907024"/>
            <a:ext cx="2916936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0">
                <a:solidFill>
                  <a:srgbClr val="B4B4B4"/>
                </a:solidFill>
                <a:latin typeface="Arial"/>
              </a:rPr>
              <a:t>Fonte: Laboratório de Física/Automação (2026)</a:t>
            </a:r>
          </a:p>
          <a:p>
            <a:pPr algn="ctr"/>
            <a:r>
              <a:rPr sz="1050" b="1">
                <a:solidFill>
                  <a:srgbClr val="DCB437"/>
                </a:solidFill>
                <a:latin typeface="Arial"/>
                <a:hlinkClick r:id="rId4"/>
              </a:rPr>
              <a:t>Documento Técnico | Relatório do Trabalho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"/>
            <a:ext cx="1594757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B4B4B4"/>
                </a:solidFill>
                <a:latin typeface="Arial"/>
              </a:rPr>
              <a:t> |   </a:t>
            </a:r>
            <a:r>
              <a:rPr sz="2400" b="1">
                <a:solidFill>
                  <a:srgbClr val="F0F0F0"/>
                </a:solidFill>
                <a:latin typeface="Arial"/>
              </a:rPr>
              <a:t>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73152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 u="none">
                <a:solidFill>
                  <a:srgbClr val="F0F0F0"/>
                </a:solidFill>
                <a:latin typeface="Arial"/>
              </a:rPr>
              <a:t>Nome da Disciplina</a:t>
            </a:r>
            <a:r>
              <a:rPr sz="1800">
                <a:solidFill>
                  <a:srgbClr val="B4B4B4"/>
                </a:solidFill>
                <a:latin typeface="Arial"/>
              </a:rPr>
              <a:t>  |  </a:t>
            </a:r>
            <a:r>
              <a:rPr sz="1800" b="1" u="none">
                <a:solidFill>
                  <a:srgbClr val="DCB437"/>
                </a:solidFill>
                <a:latin typeface="Arial"/>
              </a:rPr>
              <a:t>Seminário | Tópico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1792"/>
            <a:ext cx="12191999" cy="13716"/>
          </a:xfrm>
          <a:prstGeom prst="rect">
            <a:avLst/>
          </a:prstGeom>
          <a:solidFill>
            <a:srgbClr val="DCB437"/>
          </a:solidFill>
          <a:ln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999" cy="13716"/>
          </a:xfrm>
          <a:prstGeom prst="rect">
            <a:avLst/>
          </a:prstGeom>
          <a:solidFill>
            <a:srgbClr val="DCB437"/>
          </a:solidFill>
          <a:ln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B437"/>
                </a:solidFill>
                <a:latin typeface="Arial"/>
              </a:defRPr>
            </a:pPr>
            <a:r>
              <a:t>Resultados Obtidos e Discussão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 u="none">
                <a:solidFill>
                  <a:srgbClr val="F0F0F0"/>
                </a:solidFill>
                <a:latin typeface="Arial"/>
              </a:rPr>
              <a:t>Pedro Henrique Rocha de Andrade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37960"/>
            <a:ext cx="359359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0F0F0"/>
                </a:solidFill>
                <a:latin typeface="Arial"/>
              </a:rPr>
              <a:t>Título do Trabalho Acadêmico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5752" y="6537960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F0F0F0"/>
                </a:solidFill>
                <a:latin typeface="Arial"/>
              </a:rPr>
              <a:t>5 /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88720"/>
            <a:ext cx="4983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 i="0">
                <a:solidFill>
                  <a:srgbClr val="DCB437"/>
                </a:solidFill>
                <a:latin typeface="Arial"/>
              </a:defRPr>
            </a:pPr>
            <a:r>
              <a:t>•  Análise Quantitativa: Demonstração dos dados obtidos nas simulações e experimentos.</a:t>
            </a:r>
          </a:p>
          <a:p>
            <a:pPr>
              <a:spcAft>
                <a:spcPts val="1200"/>
              </a:spcAft>
              <a:defRPr sz="1450" b="1" i="0">
                <a:solidFill>
                  <a:srgbClr val="50C878"/>
                </a:solidFill>
                <a:latin typeface="Arial"/>
              </a:defRPr>
            </a:pPr>
            <a:r>
              <a:t>•  Conformidade com a Teoria: Aderência dos resultados práticos aos modelos estudados em aula.</a:t>
            </a:r>
          </a:p>
          <a:p>
            <a:pPr>
              <a:spcAft>
                <a:spcPts val="1200"/>
              </a:spcAft>
              <a:defRPr sz="1450" b="1" i="0">
                <a:solidFill>
                  <a:srgbClr val="F05050"/>
                </a:solidFill>
                <a:latin typeface="Arial"/>
              </a:defRPr>
            </a:pPr>
            <a:r>
              <a:t>•  Casos de Borda e Limitações: Discussão sobre divergências e pontos de melhoria futura.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88736" y="722376"/>
            <a:ext cx="6172200" cy="5596128"/>
          </a:xfrm>
          <a:prstGeom prst="roundRect">
            <a:avLst>
              <a:gd name="adj" fmla="val 3000"/>
            </a:avLst>
          </a:prstGeom>
          <a:solidFill>
            <a:srgbClr val="1C1C1C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9208" y="804672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0F0F0"/>
                </a:solidFill>
                <a:latin typeface="Arial"/>
              </a:rPr>
              <a:t>Figura 3 - Distribuição de Parâmetros Analisados</a:t>
            </a:r>
          </a:p>
        </p:txBody>
      </p:sp>
      <p:pic>
        <p:nvPicPr>
          <p:cNvPr id="15" name="Picture 14" descr="TCC_Kiel_Demonstr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5896" y="1078992"/>
            <a:ext cx="5897880" cy="47183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562088" y="5907024"/>
            <a:ext cx="2916936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0">
                <a:solidFill>
                  <a:srgbClr val="B4B4B4"/>
                </a:solidFill>
                <a:latin typeface="Arial"/>
              </a:rPr>
              <a:t>Fonte: Resultados dos Autores (2026)</a:t>
            </a:r>
          </a:p>
          <a:p>
            <a:pPr algn="ctr"/>
            <a:r>
              <a:rPr sz="1050" b="1">
                <a:solidFill>
                  <a:srgbClr val="DCB437"/>
                </a:solidFill>
                <a:latin typeface="Arial"/>
                <a:hlinkClick r:id="rId4"/>
              </a:rPr>
              <a:t>Documento Técnico | Relatório do Trabalho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"/>
            <a:ext cx="1594757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B4B4B4"/>
                </a:solidFill>
                <a:latin typeface="Arial"/>
              </a:rPr>
              <a:t> |   </a:t>
            </a:r>
            <a:r>
              <a:rPr sz="2400" b="1">
                <a:solidFill>
                  <a:srgbClr val="F0F0F0"/>
                </a:solidFill>
                <a:latin typeface="Arial"/>
              </a:rPr>
              <a:t>Conclusões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73152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 u="none">
                <a:solidFill>
                  <a:srgbClr val="F0F0F0"/>
                </a:solidFill>
                <a:latin typeface="Arial"/>
              </a:rPr>
              <a:t>Nome da Disciplina</a:t>
            </a:r>
            <a:r>
              <a:rPr sz="1800">
                <a:solidFill>
                  <a:srgbClr val="B4B4B4"/>
                </a:solidFill>
                <a:latin typeface="Arial"/>
              </a:rPr>
              <a:t>  |  </a:t>
            </a:r>
            <a:r>
              <a:rPr sz="1800" b="1" u="none">
                <a:solidFill>
                  <a:srgbClr val="DCB437"/>
                </a:solidFill>
                <a:latin typeface="Arial"/>
              </a:rPr>
              <a:t>Seminário | Tópico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1792"/>
            <a:ext cx="12191999" cy="13716"/>
          </a:xfrm>
          <a:prstGeom prst="rect">
            <a:avLst/>
          </a:prstGeom>
          <a:solidFill>
            <a:srgbClr val="DCB437"/>
          </a:solidFill>
          <a:ln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999" cy="13716"/>
          </a:xfrm>
          <a:prstGeom prst="rect">
            <a:avLst/>
          </a:prstGeom>
          <a:solidFill>
            <a:srgbClr val="DCB437"/>
          </a:solidFill>
          <a:ln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B437"/>
                </a:solidFill>
                <a:latin typeface="Arial"/>
              </a:defRPr>
            </a:pPr>
            <a:r>
              <a:t>Considerações Finais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 u="none">
                <a:solidFill>
                  <a:srgbClr val="F0F0F0"/>
                </a:solidFill>
                <a:latin typeface="Arial"/>
              </a:rPr>
              <a:t>Pedro Henrique Rocha de Andrade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37960"/>
            <a:ext cx="359359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0F0F0"/>
                </a:solidFill>
                <a:latin typeface="Arial"/>
              </a:rPr>
              <a:t>Título do Trabalho Acadêmico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5752" y="6537960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F0F0F0"/>
                </a:solidFill>
                <a:latin typeface="Arial"/>
              </a:rPr>
              <a:t>6 /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88720"/>
            <a:ext cx="4983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 i="0">
                <a:solidFill>
                  <a:srgbClr val="DCB437"/>
                </a:solidFill>
                <a:latin typeface="Arial"/>
              </a:defRPr>
            </a:pPr>
            <a:r>
              <a:t>•  Síntese dos Achados: Cumprimento integral dos objetivos definidos no início do projeto.</a:t>
            </a:r>
          </a:p>
          <a:p>
            <a:pPr>
              <a:spcAft>
                <a:spcPts val="1200"/>
              </a:spcAft>
              <a:defRPr sz="1450" b="1" i="0">
                <a:solidFill>
                  <a:srgbClr val="50C878"/>
                </a:solidFill>
                <a:latin typeface="Arial"/>
              </a:defRPr>
            </a:pPr>
            <a:r>
              <a:t>•  Contribuição para a Formação: Consolidação prática dos conteúdos lecionados na disciplina.</a:t>
            </a:r>
          </a:p>
          <a:p>
            <a:pPr>
              <a:spcAft>
                <a:spcPts val="1200"/>
              </a:spcAft>
              <a:defRPr sz="1450" b="1" i="0">
                <a:solidFill>
                  <a:srgbClr val="F05050"/>
                </a:solidFill>
                <a:latin typeface="Arial"/>
              </a:defRPr>
            </a:pPr>
            <a:r>
              <a:t>•  Trabalhos Futuros: Extensão do modelo para novos conjuntos de dados e aplicações.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88736" y="722376"/>
            <a:ext cx="6172200" cy="5596128"/>
          </a:xfrm>
          <a:prstGeom prst="roundRect">
            <a:avLst>
              <a:gd name="adj" fmla="val 3000"/>
            </a:avLst>
          </a:prstGeom>
          <a:solidFill>
            <a:srgbClr val="1C1C1C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9208" y="804672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0F0F0"/>
                </a:solidFill>
                <a:latin typeface="Arial"/>
              </a:rPr>
              <a:t>Figura 4 - Diagrama Conceitual Final</a:t>
            </a:r>
          </a:p>
        </p:txBody>
      </p:sp>
      <p:pic>
        <p:nvPicPr>
          <p:cNvPr id="15" name="Picture 14" descr="diagramaH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5896" y="1078992"/>
            <a:ext cx="5897880" cy="47183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562088" y="5907024"/>
            <a:ext cx="2916936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0">
                <a:solidFill>
                  <a:srgbClr val="B4B4B4"/>
                </a:solidFill>
                <a:latin typeface="Arial"/>
              </a:rPr>
              <a:t>Fonte: Elaboração dos Autores (2026)</a:t>
            </a:r>
          </a:p>
          <a:p>
            <a:pPr algn="ctr"/>
            <a:r>
              <a:rPr sz="1050" b="1">
                <a:solidFill>
                  <a:srgbClr val="DCB437"/>
                </a:solidFill>
                <a:latin typeface="Arial"/>
                <a:hlinkClick r:id="rId4"/>
              </a:rPr>
              <a:t>Documento Técnico | Relatório do Trabalho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95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DCB437"/>
                </a:solidFill>
                <a:latin typeface="Arial"/>
              </a:rPr>
              <a:t>Obrigado!</a:t>
            </a:r>
            <a:r>
              <a:rPr sz="1800" b="1">
                <a:solidFill>
                  <a:srgbClr val="DCB437"/>
                </a:solidFill>
                <a:latin typeface="Arial"/>
              </a:rPr>
              <a:t>   —   Perguntas &amp; Discussão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DCB437"/>
                </a:solidFill>
                <a:latin typeface="Arial"/>
              </a:rPr>
              <a:t>Contatos: pedroiff0@gmail.com  |  ana.soja@iff.edu.br  |  maria.dantas@iff.edu.br</a:t>
            </a:r>
          </a:p>
        </p:txBody>
      </p:sp>
      <p:pic>
        <p:nvPicPr>
          <p:cNvPr id="4" name="Picture 3" descr="qrcode_iff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679" y="1188720"/>
            <a:ext cx="5120640" cy="51154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63640"/>
            <a:ext cx="1072895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DCB437"/>
                </a:solidFill>
                <a:latin typeface="Arial"/>
                <a:hlinkClick r:id="rId3"/>
              </a:rPr>
              <a:t>https://www.phrandrade.com/pt-br/resource/engenharia-de-computacao/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lla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DCB437"/>
      </a:dk2>
      <a:lt2>
        <a:srgbClr val="EEECE1"/>
      </a:lt2>
      <a:accent1>
        <a:srgbClr val="DCB437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DCB437"/>
      </a:hlink>
      <a:folHlink>
        <a:srgbClr val="DCB43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