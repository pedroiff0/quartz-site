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</p:sldIdLst>
  <p:sldSz cx="12191999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hyperlink" Target="https://www.phrandrade.com/pt-br/resource/engenharia-de-computa&#231;&#227;o/6-periodo/analise-de-software-orientada-a-objetos/" TargetMode="External"/><Relationship Id="rId4" Type="http://schemas.openxmlformats.org/officeDocument/2006/relationships/hyperlink" Target="https://www.phrandrade.com/pt-br/resource/engenharia-de-computa&#231;&#227;o/6-periodo/analise-de-software-orientada-a-objetos/anota&#231;&#245;es/atividades/trabalho---coes&#227;o-e-acoplamento---asoo/" TargetMode="Externa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hyperlink" Target="https://www.phrandrade.com/pt-br/resource/engenharia-de-computa&#231;&#227;o/6-periodo/analise-de-software-orientada-a-objetos/" TargetMode="External"/><Relationship Id="rId4" Type="http://schemas.openxmlformats.org/officeDocument/2006/relationships/hyperlink" Target="https://www.phrandrade.com/pt-br/resource/engenharia-de-computa&#231;&#227;o/6-periodo/analise-de-software-orientada-a-objetos/anota&#231;&#245;es/atividades/trabalho---coes&#227;o-e-acoplamento---asoo/" TargetMode="Externa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hyperlink" Target="https://www.phrandrade.com/pt-br/resource/engenharia-de-computa&#231;&#227;o/6-periodo/analise-de-software-orientada-a-objetos/" TargetMode="External"/><Relationship Id="rId4" Type="http://schemas.openxmlformats.org/officeDocument/2006/relationships/hyperlink" Target="https://www.phrandrade.com/pt-br/resource/engenharia-de-computa&#231;&#227;o/6-periodo/analise-de-software-orientada-a-objetos/anota&#231;&#245;es/atividades/trabalho---coes&#227;o-e-acoplamento---asoo/" TargetMode="External"/><Relationship Id="rId5" Type="http://schemas.openxmlformats.org/officeDocument/2006/relationships/image" Target="../media/image2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hyperlink" Target="https://www.phrandrade.com/pt-br/resource/engenharia-de-computa&#231;&#227;o/6-periodo/analise-de-software-orientada-a-objetos/" TargetMode="External"/><Relationship Id="rId4" Type="http://schemas.openxmlformats.org/officeDocument/2006/relationships/hyperlink" Target="https://www.phrandrade.com/pt-br/resource/engenharia-de-computa&#231;&#227;o/6-periodo/analise-de-software-orientada-a-objetos/anota&#231;&#245;es/atividades/trabalho---coes&#227;o-e-acoplamento---asoo/" TargetMode="External"/><Relationship Id="rId5" Type="http://schemas.openxmlformats.org/officeDocument/2006/relationships/image" Target="../media/image3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hyperlink" Target="https://www.phrandrade.com/pt-br/resource/engenharia-de-computa&#231;&#227;o/6-periodo/analise-de-software-orientada-a-objetos/" TargetMode="External"/><Relationship Id="rId4" Type="http://schemas.openxmlformats.org/officeDocument/2006/relationships/hyperlink" Target="https://www.phrandrade.com/pt-br/resource/engenharia-de-computa&#231;&#227;o/6-periodo/analise-de-software-orientada-a-objetos/anota&#231;&#245;es/atividades/trabalho---coes&#227;o-e-acoplamento---asoo/" TargetMode="External"/><Relationship Id="rId5" Type="http://schemas.openxmlformats.org/officeDocument/2006/relationships/image" Target="../media/image4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hyperlink" Target="https://www.phrandrade.com/pt-br/resource/engenharia-de-computa&#231;&#227;o/6-periodo/analise-de-software-orientada-a-objetos/" TargetMode="External"/><Relationship Id="rId4" Type="http://schemas.openxmlformats.org/officeDocument/2006/relationships/hyperlink" Target="https://www.phrandrade.com/pt-br/resource/engenharia-de-computa&#231;&#227;o/6-periodo/analise-de-software-orientada-a-objetos/anota&#231;&#245;es/atividades/trabalho---coes&#227;o-e-acoplamento---asoo/" TargetMode="External"/><Relationship Id="rId5" Type="http://schemas.openxmlformats.org/officeDocument/2006/relationships/image" Target="../media/image5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hyperlink" Target="https://www.phrandrade.com/pt-br/resource/engenharia-de-computa&#231;&#227;o/6-periodo/analise-de-software-orientada-a-objetos/" TargetMode="External"/><Relationship Id="rId4" Type="http://schemas.openxmlformats.org/officeDocument/2006/relationships/hyperlink" Target="https://www.phrandrade.com/pt-br/resource/engenharia-de-computa&#231;&#227;o/6-periodo/analise-de-software-orientada-a-objetos/anota&#231;&#245;es/atividades/trabalho---coes&#227;o-e-acoplamento---asoo/" TargetMode="External"/><Relationship Id="rId5" Type="http://schemas.openxmlformats.org/officeDocument/2006/relationships/image" Target="../media/image6.pn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hyperlink" Target="https://www.phrandrade.com/pt-br/resource/engenharia-de-computa&#231;&#227;o/6-periodo/analise-de-software-orientada-a-objetos/" TargetMode="External"/><Relationship Id="rId4" Type="http://schemas.openxmlformats.org/officeDocument/2006/relationships/hyperlink" Target="https://www.phrandrade.com/pt-br/resource/engenharia-de-computa&#231;&#227;o/6-periodo/analise-de-software-orientada-a-objetos/anota&#231;&#245;es/atividades/trabalho---coes&#227;o-e-acoplamento---asoo/" TargetMode="External"/><Relationship Id="rId5" Type="http://schemas.openxmlformats.org/officeDocument/2006/relationships/image" Target="../media/image7.pn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hyperlink" Target="https://www.phrandrade.com/pt-br/resource/engenharia-de-computa&#231;&#227;o/6-periodo/analise-de-software-orientada-a-objetos/" TargetMode="External"/><Relationship Id="rId4" Type="http://schemas.openxmlformats.org/officeDocument/2006/relationships/hyperlink" Target="https://www.phrandrade.com/pt-br/resource/engenharia-de-computa&#231;&#227;o/6-periodo/analise-de-software-orientada-a-objetos/anota&#231;&#245;es/atividades/trabalho---coes&#227;o-e-acoplamento---asoo/" TargetMode="External"/><Relationship Id="rId5" Type="http://schemas.openxmlformats.org/officeDocument/2006/relationships/image" Target="../media/image7.png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hyperlink" Target="https://www.phrandrade.com/pt-br/resource/engenharia-de-computa&#231;&#227;o/6-periodo/analise-de-software-orientada-a-objetos/" TargetMode="External"/><Relationship Id="rId4" Type="http://schemas.openxmlformats.org/officeDocument/2006/relationships/hyperlink" Target="https://www.phrandrade.com/pt-br/resource/engenharia-de-computa&#231;&#227;o/6-periodo/analise-de-software-orientada-a-objetos/anota&#231;&#245;es/atividades/trabalho---coes&#227;o-e-acoplamento---asoo/" TargetMode="Externa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8.png"/><Relationship Id="rId3" Type="http://schemas.openxmlformats.org/officeDocument/2006/relationships/hyperlink" Target="https://www.phrandrade.com/pt-br/resource/engenharia-de-computa&#231;&#227;o/6-periodo/analise-de-software-orientada-a-objetos/anota&#231;&#245;es/atividades/trabalho---coes&#227;o-e-acoplamento---asoo/" TargetMode="Externa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9.jp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999" cy="6858000"/>
          </a:xfrm>
          <a:prstGeom prst="rect">
            <a:avLst/>
          </a:prstGeom>
          <a:solidFill>
            <a:srgbClr val="0F0F0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logo_iff_crop_whit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189236" y="274320"/>
            <a:ext cx="5813526" cy="160020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731520" y="2057400"/>
            <a:ext cx="10728959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500" b="1">
                <a:solidFill>
                  <a:srgbClr val="DCB437"/>
                </a:solidFill>
                <a:latin typeface="Arial"/>
                <a:hlinkClick r:id="rId3"/>
              </a:rPr>
              <a:t>ANÁLISE DE SOFTWARE ORIENTADA A OBJETOS — 6º PERÍODO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2560320"/>
            <a:ext cx="10728959" cy="1325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000" b="1">
                <a:solidFill>
                  <a:srgbClr val="DCB437"/>
                </a:solidFill>
                <a:latin typeface="Arial"/>
                <a:hlinkClick r:id="rId4"/>
              </a:rPr>
              <a:t>Coesão &amp; Acoplamento</a:t>
            </a:r>
          </a:p>
          <a:p>
            <a:pPr algn="ctr">
              <a:spcBef>
                <a:spcPts val="400"/>
              </a:spcBef>
            </a:pPr>
            <a:r>
              <a:rPr sz="1500">
                <a:solidFill>
                  <a:srgbClr val="F0F0F0"/>
                </a:solidFill>
                <a:latin typeface="Arial"/>
              </a:rPr>
              <a:t>Fundamentos de Design, Paradigmas e Métricas Práticas de Qualidade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4069080"/>
            <a:ext cx="10728959" cy="1554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400" b="1">
                <a:solidFill>
                  <a:srgbClr val="F0F0F0"/>
                </a:solidFill>
                <a:latin typeface="Arial"/>
              </a:rPr>
              <a:t>Pedro Henrique Rocha de Andrade</a:t>
            </a:r>
          </a:p>
          <a:p>
            <a:pPr algn="ctr">
              <a:spcBef>
                <a:spcPts val="300"/>
              </a:spcBef>
            </a:pPr>
            <a:r>
              <a:rPr sz="1400" b="1">
                <a:solidFill>
                  <a:srgbClr val="F0F0F0"/>
                </a:solidFill>
                <a:latin typeface="Arial"/>
              </a:rPr>
              <a:t>Amanda Moraes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" y="5806440"/>
            <a:ext cx="10728959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200">
                <a:solidFill>
                  <a:srgbClr val="F0F0F0"/>
                </a:solidFill>
                <a:latin typeface="Arial"/>
              </a:rPr>
              <a:t>Bom Jesus do Itabapoana — RJ</a:t>
            </a:r>
          </a:p>
          <a:p>
            <a:pPr algn="ctr">
              <a:spcBef>
                <a:spcPts val="300"/>
              </a:spcBef>
            </a:pPr>
            <a:r>
              <a:rPr sz="1250" b="1">
                <a:solidFill>
                  <a:srgbClr val="DCB437"/>
                </a:solidFill>
                <a:latin typeface="Arial"/>
              </a:rPr>
              <a:t>02 de Setembro de 2026</a:t>
            </a:r>
          </a:p>
        </p:txBody>
      </p:sp>
    </p:spTree>
  </p:cSld>
  <p:clrMapOvr>
    <a:masterClrMapping/>
  </p:clrMapOvr>
  <p:transition spd="med">
    <p:fade/>
  </p:transition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999" cy="6858000"/>
          </a:xfrm>
          <a:prstGeom prst="rect">
            <a:avLst/>
          </a:prstGeom>
          <a:solidFill>
            <a:srgbClr val="0F0F0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logo_iff_crop_whit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65760" y="73152"/>
            <a:ext cx="1395412" cy="384048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2331720" y="27432"/>
            <a:ext cx="4389120" cy="47548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000" b="0">
                <a:solidFill>
                  <a:srgbClr val="B4B4B4"/>
                </a:solidFill>
                <a:latin typeface="Arial"/>
              </a:rPr>
              <a:t> |   </a:t>
            </a:r>
            <a:r>
              <a:rPr sz="2000" b="1">
                <a:solidFill>
                  <a:srgbClr val="F0F0F0"/>
                </a:solidFill>
                <a:latin typeface="Arial"/>
              </a:rPr>
              <a:t>Sumário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852160" y="73152"/>
            <a:ext cx="59436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300" b="1">
                <a:solidFill>
                  <a:srgbClr val="F0F0F0"/>
                </a:solidFill>
                <a:latin typeface="Arial"/>
                <a:hlinkClick r:id="rId3"/>
              </a:rPr>
              <a:t>Análise de Software Orientada a Objetos</a:t>
            </a:r>
            <a:r>
              <a:rPr sz="1300">
                <a:solidFill>
                  <a:srgbClr val="B4B4B4"/>
                </a:solidFill>
                <a:latin typeface="Arial"/>
              </a:rPr>
              <a:t>   |   </a:t>
            </a:r>
            <a:r>
              <a:rPr sz="1300" b="1">
                <a:solidFill>
                  <a:srgbClr val="DCB437"/>
                </a:solidFill>
                <a:latin typeface="Arial"/>
                <a:hlinkClick r:id="rId4"/>
              </a:rPr>
              <a:t>Coesão &amp; Acoplamento</a:t>
            </a:r>
          </a:p>
        </p:txBody>
      </p:sp>
      <p:sp>
        <p:nvSpPr>
          <p:cNvPr id="6" name="Rectangle 5"/>
          <p:cNvSpPr/>
          <p:nvPr/>
        </p:nvSpPr>
        <p:spPr>
          <a:xfrm>
            <a:off x="0" y="566928"/>
            <a:ext cx="12191999" cy="13716"/>
          </a:xfrm>
          <a:prstGeom prst="rect">
            <a:avLst/>
          </a:prstGeom>
          <a:solidFill>
            <a:srgbClr val="DCB4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365760" y="658368"/>
            <a:ext cx="530352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 b="1">
                <a:solidFill>
                  <a:srgbClr val="DCB437"/>
                </a:solidFill>
                <a:latin typeface="Arial"/>
              </a:defRPr>
            </a:pPr>
            <a:r>
              <a:t>Estrutura da Apresentação</a:t>
            </a:r>
          </a:p>
        </p:txBody>
      </p:sp>
      <p:sp>
        <p:nvSpPr>
          <p:cNvPr id="8" name="Rectangle 7"/>
          <p:cNvSpPr/>
          <p:nvPr/>
        </p:nvSpPr>
        <p:spPr>
          <a:xfrm>
            <a:off x="0" y="6400800"/>
            <a:ext cx="12191999" cy="13716"/>
          </a:xfrm>
          <a:prstGeom prst="rect">
            <a:avLst/>
          </a:prstGeom>
          <a:solidFill>
            <a:srgbClr val="DCB4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365760" y="6446520"/>
            <a:ext cx="41148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000" b="1">
                <a:solidFill>
                  <a:srgbClr val="DCB437"/>
                </a:solidFill>
                <a:latin typeface="Arial"/>
              </a:rPr>
              <a:t>de Andrade, P. H. R.; Moraes, A.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114800" y="6446520"/>
            <a:ext cx="45720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000" b="1">
                <a:solidFill>
                  <a:srgbClr val="F0F0F0"/>
                </a:solidFill>
                <a:latin typeface="Arial"/>
                <a:hlinkClick r:id="rId4"/>
              </a:rPr>
              <a:t>Coesão &amp; Acoplamento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326880" y="6446520"/>
            <a:ext cx="246888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000" b="1">
                <a:solidFill>
                  <a:srgbClr val="F0F0F0"/>
                </a:solidFill>
                <a:latin typeface="Arial"/>
              </a:rPr>
              <a:t>2 / 12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914400" y="1371600"/>
            <a:ext cx="10360152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800"/>
              </a:spcAft>
              <a:defRPr sz="1800" b="1">
                <a:solidFill>
                  <a:srgbClr val="DCB437"/>
                </a:solidFill>
                <a:latin typeface="Arial"/>
              </a:defRPr>
            </a:pPr>
            <a:r>
              <a:t>1.  Coesão</a:t>
            </a:r>
          </a:p>
          <a:p>
            <a:pPr>
              <a:spcAft>
                <a:spcPts val="1800"/>
              </a:spcAft>
              <a:defRPr sz="1800" b="1">
                <a:solidFill>
                  <a:srgbClr val="DCB437"/>
                </a:solidFill>
                <a:latin typeface="Arial"/>
              </a:defRPr>
            </a:pPr>
            <a:r>
              <a:t>2.  Acoplamento</a:t>
            </a:r>
          </a:p>
          <a:p>
            <a:pPr>
              <a:spcAft>
                <a:spcPts val="1800"/>
              </a:spcAft>
              <a:defRPr sz="1800" b="1">
                <a:solidFill>
                  <a:srgbClr val="DCB437"/>
                </a:solidFill>
                <a:latin typeface="Arial"/>
              </a:defRPr>
            </a:pPr>
            <a:r>
              <a:t>3.  Trade-off</a:t>
            </a:r>
          </a:p>
          <a:p>
            <a:pPr>
              <a:spcAft>
                <a:spcPts val="1800"/>
              </a:spcAft>
              <a:defRPr sz="1800" b="1">
                <a:solidFill>
                  <a:srgbClr val="DCB437"/>
                </a:solidFill>
                <a:latin typeface="Arial"/>
              </a:defRPr>
            </a:pPr>
            <a:r>
              <a:t>4.  Paradigmas</a:t>
            </a:r>
          </a:p>
          <a:p>
            <a:pPr>
              <a:spcAft>
                <a:spcPts val="1800"/>
              </a:spcAft>
              <a:defRPr sz="1800" b="1">
                <a:solidFill>
                  <a:srgbClr val="DCB437"/>
                </a:solidFill>
                <a:latin typeface="Arial"/>
              </a:defRPr>
            </a:pPr>
            <a:r>
              <a:t>5.  Métricas</a:t>
            </a:r>
          </a:p>
          <a:p>
            <a:pPr>
              <a:spcAft>
                <a:spcPts val="1800"/>
              </a:spcAft>
              <a:defRPr sz="1800" b="1">
                <a:solidFill>
                  <a:srgbClr val="DCB437"/>
                </a:solidFill>
                <a:latin typeface="Arial"/>
              </a:defRPr>
            </a:pPr>
            <a:r>
              <a:t>6.  Boas Práticas</a:t>
            </a:r>
          </a:p>
          <a:p>
            <a:pPr>
              <a:spcAft>
                <a:spcPts val="1800"/>
              </a:spcAft>
              <a:defRPr sz="1800" b="1">
                <a:solidFill>
                  <a:srgbClr val="DCB437"/>
                </a:solidFill>
                <a:latin typeface="Arial"/>
              </a:defRPr>
            </a:pPr>
            <a:r>
              <a:t>7.  Conclusões</a:t>
            </a:r>
          </a:p>
        </p:txBody>
      </p:sp>
    </p:spTree>
  </p:cSld>
  <p:clrMapOvr>
    <a:masterClrMapping/>
  </p:clrMapOvr>
  <p:transition spd="med">
    <p:fade/>
  </p:transition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999" cy="6858000"/>
          </a:xfrm>
          <a:prstGeom prst="rect">
            <a:avLst/>
          </a:prstGeom>
          <a:solidFill>
            <a:srgbClr val="0F0F0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logo_iff_crop_whit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65760" y="73152"/>
            <a:ext cx="1395412" cy="384048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2331720" y="27432"/>
            <a:ext cx="4389120" cy="47548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000" b="0">
                <a:solidFill>
                  <a:srgbClr val="B4B4B4"/>
                </a:solidFill>
                <a:latin typeface="Arial"/>
              </a:rPr>
              <a:t> |   </a:t>
            </a:r>
            <a:r>
              <a:rPr sz="2000" b="1">
                <a:solidFill>
                  <a:srgbClr val="F0F0F0"/>
                </a:solidFill>
                <a:latin typeface="Arial"/>
              </a:rPr>
              <a:t>Coesão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852160" y="73152"/>
            <a:ext cx="59436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300" b="1">
                <a:solidFill>
                  <a:srgbClr val="F0F0F0"/>
                </a:solidFill>
                <a:latin typeface="Arial"/>
                <a:hlinkClick r:id="rId3"/>
              </a:rPr>
              <a:t>Análise de Software Orientada a Objetos</a:t>
            </a:r>
            <a:r>
              <a:rPr sz="1300">
                <a:solidFill>
                  <a:srgbClr val="B4B4B4"/>
                </a:solidFill>
                <a:latin typeface="Arial"/>
              </a:rPr>
              <a:t>   |   </a:t>
            </a:r>
            <a:r>
              <a:rPr sz="1300" b="1">
                <a:solidFill>
                  <a:srgbClr val="DCB437"/>
                </a:solidFill>
                <a:latin typeface="Arial"/>
                <a:hlinkClick r:id="rId4"/>
              </a:rPr>
              <a:t>Coesão &amp; Acoplamento</a:t>
            </a:r>
          </a:p>
        </p:txBody>
      </p:sp>
      <p:sp>
        <p:nvSpPr>
          <p:cNvPr id="6" name="Rectangle 5"/>
          <p:cNvSpPr/>
          <p:nvPr/>
        </p:nvSpPr>
        <p:spPr>
          <a:xfrm>
            <a:off x="0" y="566928"/>
            <a:ext cx="12191999" cy="13716"/>
          </a:xfrm>
          <a:prstGeom prst="rect">
            <a:avLst/>
          </a:prstGeom>
          <a:solidFill>
            <a:srgbClr val="DCB4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365760" y="658368"/>
            <a:ext cx="530352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 b="1">
                <a:solidFill>
                  <a:srgbClr val="DCB437"/>
                </a:solidFill>
                <a:latin typeface="Arial"/>
              </a:defRPr>
            </a:pPr>
            <a:r>
              <a:t>O que é Coesão? (Foco Interno)</a:t>
            </a:r>
          </a:p>
        </p:txBody>
      </p:sp>
      <p:sp>
        <p:nvSpPr>
          <p:cNvPr id="8" name="Rectangle 7"/>
          <p:cNvSpPr/>
          <p:nvPr/>
        </p:nvSpPr>
        <p:spPr>
          <a:xfrm>
            <a:off x="0" y="6400800"/>
            <a:ext cx="12191999" cy="13716"/>
          </a:xfrm>
          <a:prstGeom prst="rect">
            <a:avLst/>
          </a:prstGeom>
          <a:solidFill>
            <a:srgbClr val="DCB4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365760" y="6446520"/>
            <a:ext cx="41148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000" b="1">
                <a:solidFill>
                  <a:srgbClr val="DCB437"/>
                </a:solidFill>
                <a:latin typeface="Arial"/>
              </a:rPr>
              <a:t>de Andrade, P. H. R.; Moraes, A.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114800" y="6446520"/>
            <a:ext cx="45720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000" b="1">
                <a:solidFill>
                  <a:srgbClr val="F0F0F0"/>
                </a:solidFill>
                <a:latin typeface="Arial"/>
                <a:hlinkClick r:id="rId4"/>
              </a:rPr>
              <a:t>Coesão &amp; Acoplamento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326880" y="6446520"/>
            <a:ext cx="246888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000" b="1">
                <a:solidFill>
                  <a:srgbClr val="F0F0F0"/>
                </a:solidFill>
                <a:latin typeface="Arial"/>
              </a:rPr>
              <a:t>3 / 12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57200" y="1188720"/>
            <a:ext cx="5120640" cy="5029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1600"/>
              </a:spcAft>
            </a:pPr>
            <a:r>
              <a:rPr sz="1400" b="1">
                <a:solidFill>
                  <a:srgbClr val="DCB437"/>
                </a:solidFill>
                <a:latin typeface="Arial"/>
              </a:rPr>
              <a:t>•  </a:t>
            </a:r>
            <a:r>
              <a:rPr sz="1400" b="1">
                <a:solidFill>
                  <a:srgbClr val="DCB437"/>
                </a:solidFill>
                <a:latin typeface="Arial"/>
              </a:rPr>
              <a:t>Definição Simples: </a:t>
            </a:r>
            <a:r>
              <a:rPr sz="1400" b="0">
                <a:solidFill>
                  <a:srgbClr val="F0F0F0"/>
                </a:solidFill>
                <a:latin typeface="Arial"/>
              </a:rPr>
              <a:t>Mede o foco e a afinidade interna de uma classe.</a:t>
            </a:r>
          </a:p>
          <a:p>
            <a:pPr>
              <a:spcAft>
                <a:spcPts val="1600"/>
              </a:spcAft>
            </a:pPr>
            <a:r>
              <a:rPr sz="1400" b="1">
                <a:solidFill>
                  <a:srgbClr val="50C878"/>
                </a:solidFill>
                <a:latin typeface="Arial"/>
              </a:rPr>
              <a:t>•  </a:t>
            </a:r>
            <a:r>
              <a:rPr sz="1400" b="1">
                <a:solidFill>
                  <a:srgbClr val="50C878"/>
                </a:solidFill>
                <a:latin typeface="Arial"/>
              </a:rPr>
              <a:t>Regra de Ouro: </a:t>
            </a:r>
            <a:r>
              <a:rPr sz="1400" b="0">
                <a:solidFill>
                  <a:srgbClr val="F0F0F0"/>
                </a:solidFill>
                <a:latin typeface="Arial"/>
              </a:rPr>
              <a:t>Cada classe deve fazer apenas uma coisa e fazê-la bem feita.</a:t>
            </a:r>
          </a:p>
          <a:p>
            <a:pPr>
              <a:spcAft>
                <a:spcPts val="1600"/>
              </a:spcAft>
            </a:pPr>
            <a:r>
              <a:rPr sz="1400" b="1">
                <a:solidFill>
                  <a:srgbClr val="DCB437"/>
                </a:solidFill>
                <a:latin typeface="Arial"/>
              </a:rPr>
              <a:t>•  </a:t>
            </a:r>
            <a:r>
              <a:rPr sz="1400" b="1">
                <a:solidFill>
                  <a:srgbClr val="DCB437"/>
                </a:solidFill>
                <a:latin typeface="Arial"/>
              </a:rPr>
              <a:t>Sinal de Alta Coesão: </a:t>
            </a:r>
            <a:r>
              <a:rPr sz="1400" b="0">
                <a:solidFill>
                  <a:srgbClr val="F0F0F0"/>
                </a:solidFill>
                <a:latin typeface="Arial"/>
              </a:rPr>
              <a:t>Todos os métodos usam e colaboram com os mesmos atributos.</a:t>
            </a:r>
          </a:p>
          <a:p>
            <a:pPr>
              <a:spcAft>
                <a:spcPts val="1600"/>
              </a:spcAft>
            </a:pPr>
            <a:r>
              <a:rPr sz="1400" b="1">
                <a:solidFill>
                  <a:srgbClr val="F0F0F0"/>
                </a:solidFill>
                <a:latin typeface="Arial"/>
              </a:rPr>
              <a:t>•  </a:t>
            </a:r>
            <a:r>
              <a:rPr sz="1400" b="1">
                <a:solidFill>
                  <a:srgbClr val="F0F0F0"/>
                </a:solidFill>
                <a:latin typeface="Arial"/>
              </a:rPr>
              <a:t>Benefício: </a:t>
            </a:r>
            <a:r>
              <a:rPr sz="1400" b="0">
                <a:solidFill>
                  <a:srgbClr val="F0F0F0"/>
                </a:solidFill>
                <a:latin typeface="Arial"/>
              </a:rPr>
              <a:t>Código fácil de ler, depurar, testar e reutilizar.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5943600" y="722376"/>
            <a:ext cx="5806440" cy="5532120"/>
          </a:xfrm>
          <a:prstGeom prst="roundRect">
            <a:avLst>
              <a:gd name="adj" fmla="val 3000"/>
            </a:avLst>
          </a:prstGeom>
          <a:solidFill>
            <a:srgbClr val="1C1C1C"/>
          </a:solidFill>
          <a:ln w="12700">
            <a:solidFill>
              <a:srgbClr val="DCB43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5989320" y="777240"/>
            <a:ext cx="57150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100" b="1">
                <a:solidFill>
                  <a:srgbClr val="DCB437"/>
                </a:solidFill>
                <a:latin typeface="Arial"/>
              </a:rPr>
              <a:t>Figura 1 - Foco Interno e Responsabilidade</a:t>
            </a:r>
          </a:p>
        </p:txBody>
      </p:sp>
      <p:pic>
        <p:nvPicPr>
          <p:cNvPr id="15" name="Picture 14" descr="figura1_o_que_e_coesao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080760" y="1363208"/>
            <a:ext cx="5532120" cy="4131583"/>
          </a:xfrm>
          <a:prstGeom prst="rect">
            <a:avLst/>
          </a:prstGeom>
        </p:spPr>
      </p:pic>
      <p:sp>
        <p:nvSpPr>
          <p:cNvPr id="16" name="TextBox 15"/>
          <p:cNvSpPr txBox="1"/>
          <p:nvPr/>
        </p:nvSpPr>
        <p:spPr>
          <a:xfrm>
            <a:off x="5989320" y="5897880"/>
            <a:ext cx="57150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900">
                <a:solidFill>
                  <a:srgbClr val="B4B4B4"/>
                </a:solidFill>
                <a:latin typeface="Arial"/>
              </a:rPr>
              <a:t>Fonte: Elaboração dos Autores (2026)</a:t>
            </a:r>
          </a:p>
        </p:txBody>
      </p:sp>
    </p:spTree>
  </p:cSld>
  <p:clrMapOvr>
    <a:masterClrMapping/>
  </p:clrMapOvr>
  <p:transition spd="med">
    <p:fade/>
  </p:transition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999" cy="6858000"/>
          </a:xfrm>
          <a:prstGeom prst="rect">
            <a:avLst/>
          </a:prstGeom>
          <a:solidFill>
            <a:srgbClr val="0F0F0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logo_iff_crop_whit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65760" y="73152"/>
            <a:ext cx="1395412" cy="384048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2331720" y="27432"/>
            <a:ext cx="4389120" cy="47548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000" b="0">
                <a:solidFill>
                  <a:srgbClr val="B4B4B4"/>
                </a:solidFill>
                <a:latin typeface="Arial"/>
              </a:rPr>
              <a:t> |   </a:t>
            </a:r>
            <a:r>
              <a:rPr sz="2000" b="1">
                <a:solidFill>
                  <a:srgbClr val="F0F0F0"/>
                </a:solidFill>
                <a:latin typeface="Arial"/>
              </a:rPr>
              <a:t>Acoplamento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852160" y="73152"/>
            <a:ext cx="59436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300" b="1">
                <a:solidFill>
                  <a:srgbClr val="F0F0F0"/>
                </a:solidFill>
                <a:latin typeface="Arial"/>
                <a:hlinkClick r:id="rId3"/>
              </a:rPr>
              <a:t>Análise de Software Orientada a Objetos</a:t>
            </a:r>
            <a:r>
              <a:rPr sz="1300">
                <a:solidFill>
                  <a:srgbClr val="B4B4B4"/>
                </a:solidFill>
                <a:latin typeface="Arial"/>
              </a:rPr>
              <a:t>   |   </a:t>
            </a:r>
            <a:r>
              <a:rPr sz="1300" b="1">
                <a:solidFill>
                  <a:srgbClr val="DCB437"/>
                </a:solidFill>
                <a:latin typeface="Arial"/>
                <a:hlinkClick r:id="rId4"/>
              </a:rPr>
              <a:t>Coesão &amp; Acoplamento</a:t>
            </a:r>
          </a:p>
        </p:txBody>
      </p:sp>
      <p:sp>
        <p:nvSpPr>
          <p:cNvPr id="6" name="Rectangle 5"/>
          <p:cNvSpPr/>
          <p:nvPr/>
        </p:nvSpPr>
        <p:spPr>
          <a:xfrm>
            <a:off x="0" y="566928"/>
            <a:ext cx="12191999" cy="13716"/>
          </a:xfrm>
          <a:prstGeom prst="rect">
            <a:avLst/>
          </a:prstGeom>
          <a:solidFill>
            <a:srgbClr val="DCB4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365760" y="658368"/>
            <a:ext cx="530352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 b="1">
                <a:solidFill>
                  <a:srgbClr val="DCB437"/>
                </a:solidFill>
                <a:latin typeface="Arial"/>
              </a:defRPr>
            </a:pPr>
            <a:r>
              <a:t>O que é Acoplamento? (Dependência Externa)</a:t>
            </a:r>
          </a:p>
        </p:txBody>
      </p:sp>
      <p:sp>
        <p:nvSpPr>
          <p:cNvPr id="8" name="Rectangle 7"/>
          <p:cNvSpPr/>
          <p:nvPr/>
        </p:nvSpPr>
        <p:spPr>
          <a:xfrm>
            <a:off x="0" y="6400800"/>
            <a:ext cx="12191999" cy="13716"/>
          </a:xfrm>
          <a:prstGeom prst="rect">
            <a:avLst/>
          </a:prstGeom>
          <a:solidFill>
            <a:srgbClr val="DCB4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365760" y="6446520"/>
            <a:ext cx="41148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000" b="1">
                <a:solidFill>
                  <a:srgbClr val="DCB437"/>
                </a:solidFill>
                <a:latin typeface="Arial"/>
              </a:rPr>
              <a:t>de Andrade, P. H. R.; Moraes, A.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114800" y="6446520"/>
            <a:ext cx="45720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000" b="1">
                <a:solidFill>
                  <a:srgbClr val="F0F0F0"/>
                </a:solidFill>
                <a:latin typeface="Arial"/>
                <a:hlinkClick r:id="rId4"/>
              </a:rPr>
              <a:t>Coesão &amp; Acoplamento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326880" y="6446520"/>
            <a:ext cx="246888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000" b="1">
                <a:solidFill>
                  <a:srgbClr val="F0F0F0"/>
                </a:solidFill>
                <a:latin typeface="Arial"/>
              </a:rPr>
              <a:t>4 / 12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57200" y="1188720"/>
            <a:ext cx="5120640" cy="5029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1600"/>
              </a:spcAft>
            </a:pPr>
            <a:r>
              <a:rPr sz="1400" b="1">
                <a:solidFill>
                  <a:srgbClr val="F05050"/>
                </a:solidFill>
                <a:latin typeface="Arial"/>
              </a:rPr>
              <a:t>•  </a:t>
            </a:r>
            <a:r>
              <a:rPr sz="1400" b="1">
                <a:solidFill>
                  <a:srgbClr val="F05050"/>
                </a:solidFill>
                <a:latin typeface="Arial"/>
              </a:rPr>
              <a:t>Definição Simples: </a:t>
            </a:r>
            <a:r>
              <a:rPr sz="1400" b="0">
                <a:solidFill>
                  <a:srgbClr val="F0F0F0"/>
                </a:solidFill>
                <a:latin typeface="Arial"/>
              </a:rPr>
              <a:t>Mede o quanto uma classe depende de outras para funcionar.</a:t>
            </a:r>
          </a:p>
          <a:p>
            <a:pPr>
              <a:spcAft>
                <a:spcPts val="1600"/>
              </a:spcAft>
            </a:pPr>
            <a:r>
              <a:rPr sz="1400" b="1">
                <a:solidFill>
                  <a:srgbClr val="F05050"/>
                </a:solidFill>
                <a:latin typeface="Arial"/>
              </a:rPr>
              <a:t>•  </a:t>
            </a:r>
            <a:r>
              <a:rPr sz="1400" b="1">
                <a:solidFill>
                  <a:srgbClr val="F05050"/>
                </a:solidFill>
                <a:latin typeface="Arial"/>
              </a:rPr>
              <a:t>Alto Acoplamento: </a:t>
            </a:r>
            <a:r>
              <a:rPr sz="1400" b="0">
                <a:solidFill>
                  <a:srgbClr val="F0F0F0"/>
                </a:solidFill>
                <a:latin typeface="Arial"/>
              </a:rPr>
              <a:t>Mudanças em uma classe quebram várias outras em cascata.</a:t>
            </a:r>
          </a:p>
          <a:p>
            <a:pPr>
              <a:spcAft>
                <a:spcPts val="1600"/>
              </a:spcAft>
            </a:pPr>
            <a:r>
              <a:rPr sz="1400" b="1">
                <a:solidFill>
                  <a:srgbClr val="50C878"/>
                </a:solidFill>
                <a:latin typeface="Arial"/>
              </a:rPr>
              <a:t>•  </a:t>
            </a:r>
            <a:r>
              <a:rPr sz="1400" b="1">
                <a:solidFill>
                  <a:srgbClr val="50C878"/>
                </a:solidFill>
                <a:latin typeface="Arial"/>
              </a:rPr>
              <a:t>Baixo Acoplamento: </a:t>
            </a:r>
            <a:r>
              <a:rPr sz="1400" b="0">
                <a:solidFill>
                  <a:srgbClr val="F0F0F0"/>
                </a:solidFill>
                <a:latin typeface="Arial"/>
              </a:rPr>
              <a:t>Módulos independentes comunicando-se por interfaces estáveis.</a:t>
            </a:r>
          </a:p>
          <a:p>
            <a:pPr>
              <a:spcAft>
                <a:spcPts val="1600"/>
              </a:spcAft>
            </a:pPr>
            <a:r>
              <a:rPr sz="1400" b="1">
                <a:solidFill>
                  <a:srgbClr val="F0F0F0"/>
                </a:solidFill>
                <a:latin typeface="Arial"/>
              </a:rPr>
              <a:t>•  </a:t>
            </a:r>
            <a:r>
              <a:rPr sz="1400" b="1">
                <a:solidFill>
                  <a:srgbClr val="F0F0F0"/>
                </a:solidFill>
                <a:latin typeface="Arial"/>
              </a:rPr>
              <a:t>Benefício: </a:t>
            </a:r>
            <a:r>
              <a:rPr sz="1400" b="0">
                <a:solidFill>
                  <a:srgbClr val="F0F0F0"/>
                </a:solidFill>
                <a:latin typeface="Arial"/>
              </a:rPr>
              <a:t>Facilidade para trocar componentes sem efeitos colaterais.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5943600" y="722376"/>
            <a:ext cx="5806440" cy="5532120"/>
          </a:xfrm>
          <a:prstGeom prst="roundRect">
            <a:avLst>
              <a:gd name="adj" fmla="val 3000"/>
            </a:avLst>
          </a:prstGeom>
          <a:solidFill>
            <a:srgbClr val="1C1C1C"/>
          </a:solidFill>
          <a:ln w="12700">
            <a:solidFill>
              <a:srgbClr val="DCB43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5989320" y="777240"/>
            <a:ext cx="57150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100" b="1">
                <a:solidFill>
                  <a:srgbClr val="DCB437"/>
                </a:solidFill>
                <a:latin typeface="Arial"/>
              </a:rPr>
              <a:t>Figura 2 - Alto vs Baixo Acoplamento</a:t>
            </a:r>
          </a:p>
        </p:txBody>
      </p:sp>
      <p:pic>
        <p:nvPicPr>
          <p:cNvPr id="15" name="Picture 14" descr="figura2_o_que_e_acoplamento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080760" y="1750087"/>
            <a:ext cx="5532120" cy="3357824"/>
          </a:xfrm>
          <a:prstGeom prst="rect">
            <a:avLst/>
          </a:prstGeom>
        </p:spPr>
      </p:pic>
      <p:sp>
        <p:nvSpPr>
          <p:cNvPr id="16" name="TextBox 15"/>
          <p:cNvSpPr txBox="1"/>
          <p:nvPr/>
        </p:nvSpPr>
        <p:spPr>
          <a:xfrm>
            <a:off x="5989320" y="5897880"/>
            <a:ext cx="57150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900">
                <a:solidFill>
                  <a:srgbClr val="B4B4B4"/>
                </a:solidFill>
                <a:latin typeface="Arial"/>
              </a:rPr>
              <a:t>Fonte: Elaboração dos Autores (2026)</a:t>
            </a:r>
          </a:p>
        </p:txBody>
      </p:sp>
    </p:spTree>
  </p:cSld>
  <p:clrMapOvr>
    <a:masterClrMapping/>
  </p:clrMapOvr>
  <p:transition spd="med">
    <p:fade/>
  </p:transition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999" cy="6858000"/>
          </a:xfrm>
          <a:prstGeom prst="rect">
            <a:avLst/>
          </a:prstGeom>
          <a:solidFill>
            <a:srgbClr val="0F0F0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logo_iff_crop_whit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65760" y="73152"/>
            <a:ext cx="1395412" cy="384048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2331720" y="27432"/>
            <a:ext cx="4389120" cy="47548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000" b="0">
                <a:solidFill>
                  <a:srgbClr val="B4B4B4"/>
                </a:solidFill>
                <a:latin typeface="Arial"/>
              </a:rPr>
              <a:t> |   </a:t>
            </a:r>
            <a:r>
              <a:rPr sz="2000" b="1">
                <a:solidFill>
                  <a:srgbClr val="F0F0F0"/>
                </a:solidFill>
                <a:latin typeface="Arial"/>
              </a:rPr>
              <a:t>Trade-off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852160" y="73152"/>
            <a:ext cx="59436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300" b="1">
                <a:solidFill>
                  <a:srgbClr val="F0F0F0"/>
                </a:solidFill>
                <a:latin typeface="Arial"/>
                <a:hlinkClick r:id="rId3"/>
              </a:rPr>
              <a:t>Análise de Software Orientada a Objetos</a:t>
            </a:r>
            <a:r>
              <a:rPr sz="1300">
                <a:solidFill>
                  <a:srgbClr val="B4B4B4"/>
                </a:solidFill>
                <a:latin typeface="Arial"/>
              </a:rPr>
              <a:t>   |   </a:t>
            </a:r>
            <a:r>
              <a:rPr sz="1300" b="1">
                <a:solidFill>
                  <a:srgbClr val="DCB437"/>
                </a:solidFill>
                <a:latin typeface="Arial"/>
                <a:hlinkClick r:id="rId4"/>
              </a:rPr>
              <a:t>Coesão &amp; Acoplamento</a:t>
            </a:r>
          </a:p>
        </p:txBody>
      </p:sp>
      <p:sp>
        <p:nvSpPr>
          <p:cNvPr id="6" name="Rectangle 5"/>
          <p:cNvSpPr/>
          <p:nvPr/>
        </p:nvSpPr>
        <p:spPr>
          <a:xfrm>
            <a:off x="0" y="566928"/>
            <a:ext cx="12191999" cy="13716"/>
          </a:xfrm>
          <a:prstGeom prst="rect">
            <a:avLst/>
          </a:prstGeom>
          <a:solidFill>
            <a:srgbClr val="DCB4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365760" y="658368"/>
            <a:ext cx="530352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 b="1">
                <a:solidFill>
                  <a:srgbClr val="DCB437"/>
                </a:solidFill>
                <a:latin typeface="Arial"/>
              </a:defRPr>
            </a:pPr>
            <a:r>
              <a:t>O Trade-off: God Class vs Nanoclasses</a:t>
            </a:r>
          </a:p>
        </p:txBody>
      </p:sp>
      <p:sp>
        <p:nvSpPr>
          <p:cNvPr id="8" name="Rectangle 7"/>
          <p:cNvSpPr/>
          <p:nvPr/>
        </p:nvSpPr>
        <p:spPr>
          <a:xfrm>
            <a:off x="0" y="6400800"/>
            <a:ext cx="12191999" cy="13716"/>
          </a:xfrm>
          <a:prstGeom prst="rect">
            <a:avLst/>
          </a:prstGeom>
          <a:solidFill>
            <a:srgbClr val="DCB4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365760" y="6446520"/>
            <a:ext cx="41148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000" b="1">
                <a:solidFill>
                  <a:srgbClr val="DCB437"/>
                </a:solidFill>
                <a:latin typeface="Arial"/>
              </a:rPr>
              <a:t>de Andrade, P. H. R.; Moraes, A.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114800" y="6446520"/>
            <a:ext cx="45720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000" b="1">
                <a:solidFill>
                  <a:srgbClr val="F0F0F0"/>
                </a:solidFill>
                <a:latin typeface="Arial"/>
                <a:hlinkClick r:id="rId4"/>
              </a:rPr>
              <a:t>Coesão &amp; Acoplamento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326880" y="6446520"/>
            <a:ext cx="246888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000" b="1">
                <a:solidFill>
                  <a:srgbClr val="F0F0F0"/>
                </a:solidFill>
                <a:latin typeface="Arial"/>
              </a:rPr>
              <a:t>5 / 12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57200" y="1188720"/>
            <a:ext cx="5120640" cy="5029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1600"/>
              </a:spcAft>
            </a:pPr>
            <a:r>
              <a:rPr sz="1400" b="1">
                <a:solidFill>
                  <a:srgbClr val="F05050"/>
                </a:solidFill>
                <a:latin typeface="Arial"/>
              </a:rPr>
              <a:t>•  </a:t>
            </a:r>
            <a:r>
              <a:rPr sz="1400" b="1">
                <a:solidFill>
                  <a:srgbClr val="F05050"/>
                </a:solidFill>
                <a:latin typeface="Arial"/>
              </a:rPr>
              <a:t>Extremo 1 (God Class): </a:t>
            </a:r>
            <a:r>
              <a:rPr sz="1400" b="0">
                <a:solidFill>
                  <a:srgbClr val="F0F0F0"/>
                </a:solidFill>
                <a:latin typeface="Arial"/>
              </a:rPr>
              <a:t>Uma superclasse que faz tudo; acoplamento zero, mas coesão nula.</a:t>
            </a:r>
          </a:p>
          <a:p>
            <a:pPr>
              <a:spcAft>
                <a:spcPts val="1600"/>
              </a:spcAft>
            </a:pPr>
            <a:r>
              <a:rPr sz="1400" b="1">
                <a:solidFill>
                  <a:srgbClr val="F05050"/>
                </a:solidFill>
                <a:latin typeface="Arial"/>
              </a:rPr>
              <a:t>•  </a:t>
            </a:r>
            <a:r>
              <a:rPr sz="1400" b="1">
                <a:solidFill>
                  <a:srgbClr val="F05050"/>
                </a:solidFill>
                <a:latin typeface="Arial"/>
              </a:rPr>
              <a:t>Extremo 2 (Nanoclasses): </a:t>
            </a:r>
            <a:r>
              <a:rPr sz="1400" b="0">
                <a:solidFill>
                  <a:srgbClr val="F0F0F0"/>
                </a:solidFill>
                <a:latin typeface="Arial"/>
              </a:rPr>
              <a:t>1 método por classe; coesão máxima, mas o acoplamento explode.</a:t>
            </a:r>
          </a:p>
          <a:p>
            <a:pPr>
              <a:spcAft>
                <a:spcPts val="1600"/>
              </a:spcAft>
            </a:pPr>
            <a:r>
              <a:rPr sz="1400" b="1">
                <a:solidFill>
                  <a:srgbClr val="50C878"/>
                </a:solidFill>
                <a:latin typeface="Arial"/>
              </a:rPr>
              <a:t>•  </a:t>
            </a:r>
            <a:r>
              <a:rPr sz="1400" b="1">
                <a:solidFill>
                  <a:srgbClr val="50C878"/>
                </a:solidFill>
                <a:latin typeface="Arial"/>
              </a:rPr>
              <a:t>O Ponto de Equilíbrio: </a:t>
            </a:r>
            <a:r>
              <a:rPr sz="1400" b="0">
                <a:solidFill>
                  <a:srgbClr val="F0F0F0"/>
                </a:solidFill>
                <a:latin typeface="Arial"/>
              </a:rPr>
              <a:t>Responsabilidade clara e classes enxutas.</a:t>
            </a:r>
          </a:p>
          <a:p>
            <a:pPr>
              <a:spcAft>
                <a:spcPts val="1600"/>
              </a:spcAft>
            </a:pPr>
            <a:r>
              <a:rPr sz="1400" b="1">
                <a:solidFill>
                  <a:srgbClr val="DCB437"/>
                </a:solidFill>
                <a:latin typeface="Arial"/>
              </a:rPr>
              <a:t>•  </a:t>
            </a:r>
            <a:r>
              <a:rPr sz="1400" b="1">
                <a:solidFill>
                  <a:srgbClr val="DCB437"/>
                </a:solidFill>
                <a:latin typeface="Arial"/>
              </a:rPr>
              <a:t>Meta: </a:t>
            </a:r>
            <a:r>
              <a:rPr sz="1400" b="0">
                <a:solidFill>
                  <a:srgbClr val="F0F0F0"/>
                </a:solidFill>
                <a:latin typeface="Arial"/>
              </a:rPr>
              <a:t>Alta Coesão (interna) e Baixo Acoplamento (externo).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5943600" y="722376"/>
            <a:ext cx="5806440" cy="5532120"/>
          </a:xfrm>
          <a:prstGeom prst="roundRect">
            <a:avLst>
              <a:gd name="adj" fmla="val 3000"/>
            </a:avLst>
          </a:prstGeom>
          <a:solidFill>
            <a:srgbClr val="1C1C1C"/>
          </a:solidFill>
          <a:ln w="12700">
            <a:solidFill>
              <a:srgbClr val="DCB43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5989320" y="777240"/>
            <a:ext cx="57150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100" b="1">
                <a:solidFill>
                  <a:srgbClr val="DCB437"/>
                </a:solidFill>
                <a:latin typeface="Arial"/>
              </a:rPr>
              <a:t>Figura 3 - Espectro de Complexidade do Design</a:t>
            </a:r>
          </a:p>
        </p:txBody>
      </p:sp>
      <p:pic>
        <p:nvPicPr>
          <p:cNvPr id="15" name="Picture 14" descr="figura3_tradeoff_design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080760" y="1750716"/>
            <a:ext cx="5532120" cy="3356567"/>
          </a:xfrm>
          <a:prstGeom prst="rect">
            <a:avLst/>
          </a:prstGeom>
        </p:spPr>
      </p:pic>
      <p:sp>
        <p:nvSpPr>
          <p:cNvPr id="16" name="TextBox 15"/>
          <p:cNvSpPr txBox="1"/>
          <p:nvPr/>
        </p:nvSpPr>
        <p:spPr>
          <a:xfrm>
            <a:off x="5989320" y="5897880"/>
            <a:ext cx="57150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900">
                <a:solidFill>
                  <a:srgbClr val="B4B4B4"/>
                </a:solidFill>
                <a:latin typeface="Arial"/>
              </a:rPr>
              <a:t>Fonte: Elaboração dos Autores (2026)</a:t>
            </a:r>
          </a:p>
        </p:txBody>
      </p:sp>
    </p:spTree>
  </p:cSld>
  <p:clrMapOvr>
    <a:masterClrMapping/>
  </p:clrMapOvr>
  <p:transition spd="med">
    <p:fade/>
  </p:transition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999" cy="6858000"/>
          </a:xfrm>
          <a:prstGeom prst="rect">
            <a:avLst/>
          </a:prstGeom>
          <a:solidFill>
            <a:srgbClr val="0F0F0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logo_iff_crop_whit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65760" y="73152"/>
            <a:ext cx="1395412" cy="384048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2331720" y="27432"/>
            <a:ext cx="4389120" cy="47548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000" b="0">
                <a:solidFill>
                  <a:srgbClr val="B4B4B4"/>
                </a:solidFill>
                <a:latin typeface="Arial"/>
              </a:rPr>
              <a:t> |   </a:t>
            </a:r>
            <a:r>
              <a:rPr sz="2000" b="1">
                <a:solidFill>
                  <a:srgbClr val="F0F0F0"/>
                </a:solidFill>
                <a:latin typeface="Arial"/>
              </a:rPr>
              <a:t>Paradigmas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852160" y="73152"/>
            <a:ext cx="59436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300" b="1">
                <a:solidFill>
                  <a:srgbClr val="F0F0F0"/>
                </a:solidFill>
                <a:latin typeface="Arial"/>
                <a:hlinkClick r:id="rId3"/>
              </a:rPr>
              <a:t>Análise de Software Orientada a Objetos</a:t>
            </a:r>
            <a:r>
              <a:rPr sz="1300">
                <a:solidFill>
                  <a:srgbClr val="B4B4B4"/>
                </a:solidFill>
                <a:latin typeface="Arial"/>
              </a:rPr>
              <a:t>   |   </a:t>
            </a:r>
            <a:r>
              <a:rPr sz="1300" b="1">
                <a:solidFill>
                  <a:srgbClr val="DCB437"/>
                </a:solidFill>
                <a:latin typeface="Arial"/>
                <a:hlinkClick r:id="rId4"/>
              </a:rPr>
              <a:t>Coesão &amp; Acoplamento</a:t>
            </a:r>
          </a:p>
        </p:txBody>
      </p:sp>
      <p:sp>
        <p:nvSpPr>
          <p:cNvPr id="6" name="Rectangle 5"/>
          <p:cNvSpPr/>
          <p:nvPr/>
        </p:nvSpPr>
        <p:spPr>
          <a:xfrm>
            <a:off x="0" y="566928"/>
            <a:ext cx="12191999" cy="13716"/>
          </a:xfrm>
          <a:prstGeom prst="rect">
            <a:avLst/>
          </a:prstGeom>
          <a:solidFill>
            <a:srgbClr val="DCB4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365760" y="658368"/>
            <a:ext cx="530352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 b="1">
                <a:solidFill>
                  <a:srgbClr val="DCB437"/>
                </a:solidFill>
                <a:latin typeface="Arial"/>
              </a:defRPr>
            </a:pPr>
            <a:r>
              <a:t>Coesão e Acoplamento nos Paradigmas</a:t>
            </a:r>
          </a:p>
        </p:txBody>
      </p:sp>
      <p:sp>
        <p:nvSpPr>
          <p:cNvPr id="8" name="Rectangle 7"/>
          <p:cNvSpPr/>
          <p:nvPr/>
        </p:nvSpPr>
        <p:spPr>
          <a:xfrm>
            <a:off x="0" y="6400800"/>
            <a:ext cx="12191999" cy="13716"/>
          </a:xfrm>
          <a:prstGeom prst="rect">
            <a:avLst/>
          </a:prstGeom>
          <a:solidFill>
            <a:srgbClr val="DCB4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365760" y="6446520"/>
            <a:ext cx="41148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000" b="1">
                <a:solidFill>
                  <a:srgbClr val="DCB437"/>
                </a:solidFill>
                <a:latin typeface="Arial"/>
              </a:rPr>
              <a:t>de Andrade, P. H. R.; Moraes, A.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114800" y="6446520"/>
            <a:ext cx="45720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000" b="1">
                <a:solidFill>
                  <a:srgbClr val="F0F0F0"/>
                </a:solidFill>
                <a:latin typeface="Arial"/>
                <a:hlinkClick r:id="rId4"/>
              </a:rPr>
              <a:t>Coesão &amp; Acoplamento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326880" y="6446520"/>
            <a:ext cx="246888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000" b="1">
                <a:solidFill>
                  <a:srgbClr val="F0F0F0"/>
                </a:solidFill>
                <a:latin typeface="Arial"/>
              </a:rPr>
              <a:t>6 / 12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57200" y="1188720"/>
            <a:ext cx="5120640" cy="5029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1600"/>
              </a:spcAft>
            </a:pPr>
            <a:r>
              <a:rPr sz="1400" b="1">
                <a:solidFill>
                  <a:srgbClr val="DCB437"/>
                </a:solidFill>
                <a:latin typeface="Arial"/>
              </a:rPr>
              <a:t>•  </a:t>
            </a:r>
            <a:r>
              <a:rPr sz="1400" b="1">
                <a:solidFill>
                  <a:srgbClr val="DCB437"/>
                </a:solidFill>
                <a:latin typeface="Arial"/>
              </a:rPr>
              <a:t>Estruturado: </a:t>
            </a:r>
            <a:r>
              <a:rPr sz="1400" b="0">
                <a:solidFill>
                  <a:srgbClr val="F0F0F0"/>
                </a:solidFill>
                <a:latin typeface="Arial"/>
              </a:rPr>
              <a:t>Funções dedicadas; controle via parâmetros (evitar variáveis globais).</a:t>
            </a:r>
          </a:p>
          <a:p>
            <a:pPr>
              <a:spcAft>
                <a:spcPts val="1600"/>
              </a:spcAft>
            </a:pPr>
            <a:r>
              <a:rPr sz="1400" b="1">
                <a:solidFill>
                  <a:srgbClr val="50C878"/>
                </a:solidFill>
                <a:latin typeface="Arial"/>
              </a:rPr>
              <a:t>•  </a:t>
            </a:r>
            <a:r>
              <a:rPr sz="1400" b="1">
                <a:solidFill>
                  <a:srgbClr val="50C878"/>
                </a:solidFill>
                <a:latin typeface="Arial"/>
              </a:rPr>
              <a:t>Orientado a Objetos: </a:t>
            </a:r>
            <a:r>
              <a:rPr sz="1400" b="0">
                <a:solidFill>
                  <a:srgbClr val="F0F0F0"/>
                </a:solidFill>
                <a:latin typeface="Arial"/>
              </a:rPr>
              <a:t>Encapsulamento de estado e métodos; isolamento por interfaces.</a:t>
            </a:r>
          </a:p>
          <a:p>
            <a:pPr>
              <a:spcAft>
                <a:spcPts val="1600"/>
              </a:spcAft>
            </a:pPr>
            <a:r>
              <a:rPr sz="1400" b="1">
                <a:solidFill>
                  <a:srgbClr val="DCB437"/>
                </a:solidFill>
                <a:latin typeface="Arial"/>
              </a:rPr>
              <a:t>•  </a:t>
            </a:r>
            <a:r>
              <a:rPr sz="1400" b="1">
                <a:solidFill>
                  <a:srgbClr val="DCB437"/>
                </a:solidFill>
                <a:latin typeface="Arial"/>
              </a:rPr>
              <a:t>Funcional: </a:t>
            </a:r>
            <a:r>
              <a:rPr sz="1400" b="0">
                <a:solidFill>
                  <a:srgbClr val="F0F0F0"/>
                </a:solidFill>
                <a:latin typeface="Arial"/>
              </a:rPr>
              <a:t>Funções puras (f: Entrada → Saída) e dados imutáveis (acoplamento nulo de estado).</a:t>
            </a:r>
          </a:p>
          <a:p>
            <a:pPr>
              <a:spcAft>
                <a:spcPts val="1600"/>
              </a:spcAft>
            </a:pPr>
            <a:r>
              <a:rPr sz="1400" b="1">
                <a:solidFill>
                  <a:srgbClr val="F0F0F0"/>
                </a:solidFill>
                <a:latin typeface="Arial"/>
              </a:rPr>
              <a:t>•  </a:t>
            </a:r>
            <a:r>
              <a:rPr sz="1400" b="1">
                <a:solidFill>
                  <a:srgbClr val="F0F0F0"/>
                </a:solidFill>
                <a:latin typeface="Arial"/>
              </a:rPr>
              <a:t>Conclusão: </a:t>
            </a:r>
            <a:r>
              <a:rPr sz="1400" b="0">
                <a:solidFill>
                  <a:srgbClr val="F0F0F0"/>
                </a:solidFill>
                <a:latin typeface="Arial"/>
              </a:rPr>
              <a:t>Princípios universais que mudam apenas de ferramenta.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5943600" y="722376"/>
            <a:ext cx="5806440" cy="5532120"/>
          </a:xfrm>
          <a:prstGeom prst="roundRect">
            <a:avLst>
              <a:gd name="adj" fmla="val 3000"/>
            </a:avLst>
          </a:prstGeom>
          <a:solidFill>
            <a:srgbClr val="1C1C1C"/>
          </a:solidFill>
          <a:ln w="12700">
            <a:solidFill>
              <a:srgbClr val="DCB43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5989320" y="777240"/>
            <a:ext cx="57150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100" b="1">
                <a:solidFill>
                  <a:srgbClr val="DCB437"/>
                </a:solidFill>
                <a:latin typeface="Arial"/>
              </a:rPr>
              <a:t>Figura 4 - Análise nos 3 Paradigmas</a:t>
            </a:r>
          </a:p>
        </p:txBody>
      </p:sp>
      <p:pic>
        <p:nvPicPr>
          <p:cNvPr id="15" name="Picture 14" descr="figura4_paradigmas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080760" y="1920240"/>
            <a:ext cx="5532120" cy="3017520"/>
          </a:xfrm>
          <a:prstGeom prst="rect">
            <a:avLst/>
          </a:prstGeom>
        </p:spPr>
      </p:pic>
      <p:sp>
        <p:nvSpPr>
          <p:cNvPr id="16" name="TextBox 15"/>
          <p:cNvSpPr txBox="1"/>
          <p:nvPr/>
        </p:nvSpPr>
        <p:spPr>
          <a:xfrm>
            <a:off x="5989320" y="5897880"/>
            <a:ext cx="57150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900">
                <a:solidFill>
                  <a:srgbClr val="B4B4B4"/>
                </a:solidFill>
                <a:latin typeface="Arial"/>
              </a:rPr>
              <a:t>Fonte: Elaboração dos Autores (2026)</a:t>
            </a:r>
          </a:p>
        </p:txBody>
      </p:sp>
    </p:spTree>
  </p:cSld>
  <p:clrMapOvr>
    <a:masterClrMapping/>
  </p:clrMapOvr>
  <p:transition spd="med">
    <p:fade/>
  </p:transition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999" cy="6858000"/>
          </a:xfrm>
          <a:prstGeom prst="rect">
            <a:avLst/>
          </a:prstGeom>
          <a:solidFill>
            <a:srgbClr val="0F0F0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logo_iff_crop_whit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65760" y="73152"/>
            <a:ext cx="1395412" cy="384048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2331720" y="27432"/>
            <a:ext cx="4389120" cy="47548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000" b="0">
                <a:solidFill>
                  <a:srgbClr val="B4B4B4"/>
                </a:solidFill>
                <a:latin typeface="Arial"/>
              </a:rPr>
              <a:t> |   </a:t>
            </a:r>
            <a:r>
              <a:rPr sz="2000" b="1">
                <a:solidFill>
                  <a:srgbClr val="F0F0F0"/>
                </a:solidFill>
                <a:latin typeface="Arial"/>
              </a:rPr>
              <a:t>Métricas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852160" y="73152"/>
            <a:ext cx="59436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300" b="1">
                <a:solidFill>
                  <a:srgbClr val="F0F0F0"/>
                </a:solidFill>
                <a:latin typeface="Arial"/>
                <a:hlinkClick r:id="rId3"/>
              </a:rPr>
              <a:t>Análise de Software Orientada a Objetos</a:t>
            </a:r>
            <a:r>
              <a:rPr sz="1300">
                <a:solidFill>
                  <a:srgbClr val="B4B4B4"/>
                </a:solidFill>
                <a:latin typeface="Arial"/>
              </a:rPr>
              <a:t>   |   </a:t>
            </a:r>
            <a:r>
              <a:rPr sz="1300" b="1">
                <a:solidFill>
                  <a:srgbClr val="DCB437"/>
                </a:solidFill>
                <a:latin typeface="Arial"/>
                <a:hlinkClick r:id="rId4"/>
              </a:rPr>
              <a:t>Coesão &amp; Acoplamento</a:t>
            </a:r>
          </a:p>
        </p:txBody>
      </p:sp>
      <p:sp>
        <p:nvSpPr>
          <p:cNvPr id="6" name="Rectangle 5"/>
          <p:cNvSpPr/>
          <p:nvPr/>
        </p:nvSpPr>
        <p:spPr>
          <a:xfrm>
            <a:off x="0" y="566928"/>
            <a:ext cx="12191999" cy="13716"/>
          </a:xfrm>
          <a:prstGeom prst="rect">
            <a:avLst/>
          </a:prstGeom>
          <a:solidFill>
            <a:srgbClr val="DCB4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365760" y="658368"/>
            <a:ext cx="530352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 b="1">
                <a:solidFill>
                  <a:srgbClr val="DCB437"/>
                </a:solidFill>
                <a:latin typeface="Arial"/>
              </a:defRPr>
            </a:pPr>
            <a:r>
              <a:t>Métricas Práticas de Qualidade (LCOM &amp; CBO)</a:t>
            </a:r>
          </a:p>
        </p:txBody>
      </p:sp>
      <p:sp>
        <p:nvSpPr>
          <p:cNvPr id="8" name="Rectangle 7"/>
          <p:cNvSpPr/>
          <p:nvPr/>
        </p:nvSpPr>
        <p:spPr>
          <a:xfrm>
            <a:off x="0" y="6400800"/>
            <a:ext cx="12191999" cy="13716"/>
          </a:xfrm>
          <a:prstGeom prst="rect">
            <a:avLst/>
          </a:prstGeom>
          <a:solidFill>
            <a:srgbClr val="DCB4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365760" y="6446520"/>
            <a:ext cx="41148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000" b="1">
                <a:solidFill>
                  <a:srgbClr val="DCB437"/>
                </a:solidFill>
                <a:latin typeface="Arial"/>
              </a:rPr>
              <a:t>de Andrade, P. H. R.; Moraes, A.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114800" y="6446520"/>
            <a:ext cx="45720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000" b="1">
                <a:solidFill>
                  <a:srgbClr val="F0F0F0"/>
                </a:solidFill>
                <a:latin typeface="Arial"/>
                <a:hlinkClick r:id="rId4"/>
              </a:rPr>
              <a:t>Coesão &amp; Acoplamento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326880" y="6446520"/>
            <a:ext cx="246888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000" b="1">
                <a:solidFill>
                  <a:srgbClr val="F0F0F0"/>
                </a:solidFill>
                <a:latin typeface="Arial"/>
              </a:rPr>
              <a:t>7 / 12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57200" y="1188720"/>
            <a:ext cx="5120640" cy="5029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1600"/>
              </a:spcAft>
            </a:pPr>
            <a:r>
              <a:rPr sz="1400" b="1">
                <a:solidFill>
                  <a:srgbClr val="DCB437"/>
                </a:solidFill>
                <a:latin typeface="Arial"/>
              </a:rPr>
              <a:t>•  </a:t>
            </a:r>
            <a:r>
              <a:rPr sz="1400" b="1">
                <a:solidFill>
                  <a:srgbClr val="DCB437"/>
                </a:solidFill>
                <a:latin typeface="Arial"/>
              </a:rPr>
              <a:t>LCOM (Falta de Coesão): </a:t>
            </a:r>
            <a:r>
              <a:rPr sz="1400" b="0">
                <a:solidFill>
                  <a:srgbClr val="F0F0F0"/>
                </a:solidFill>
                <a:latin typeface="Arial"/>
              </a:rPr>
              <a:t>Avalia se os métodos usam os mesmos atributos.</a:t>
            </a:r>
          </a:p>
          <a:p>
            <a:pPr>
              <a:spcAft>
                <a:spcPts val="1600"/>
              </a:spcAft>
            </a:pPr>
            <a:r>
              <a:rPr sz="1400" b="1">
                <a:solidFill>
                  <a:srgbClr val="F05050"/>
                </a:solidFill>
                <a:latin typeface="Arial"/>
              </a:rPr>
              <a:t>•  </a:t>
            </a:r>
            <a:r>
              <a:rPr sz="1400" b="1">
                <a:solidFill>
                  <a:srgbClr val="F05050"/>
                </a:solidFill>
                <a:latin typeface="Arial"/>
              </a:rPr>
              <a:t>LCOM Alto: </a:t>
            </a:r>
            <a:r>
              <a:rPr sz="1400" b="0">
                <a:solidFill>
                  <a:srgbClr val="F0F0F0"/>
                </a:solidFill>
                <a:latin typeface="Arial"/>
              </a:rPr>
              <a:t>Métodos isolados que não conversam → Dividir a classe!</a:t>
            </a:r>
          </a:p>
          <a:p>
            <a:pPr>
              <a:spcAft>
                <a:spcPts val="1600"/>
              </a:spcAft>
            </a:pPr>
            <a:r>
              <a:rPr sz="1400" b="1">
                <a:solidFill>
                  <a:srgbClr val="DCB437"/>
                </a:solidFill>
                <a:latin typeface="Arial"/>
              </a:rPr>
              <a:t>•  </a:t>
            </a:r>
            <a:r>
              <a:rPr sz="1400" b="1">
                <a:solidFill>
                  <a:srgbClr val="DCB437"/>
                </a:solidFill>
                <a:latin typeface="Arial"/>
              </a:rPr>
              <a:t>CBO (Acoplamento): </a:t>
            </a:r>
            <a:r>
              <a:rPr sz="1400" b="0">
                <a:solidFill>
                  <a:srgbClr val="F0F0F0"/>
                </a:solidFill>
                <a:latin typeface="Arial"/>
              </a:rPr>
              <a:t>Conta com quantas classes externas há dependência direta.</a:t>
            </a:r>
          </a:p>
          <a:p>
            <a:pPr>
              <a:spcAft>
                <a:spcPts val="1600"/>
              </a:spcAft>
            </a:pPr>
            <a:r>
              <a:rPr sz="1400" b="1">
                <a:solidFill>
                  <a:srgbClr val="F05050"/>
                </a:solidFill>
                <a:latin typeface="Arial"/>
              </a:rPr>
              <a:t>•  </a:t>
            </a:r>
            <a:r>
              <a:rPr sz="1400" b="1">
                <a:solidFill>
                  <a:srgbClr val="F05050"/>
                </a:solidFill>
                <a:latin typeface="Arial"/>
              </a:rPr>
              <a:t>CBO Alto: </a:t>
            </a:r>
            <a:r>
              <a:rPr sz="1400" b="0">
                <a:solidFill>
                  <a:srgbClr val="F0F0F0"/>
                </a:solidFill>
                <a:latin typeface="Arial"/>
              </a:rPr>
              <a:t>Classe sobrecarregada e rígida → Criar interfaces!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5943600" y="722376"/>
            <a:ext cx="5806440" cy="5532120"/>
          </a:xfrm>
          <a:prstGeom prst="roundRect">
            <a:avLst>
              <a:gd name="adj" fmla="val 3000"/>
            </a:avLst>
          </a:prstGeom>
          <a:solidFill>
            <a:srgbClr val="1C1C1C"/>
          </a:solidFill>
          <a:ln w="12700">
            <a:solidFill>
              <a:srgbClr val="DCB43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5989320" y="777240"/>
            <a:ext cx="57150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100" b="1">
                <a:solidFill>
                  <a:srgbClr val="DCB437"/>
                </a:solidFill>
                <a:latin typeface="Arial"/>
              </a:rPr>
              <a:t>Figura 5 - Leitura Prática de LCOM e CBO</a:t>
            </a:r>
          </a:p>
        </p:txBody>
      </p:sp>
      <p:pic>
        <p:nvPicPr>
          <p:cNvPr id="15" name="Picture 14" descr="figura5_metricas_qualidad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080760" y="1735493"/>
            <a:ext cx="5532120" cy="3387012"/>
          </a:xfrm>
          <a:prstGeom prst="rect">
            <a:avLst/>
          </a:prstGeom>
        </p:spPr>
      </p:pic>
      <p:sp>
        <p:nvSpPr>
          <p:cNvPr id="16" name="TextBox 15"/>
          <p:cNvSpPr txBox="1"/>
          <p:nvPr/>
        </p:nvSpPr>
        <p:spPr>
          <a:xfrm>
            <a:off x="5989320" y="5897880"/>
            <a:ext cx="57150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900">
                <a:solidFill>
                  <a:srgbClr val="B4B4B4"/>
                </a:solidFill>
                <a:latin typeface="Arial"/>
              </a:rPr>
              <a:t>Fonte: Elaboração dos Autores (2026)</a:t>
            </a:r>
          </a:p>
        </p:txBody>
      </p:sp>
    </p:spTree>
  </p:cSld>
  <p:clrMapOvr>
    <a:masterClrMapping/>
  </p:clrMapOvr>
  <p:transition spd="med">
    <p:fade/>
  </p:transition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999" cy="6858000"/>
          </a:xfrm>
          <a:prstGeom prst="rect">
            <a:avLst/>
          </a:prstGeom>
          <a:solidFill>
            <a:srgbClr val="0F0F0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logo_iff_crop_whit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65760" y="73152"/>
            <a:ext cx="1395412" cy="384048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2331720" y="27432"/>
            <a:ext cx="4389120" cy="47548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000" b="0">
                <a:solidFill>
                  <a:srgbClr val="B4B4B4"/>
                </a:solidFill>
                <a:latin typeface="Arial"/>
              </a:rPr>
              <a:t> |   </a:t>
            </a:r>
            <a:r>
              <a:rPr sz="2000" b="1">
                <a:solidFill>
                  <a:srgbClr val="F0F0F0"/>
                </a:solidFill>
                <a:latin typeface="Arial"/>
              </a:rPr>
              <a:t>Boas Práticas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852160" y="73152"/>
            <a:ext cx="59436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300" b="1">
                <a:solidFill>
                  <a:srgbClr val="F0F0F0"/>
                </a:solidFill>
                <a:latin typeface="Arial"/>
                <a:hlinkClick r:id="rId3"/>
              </a:rPr>
              <a:t>Análise de Software Orientada a Objetos</a:t>
            </a:r>
            <a:r>
              <a:rPr sz="1300">
                <a:solidFill>
                  <a:srgbClr val="B4B4B4"/>
                </a:solidFill>
                <a:latin typeface="Arial"/>
              </a:rPr>
              <a:t>   |   </a:t>
            </a:r>
            <a:r>
              <a:rPr sz="1300" b="1">
                <a:solidFill>
                  <a:srgbClr val="DCB437"/>
                </a:solidFill>
                <a:latin typeface="Arial"/>
                <a:hlinkClick r:id="rId4"/>
              </a:rPr>
              <a:t>Coesão &amp; Acoplamento</a:t>
            </a:r>
          </a:p>
        </p:txBody>
      </p:sp>
      <p:sp>
        <p:nvSpPr>
          <p:cNvPr id="6" name="Rectangle 5"/>
          <p:cNvSpPr/>
          <p:nvPr/>
        </p:nvSpPr>
        <p:spPr>
          <a:xfrm>
            <a:off x="0" y="566928"/>
            <a:ext cx="12191999" cy="13716"/>
          </a:xfrm>
          <a:prstGeom prst="rect">
            <a:avLst/>
          </a:prstGeom>
          <a:solidFill>
            <a:srgbClr val="DCB4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365760" y="658368"/>
            <a:ext cx="530352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 b="1">
                <a:solidFill>
                  <a:srgbClr val="DCB437"/>
                </a:solidFill>
                <a:latin typeface="Arial"/>
              </a:defRPr>
            </a:pPr>
            <a:r>
              <a:t>Boas Práticas de Desacoplamento</a:t>
            </a:r>
          </a:p>
        </p:txBody>
      </p:sp>
      <p:sp>
        <p:nvSpPr>
          <p:cNvPr id="8" name="Rectangle 7"/>
          <p:cNvSpPr/>
          <p:nvPr/>
        </p:nvSpPr>
        <p:spPr>
          <a:xfrm>
            <a:off x="0" y="6400800"/>
            <a:ext cx="12191999" cy="13716"/>
          </a:xfrm>
          <a:prstGeom prst="rect">
            <a:avLst/>
          </a:prstGeom>
          <a:solidFill>
            <a:srgbClr val="DCB4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365760" y="6446520"/>
            <a:ext cx="41148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000" b="1">
                <a:solidFill>
                  <a:srgbClr val="DCB437"/>
                </a:solidFill>
                <a:latin typeface="Arial"/>
              </a:rPr>
              <a:t>de Andrade, P. H. R.; Moraes, A.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114800" y="6446520"/>
            <a:ext cx="45720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000" b="1">
                <a:solidFill>
                  <a:srgbClr val="F0F0F0"/>
                </a:solidFill>
                <a:latin typeface="Arial"/>
                <a:hlinkClick r:id="rId4"/>
              </a:rPr>
              <a:t>Coesão &amp; Acoplamento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326880" y="6446520"/>
            <a:ext cx="246888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000" b="1">
                <a:solidFill>
                  <a:srgbClr val="F0F0F0"/>
                </a:solidFill>
                <a:latin typeface="Arial"/>
              </a:rPr>
              <a:t>8 / 12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57200" y="1188720"/>
            <a:ext cx="5120640" cy="5029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1600"/>
              </a:spcAft>
            </a:pPr>
            <a:r>
              <a:rPr sz="1400" b="1">
                <a:solidFill>
                  <a:srgbClr val="50C878"/>
                </a:solidFill>
                <a:latin typeface="Arial"/>
              </a:rPr>
              <a:t>•  </a:t>
            </a:r>
            <a:r>
              <a:rPr sz="1400" b="1">
                <a:solidFill>
                  <a:srgbClr val="50C878"/>
                </a:solidFill>
                <a:latin typeface="Arial"/>
              </a:rPr>
              <a:t>Programar para Interfaces: </a:t>
            </a:r>
            <a:r>
              <a:rPr sz="1400" b="0">
                <a:solidFill>
                  <a:srgbClr val="F0F0F0"/>
                </a:solidFill>
                <a:latin typeface="Arial"/>
              </a:rPr>
              <a:t>Módulos dependem de contratos, não de implementações.</a:t>
            </a:r>
          </a:p>
          <a:p>
            <a:pPr>
              <a:spcAft>
                <a:spcPts val="1600"/>
              </a:spcAft>
            </a:pPr>
            <a:r>
              <a:rPr sz="1400" b="1">
                <a:solidFill>
                  <a:srgbClr val="DCB437"/>
                </a:solidFill>
                <a:latin typeface="Arial"/>
              </a:rPr>
              <a:t>•  </a:t>
            </a:r>
            <a:r>
              <a:rPr sz="1400" b="1">
                <a:solidFill>
                  <a:srgbClr val="DCB437"/>
                </a:solidFill>
                <a:latin typeface="Arial"/>
              </a:rPr>
              <a:t>Injeção de Dependência: </a:t>
            </a:r>
            <a:r>
              <a:rPr sz="1400" b="0">
                <a:solidFill>
                  <a:srgbClr val="F0F0F0"/>
                </a:solidFill>
                <a:latin typeface="Arial"/>
              </a:rPr>
              <a:t>Receber conexões de fora em vez de instanciá-las internamente.</a:t>
            </a:r>
          </a:p>
          <a:p>
            <a:pPr>
              <a:spcAft>
                <a:spcPts val="1600"/>
              </a:spcAft>
            </a:pPr>
            <a:r>
              <a:rPr sz="1400" b="1">
                <a:solidFill>
                  <a:srgbClr val="50C878"/>
                </a:solidFill>
                <a:latin typeface="Arial"/>
              </a:rPr>
              <a:t>•  </a:t>
            </a:r>
            <a:r>
              <a:rPr sz="1400" b="1">
                <a:solidFill>
                  <a:srgbClr val="50C878"/>
                </a:solidFill>
                <a:latin typeface="Arial"/>
              </a:rPr>
              <a:t>Princípio de Responsabilidade Única (SRP): </a:t>
            </a:r>
            <a:r>
              <a:rPr sz="1400" b="0">
                <a:solidFill>
                  <a:srgbClr val="F0F0F0"/>
                </a:solidFill>
                <a:latin typeface="Arial"/>
              </a:rPr>
              <a:t>Uma única razão para mudar.</a:t>
            </a:r>
          </a:p>
          <a:p>
            <a:pPr>
              <a:spcAft>
                <a:spcPts val="1600"/>
              </a:spcAft>
            </a:pPr>
            <a:r>
              <a:rPr sz="1400" b="1">
                <a:solidFill>
                  <a:srgbClr val="F0F0F0"/>
                </a:solidFill>
                <a:latin typeface="Arial"/>
              </a:rPr>
              <a:t>•  </a:t>
            </a:r>
            <a:r>
              <a:rPr sz="1400" b="1">
                <a:solidFill>
                  <a:srgbClr val="F0F0F0"/>
                </a:solidFill>
                <a:latin typeface="Arial"/>
              </a:rPr>
              <a:t>Resultado: </a:t>
            </a:r>
            <a:r>
              <a:rPr sz="1400" b="0">
                <a:solidFill>
                  <a:srgbClr val="F0F0F0"/>
                </a:solidFill>
                <a:latin typeface="Arial"/>
              </a:rPr>
              <a:t>Facilidade total de testes unitários com *mocks*.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5943600" y="722376"/>
            <a:ext cx="5806440" cy="5532120"/>
          </a:xfrm>
          <a:prstGeom prst="roundRect">
            <a:avLst>
              <a:gd name="adj" fmla="val 3000"/>
            </a:avLst>
          </a:prstGeom>
          <a:solidFill>
            <a:srgbClr val="1C1C1C"/>
          </a:solidFill>
          <a:ln w="12700">
            <a:solidFill>
              <a:srgbClr val="DCB43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5989320" y="777240"/>
            <a:ext cx="57150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100" b="1">
                <a:solidFill>
                  <a:srgbClr val="DCB437"/>
                </a:solidFill>
                <a:latin typeface="Arial"/>
              </a:rPr>
              <a:t>Figura 6 - Inversão de Dependência e Contratos</a:t>
            </a:r>
          </a:p>
        </p:txBody>
      </p:sp>
      <p:pic>
        <p:nvPicPr>
          <p:cNvPr id="15" name="Picture 14" descr="figura6_boas_praticas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080760" y="1750716"/>
            <a:ext cx="5532120" cy="3356567"/>
          </a:xfrm>
          <a:prstGeom prst="rect">
            <a:avLst/>
          </a:prstGeom>
        </p:spPr>
      </p:pic>
      <p:sp>
        <p:nvSpPr>
          <p:cNvPr id="16" name="TextBox 15"/>
          <p:cNvSpPr txBox="1"/>
          <p:nvPr/>
        </p:nvSpPr>
        <p:spPr>
          <a:xfrm>
            <a:off x="5989320" y="5897880"/>
            <a:ext cx="57150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900">
                <a:solidFill>
                  <a:srgbClr val="B4B4B4"/>
                </a:solidFill>
                <a:latin typeface="Arial"/>
              </a:rPr>
              <a:t>Fonte: Elaboração dos Autores (2026)</a:t>
            </a:r>
          </a:p>
        </p:txBody>
      </p:sp>
    </p:spTree>
  </p:cSld>
  <p:clrMapOvr>
    <a:masterClrMapping/>
  </p:clrMapOvr>
  <p:transition spd="med">
    <p:fade/>
  </p:transition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999" cy="6858000"/>
          </a:xfrm>
          <a:prstGeom prst="rect">
            <a:avLst/>
          </a:prstGeom>
          <a:solidFill>
            <a:srgbClr val="0F0F0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logo_iff_crop_whit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65760" y="73152"/>
            <a:ext cx="1395412" cy="384048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2331720" y="27432"/>
            <a:ext cx="4389120" cy="47548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000" b="0">
                <a:solidFill>
                  <a:srgbClr val="B4B4B4"/>
                </a:solidFill>
                <a:latin typeface="Arial"/>
              </a:rPr>
              <a:t> |   </a:t>
            </a:r>
            <a:r>
              <a:rPr sz="2000" b="1">
                <a:solidFill>
                  <a:srgbClr val="F0F0F0"/>
                </a:solidFill>
                <a:latin typeface="Arial"/>
              </a:rPr>
              <a:t>Conclusões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852160" y="73152"/>
            <a:ext cx="59436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300" b="1">
                <a:solidFill>
                  <a:srgbClr val="F0F0F0"/>
                </a:solidFill>
                <a:latin typeface="Arial"/>
                <a:hlinkClick r:id="rId3"/>
              </a:rPr>
              <a:t>Análise de Software Orientada a Objetos</a:t>
            </a:r>
            <a:r>
              <a:rPr sz="1300">
                <a:solidFill>
                  <a:srgbClr val="B4B4B4"/>
                </a:solidFill>
                <a:latin typeface="Arial"/>
              </a:rPr>
              <a:t>   |   </a:t>
            </a:r>
            <a:r>
              <a:rPr sz="1300" b="1">
                <a:solidFill>
                  <a:srgbClr val="DCB437"/>
                </a:solidFill>
                <a:latin typeface="Arial"/>
                <a:hlinkClick r:id="rId4"/>
              </a:rPr>
              <a:t>Coesão &amp; Acoplamento</a:t>
            </a:r>
          </a:p>
        </p:txBody>
      </p:sp>
      <p:sp>
        <p:nvSpPr>
          <p:cNvPr id="6" name="Rectangle 5"/>
          <p:cNvSpPr/>
          <p:nvPr/>
        </p:nvSpPr>
        <p:spPr>
          <a:xfrm>
            <a:off x="0" y="566928"/>
            <a:ext cx="12191999" cy="13716"/>
          </a:xfrm>
          <a:prstGeom prst="rect">
            <a:avLst/>
          </a:prstGeom>
          <a:solidFill>
            <a:srgbClr val="DCB4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365760" y="658368"/>
            <a:ext cx="530352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 b="1">
                <a:solidFill>
                  <a:srgbClr val="DCB437"/>
                </a:solidFill>
                <a:latin typeface="Arial"/>
              </a:defRPr>
            </a:pPr>
            <a:r>
              <a:t>Síntese e Diretrizes Arquiteturais</a:t>
            </a:r>
          </a:p>
        </p:txBody>
      </p:sp>
      <p:sp>
        <p:nvSpPr>
          <p:cNvPr id="8" name="Rectangle 7"/>
          <p:cNvSpPr/>
          <p:nvPr/>
        </p:nvSpPr>
        <p:spPr>
          <a:xfrm>
            <a:off x="0" y="6400800"/>
            <a:ext cx="12191999" cy="13716"/>
          </a:xfrm>
          <a:prstGeom prst="rect">
            <a:avLst/>
          </a:prstGeom>
          <a:solidFill>
            <a:srgbClr val="DCB4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365760" y="6446520"/>
            <a:ext cx="41148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000" b="1">
                <a:solidFill>
                  <a:srgbClr val="DCB437"/>
                </a:solidFill>
                <a:latin typeface="Arial"/>
              </a:rPr>
              <a:t>de Andrade, P. H. R.; Moraes, A.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114800" y="6446520"/>
            <a:ext cx="45720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000" b="1">
                <a:solidFill>
                  <a:srgbClr val="F0F0F0"/>
                </a:solidFill>
                <a:latin typeface="Arial"/>
                <a:hlinkClick r:id="rId4"/>
              </a:rPr>
              <a:t>Coesão &amp; Acoplamento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326880" y="6446520"/>
            <a:ext cx="246888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000" b="1">
                <a:solidFill>
                  <a:srgbClr val="F0F0F0"/>
                </a:solidFill>
                <a:latin typeface="Arial"/>
              </a:rPr>
              <a:t>9 / 12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57200" y="1188720"/>
            <a:ext cx="5120640" cy="5029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1600"/>
              </a:spcAft>
            </a:pPr>
            <a:r>
              <a:rPr sz="1400" b="1">
                <a:solidFill>
                  <a:srgbClr val="50C878"/>
                </a:solidFill>
                <a:latin typeface="Arial"/>
              </a:rPr>
              <a:t>•  </a:t>
            </a:r>
            <a:r>
              <a:rPr sz="1400" b="1">
                <a:solidFill>
                  <a:srgbClr val="50C878"/>
                </a:solidFill>
                <a:latin typeface="Arial"/>
              </a:rPr>
              <a:t>Métricas como Guia: </a:t>
            </a:r>
            <a:r>
              <a:rPr sz="1400" b="0">
                <a:solidFill>
                  <a:srgbClr val="F0F0F0"/>
                </a:solidFill>
                <a:latin typeface="Arial"/>
              </a:rPr>
              <a:t>LCOM e CBO servem de termômetro para refatoração preventiva.</a:t>
            </a:r>
          </a:p>
          <a:p>
            <a:pPr>
              <a:spcAft>
                <a:spcPts val="1600"/>
              </a:spcAft>
            </a:pPr>
            <a:r>
              <a:rPr sz="1400" b="1">
                <a:solidFill>
                  <a:srgbClr val="DCB437"/>
                </a:solidFill>
                <a:latin typeface="Arial"/>
              </a:rPr>
              <a:t>•  </a:t>
            </a:r>
            <a:r>
              <a:rPr sz="1400" b="1">
                <a:solidFill>
                  <a:srgbClr val="DCB437"/>
                </a:solidFill>
                <a:latin typeface="Arial"/>
              </a:rPr>
              <a:t>Equilíbrio Constante: </a:t>
            </a:r>
            <a:r>
              <a:rPr sz="1400" b="0">
                <a:solidFill>
                  <a:srgbClr val="F0F0F0"/>
                </a:solidFill>
                <a:latin typeface="Arial"/>
              </a:rPr>
              <a:t>Nem classes gigantes, nem classes com 1 linha só.</a:t>
            </a:r>
          </a:p>
          <a:p>
            <a:pPr>
              <a:spcAft>
                <a:spcPts val="1600"/>
              </a:spcAft>
            </a:pPr>
            <a:r>
              <a:rPr sz="1400" b="1">
                <a:solidFill>
                  <a:srgbClr val="50C878"/>
                </a:solidFill>
                <a:latin typeface="Arial"/>
              </a:rPr>
              <a:t>•  </a:t>
            </a:r>
            <a:r>
              <a:rPr sz="1400" b="1">
                <a:solidFill>
                  <a:srgbClr val="50C878"/>
                </a:solidFill>
                <a:latin typeface="Arial"/>
              </a:rPr>
              <a:t>Sustentabilidade: </a:t>
            </a:r>
            <a:r>
              <a:rPr sz="1400" b="0">
                <a:solidFill>
                  <a:srgbClr val="F0F0F0"/>
                </a:solidFill>
                <a:latin typeface="Arial"/>
              </a:rPr>
              <a:t>Código limpo evolui rápido sem quebrar o sistema.</a:t>
            </a:r>
          </a:p>
          <a:p>
            <a:pPr>
              <a:spcAft>
                <a:spcPts val="1600"/>
              </a:spcAft>
            </a:pPr>
            <a:r>
              <a:rPr sz="1400" b="1">
                <a:solidFill>
                  <a:srgbClr val="DCB437"/>
                </a:solidFill>
                <a:latin typeface="Arial"/>
              </a:rPr>
              <a:t>•  </a:t>
            </a:r>
            <a:r>
              <a:rPr sz="1400" b="1">
                <a:solidFill>
                  <a:srgbClr val="DCB437"/>
                </a:solidFill>
                <a:latin typeface="Arial"/>
              </a:rPr>
              <a:t>Objetivo Final: </a:t>
            </a:r>
            <a:r>
              <a:rPr sz="1400" b="0">
                <a:solidFill>
                  <a:srgbClr val="F0F0F0"/>
                </a:solidFill>
                <a:latin typeface="Arial"/>
              </a:rPr>
              <a:t>Software sustentável, testável e desacoplado.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5943600" y="722376"/>
            <a:ext cx="5806440" cy="5532120"/>
          </a:xfrm>
          <a:prstGeom prst="roundRect">
            <a:avLst>
              <a:gd name="adj" fmla="val 3000"/>
            </a:avLst>
          </a:prstGeom>
          <a:solidFill>
            <a:srgbClr val="1C1C1C"/>
          </a:solidFill>
          <a:ln w="12700">
            <a:solidFill>
              <a:srgbClr val="DCB43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5989320" y="777240"/>
            <a:ext cx="57150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100" b="1">
                <a:solidFill>
                  <a:srgbClr val="DCB437"/>
                </a:solidFill>
                <a:latin typeface="Arial"/>
              </a:rPr>
              <a:t>Figura 7 - Síntese da Arquitetura Limpa</a:t>
            </a:r>
          </a:p>
        </p:txBody>
      </p:sp>
      <p:pic>
        <p:nvPicPr>
          <p:cNvPr id="15" name="Picture 14" descr="figura6_boas_praticas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080760" y="1750716"/>
            <a:ext cx="5532120" cy="3356567"/>
          </a:xfrm>
          <a:prstGeom prst="rect">
            <a:avLst/>
          </a:prstGeom>
        </p:spPr>
      </p:pic>
      <p:sp>
        <p:nvSpPr>
          <p:cNvPr id="16" name="TextBox 15"/>
          <p:cNvSpPr txBox="1"/>
          <p:nvPr/>
        </p:nvSpPr>
        <p:spPr>
          <a:xfrm>
            <a:off x="5989320" y="5897880"/>
            <a:ext cx="57150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900">
                <a:solidFill>
                  <a:srgbClr val="B4B4B4"/>
                </a:solidFill>
                <a:latin typeface="Arial"/>
              </a:rPr>
              <a:t>Fonte: Elaboração dos Autores (2026)</a:t>
            </a:r>
          </a:p>
        </p:txBody>
      </p:sp>
    </p:spTree>
  </p:cSld>
  <p:clrMapOvr>
    <a:masterClrMapping/>
  </p:clrMapOvr>
  <p:transition spd="med">
    <p:fade/>
  </p:transition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999" cy="6858000"/>
          </a:xfrm>
          <a:prstGeom prst="rect">
            <a:avLst/>
          </a:prstGeom>
          <a:solidFill>
            <a:srgbClr val="0F0F0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logo_iff_crop_whit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65760" y="73152"/>
            <a:ext cx="1395412" cy="384048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2331720" y="27432"/>
            <a:ext cx="4389120" cy="47548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000" b="0">
                <a:solidFill>
                  <a:srgbClr val="B4B4B4"/>
                </a:solidFill>
                <a:latin typeface="Arial"/>
              </a:rPr>
              <a:t> |   </a:t>
            </a:r>
            <a:r>
              <a:rPr sz="2000" b="1">
                <a:solidFill>
                  <a:srgbClr val="F0F0F0"/>
                </a:solidFill>
                <a:latin typeface="Arial"/>
              </a:rPr>
              <a:t>Referências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852160" y="73152"/>
            <a:ext cx="59436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300" b="1">
                <a:solidFill>
                  <a:srgbClr val="F0F0F0"/>
                </a:solidFill>
                <a:latin typeface="Arial"/>
                <a:hlinkClick r:id="rId3"/>
              </a:rPr>
              <a:t>Análise de Software Orientada a Objetos</a:t>
            </a:r>
            <a:r>
              <a:rPr sz="1300">
                <a:solidFill>
                  <a:srgbClr val="B4B4B4"/>
                </a:solidFill>
                <a:latin typeface="Arial"/>
              </a:rPr>
              <a:t>   |   </a:t>
            </a:r>
            <a:r>
              <a:rPr sz="1300" b="1">
                <a:solidFill>
                  <a:srgbClr val="DCB437"/>
                </a:solidFill>
                <a:latin typeface="Arial"/>
                <a:hlinkClick r:id="rId4"/>
              </a:rPr>
              <a:t>Coesão &amp; Acoplamento</a:t>
            </a:r>
          </a:p>
        </p:txBody>
      </p:sp>
      <p:sp>
        <p:nvSpPr>
          <p:cNvPr id="6" name="Rectangle 5"/>
          <p:cNvSpPr/>
          <p:nvPr/>
        </p:nvSpPr>
        <p:spPr>
          <a:xfrm>
            <a:off x="0" y="566928"/>
            <a:ext cx="12191999" cy="13716"/>
          </a:xfrm>
          <a:prstGeom prst="rect">
            <a:avLst/>
          </a:prstGeom>
          <a:solidFill>
            <a:srgbClr val="DCB4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365760" y="658368"/>
            <a:ext cx="530352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 b="1">
                <a:solidFill>
                  <a:srgbClr val="DCB437"/>
                </a:solidFill>
                <a:latin typeface="Arial"/>
              </a:defRPr>
            </a:pPr>
            <a:r>
              <a:t>Referências Bibliográficas</a:t>
            </a:r>
          </a:p>
        </p:txBody>
      </p:sp>
      <p:sp>
        <p:nvSpPr>
          <p:cNvPr id="8" name="Rectangle 7"/>
          <p:cNvSpPr/>
          <p:nvPr/>
        </p:nvSpPr>
        <p:spPr>
          <a:xfrm>
            <a:off x="0" y="6400800"/>
            <a:ext cx="12191999" cy="13716"/>
          </a:xfrm>
          <a:prstGeom prst="rect">
            <a:avLst/>
          </a:prstGeom>
          <a:solidFill>
            <a:srgbClr val="DCB4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365760" y="6446520"/>
            <a:ext cx="41148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000" b="1">
                <a:solidFill>
                  <a:srgbClr val="DCB437"/>
                </a:solidFill>
                <a:latin typeface="Arial"/>
              </a:rPr>
              <a:t>de Andrade, P. H. R.; Moraes, A.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114800" y="6446520"/>
            <a:ext cx="45720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000" b="1">
                <a:solidFill>
                  <a:srgbClr val="F0F0F0"/>
                </a:solidFill>
                <a:latin typeface="Arial"/>
                <a:hlinkClick r:id="rId4"/>
              </a:rPr>
              <a:t>Coesão &amp; Acoplamento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326880" y="6446520"/>
            <a:ext cx="246888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000" b="1">
                <a:solidFill>
                  <a:srgbClr val="F0F0F0"/>
                </a:solidFill>
                <a:latin typeface="Arial"/>
              </a:rPr>
              <a:t>10 / 12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31520" y="1188720"/>
            <a:ext cx="10725912" cy="5029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1400"/>
              </a:spcAft>
            </a:pPr>
            <a:r>
              <a:rPr sz="1350" b="1">
                <a:solidFill>
                  <a:srgbClr val="DCB437"/>
                </a:solidFill>
                <a:latin typeface="Arial"/>
              </a:rPr>
              <a:t>[1]  </a:t>
            </a:r>
            <a:r>
              <a:rPr sz="1350">
                <a:solidFill>
                  <a:srgbClr val="F0F0F0"/>
                </a:solidFill>
                <a:latin typeface="Arial"/>
              </a:rPr>
              <a:t>LARMAN, Craig. Utilizando UML e Padrões: Uma Introdução à Análise e ao Projeto Orientados a Objetos. 3. ed. Porto Alegre: Bookman, 2007.</a:t>
            </a:r>
          </a:p>
          <a:p>
            <a:pPr>
              <a:spcAft>
                <a:spcPts val="1400"/>
              </a:spcAft>
            </a:pPr>
            <a:r>
              <a:rPr sz="1350" b="1">
                <a:solidFill>
                  <a:srgbClr val="DCB437"/>
                </a:solidFill>
                <a:latin typeface="Arial"/>
              </a:rPr>
              <a:t>[2]  </a:t>
            </a:r>
            <a:r>
              <a:rPr sz="1350">
                <a:solidFill>
                  <a:srgbClr val="F0F0F0"/>
                </a:solidFill>
                <a:latin typeface="Arial"/>
              </a:rPr>
              <a:t>VALENTE, Marco Tulio. Engenharia de Software Moderna: Princípios e Práticas para Desenvolvimento de Software com Produtividade. Editora UFMG, 2020.</a:t>
            </a:r>
          </a:p>
          <a:p>
            <a:pPr>
              <a:spcAft>
                <a:spcPts val="1400"/>
              </a:spcAft>
            </a:pPr>
            <a:r>
              <a:rPr sz="1350" b="1">
                <a:solidFill>
                  <a:srgbClr val="DCB437"/>
                </a:solidFill>
                <a:latin typeface="Arial"/>
              </a:rPr>
              <a:t>[3]  </a:t>
            </a:r>
            <a:r>
              <a:rPr sz="1350">
                <a:solidFill>
                  <a:srgbClr val="F0F0F0"/>
                </a:solidFill>
                <a:latin typeface="Arial"/>
              </a:rPr>
              <a:t>MARTIN, Robert C. Clean Architecture: A Craftsman's Guide to Software Structure and Design. Prentice Hall, 2017.</a:t>
            </a:r>
          </a:p>
          <a:p>
            <a:pPr>
              <a:spcAft>
                <a:spcPts val="1400"/>
              </a:spcAft>
            </a:pPr>
            <a:r>
              <a:rPr sz="1350" b="1">
                <a:solidFill>
                  <a:srgbClr val="DCB437"/>
                </a:solidFill>
                <a:latin typeface="Arial"/>
              </a:rPr>
              <a:t>[4]  </a:t>
            </a:r>
            <a:r>
              <a:rPr sz="1350">
                <a:solidFill>
                  <a:srgbClr val="F0F0F0"/>
                </a:solidFill>
                <a:latin typeface="Arial"/>
              </a:rPr>
              <a:t>CHIDAMBER, S. R.; KEMERER, C. F. A Metrics Suite for Object Oriented Design. IEEE Transactions on Software Engineering, 1994.</a:t>
            </a:r>
          </a:p>
        </p:txBody>
      </p:sp>
    </p:spTree>
  </p:cSld>
  <p:clrMapOvr>
    <a:masterClrMapping/>
  </p:clrMapOvr>
  <p:transition spd="med">
    <p:fade/>
  </p:transition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999" cy="6858000"/>
          </a:xfrm>
          <a:prstGeom prst="rect">
            <a:avLst/>
          </a:prstGeom>
          <a:solidFill>
            <a:srgbClr val="0F0F0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137160"/>
            <a:ext cx="10728959" cy="1188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200" b="1">
                <a:solidFill>
                  <a:srgbClr val="DCB437"/>
                </a:solidFill>
                <a:latin typeface="Arial"/>
              </a:rPr>
              <a:t>Obrigado!</a:t>
            </a:r>
            <a:r>
              <a:rPr sz="1800" b="1">
                <a:solidFill>
                  <a:srgbClr val="DCB437"/>
                </a:solidFill>
                <a:latin typeface="Arial"/>
              </a:rPr>
              <a:t>   —   Perguntas &amp; Discussão</a:t>
            </a:r>
          </a:p>
          <a:p>
            <a:pPr algn="ctr">
              <a:spcBef>
                <a:spcPts val="200"/>
              </a:spcBef>
            </a:pPr>
            <a:r>
              <a:rPr sz="1300" b="1">
                <a:solidFill>
                  <a:srgbClr val="DCB437"/>
                </a:solidFill>
                <a:latin typeface="Arial"/>
              </a:rPr>
              <a:t>Contatos: pedroiff0@gmail.com  |  amanda.moraes@iff.edu.br</a:t>
            </a:r>
          </a:p>
        </p:txBody>
      </p:sp>
      <p:pic>
        <p:nvPicPr>
          <p:cNvPr id="4" name="Picture 3" descr="qrcode_iff_dark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535679" y="1188720"/>
            <a:ext cx="5120640" cy="5120640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731520" y="6263640"/>
            <a:ext cx="10728959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200" b="1">
                <a:solidFill>
                  <a:srgbClr val="DCB437"/>
                </a:solidFill>
                <a:latin typeface="Arial"/>
                <a:hlinkClick r:id="rId3"/>
              </a:rPr>
              <a:t>https://www.phrandrade.com/pt-br/resource/engenharia-de-computação/6-periodo/analise-de-software-orientada-a-objetos/anotações/atividades/trabalho---coesão-e-acoplamento---asoo/</a:t>
            </a:r>
          </a:p>
        </p:txBody>
      </p:sp>
    </p:spTree>
  </p:cSld>
  <p:clrMapOvr>
    <a:masterClrMapping/>
  </p:clrMapOvr>
  <p:transition spd="med">
    <p:fade/>
  </p:transition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pillars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999" cy="6858000"/>
          </a:xfrm>
          <a:prstGeom prst="rect">
            <a:avLst/>
          </a:prstGeom>
        </p:spPr>
      </p:pic>
    </p:spTree>
  </p:cSld>
  <p:clrMapOvr>
    <a:masterClrMapping/>
  </p:clrMapOvr>
  <p:transition spd="med">
    <p:fade/>
  </p:transition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DCB437"/>
      </a:dk2>
      <a:lt2>
        <a:srgbClr val="EEECE1"/>
      </a:lt2>
      <a:accent1>
        <a:srgbClr val="DCB437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DCB437"/>
      </a:hlink>
      <a:folHlink>
        <a:srgbClr val="DCB437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