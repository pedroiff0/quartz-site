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9236" y="274320"/>
            <a:ext cx="5813526" cy="1600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057400"/>
            <a:ext cx="1072895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DCB437"/>
                </a:solidFill>
                <a:latin typeface="Arial"/>
                <a:hlinkClick r:id="rId3"/>
              </a:rPr>
              <a:t>ANÁLISE DE SOFTWARE ORIENTADA A OBJETOS — 6º PERÍODO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728959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DCB437"/>
                </a:solidFill>
                <a:latin typeface="Arial"/>
                <a:hlinkClick r:id="rId4"/>
              </a:rPr>
              <a:t>Coesão &amp; Acoplamento</a:t>
            </a:r>
          </a:p>
          <a:p>
            <a:pPr algn="ctr">
              <a:spcBef>
                <a:spcPts val="400"/>
              </a:spcBef>
            </a:pPr>
            <a:r>
              <a:rPr sz="1500">
                <a:solidFill>
                  <a:srgbClr val="F0F0F0"/>
                </a:solidFill>
                <a:latin typeface="Arial"/>
              </a:rPr>
              <a:t>Fundamentos de Design, Paradigmas e Métricas Práticas de Qualidade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69080"/>
            <a:ext cx="10728959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0F0F0"/>
                </a:solidFill>
                <a:latin typeface="Arial"/>
              </a:rPr>
              <a:t>Pedro Henrique Rocha de Andrade</a:t>
            </a:r>
          </a:p>
          <a:p>
            <a:pPr algn="ctr">
              <a:spcBef>
                <a:spcPts val="300"/>
              </a:spcBef>
            </a:pPr>
            <a:r>
              <a:rPr sz="1400" b="1">
                <a:solidFill>
                  <a:srgbClr val="F0F0F0"/>
                </a:solidFill>
                <a:latin typeface="Arial"/>
              </a:rPr>
              <a:t>Amanda Moraes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06440"/>
            <a:ext cx="1072895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F0F0F0"/>
                </a:solidFill>
                <a:latin typeface="Arial"/>
              </a:rPr>
              <a:t>Bom Jesus do Itabapoana — RJ</a:t>
            </a:r>
          </a:p>
          <a:p>
            <a:pPr algn="ctr">
              <a:spcBef>
                <a:spcPts val="300"/>
              </a:spcBef>
            </a:pPr>
            <a:r>
              <a:rPr sz="1250" b="1">
                <a:solidFill>
                  <a:srgbClr val="DCB437"/>
                </a:solidFill>
                <a:latin typeface="Arial"/>
              </a:rPr>
              <a:t>02 de Setembro de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Sumário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Estrutura da Apresentação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2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1.  Coesão</a:t>
            </a:r>
          </a:p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2.  Acoplamento</a:t>
            </a:r>
          </a:p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3.  Trade-off</a:t>
            </a:r>
          </a:p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4.  Paradigmas</a:t>
            </a:r>
          </a:p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5.  Métricas</a:t>
            </a:r>
          </a:p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6.  Boas Práticas</a:t>
            </a:r>
          </a:p>
          <a:p>
            <a:pPr>
              <a:spcAft>
                <a:spcPts val="1800"/>
              </a:spcAft>
              <a:defRPr sz="1800" b="1">
                <a:solidFill>
                  <a:srgbClr val="DCB437"/>
                </a:solidFill>
                <a:latin typeface="Arial"/>
              </a:defRPr>
            </a:pPr>
            <a:r>
              <a:t>7.  Conclusões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Coesão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O que é Coesão? (Foco Interno)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3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Definição Simples: </a:t>
            </a:r>
            <a:r>
              <a:rPr sz="1400" b="0">
                <a:solidFill>
                  <a:srgbClr val="F0F0F0"/>
                </a:solidFill>
                <a:latin typeface="Arial"/>
              </a:rPr>
              <a:t>Mede o foco e a afinidade interna de uma classe.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50C878"/>
                </a:solidFill>
                <a:latin typeface="Arial"/>
              </a:rPr>
              <a:t>•  </a:t>
            </a:r>
            <a:r>
              <a:rPr sz="1400" b="1">
                <a:solidFill>
                  <a:srgbClr val="50C878"/>
                </a:solidFill>
                <a:latin typeface="Arial"/>
              </a:rPr>
              <a:t>Regra de Ouro: </a:t>
            </a:r>
            <a:r>
              <a:rPr sz="1400" b="0">
                <a:solidFill>
                  <a:srgbClr val="F0F0F0"/>
                </a:solidFill>
                <a:latin typeface="Arial"/>
              </a:rPr>
              <a:t>Cada classe deve fazer apenas uma coisa e fazê-la bem feita.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Sinal de Alta Coesão: </a:t>
            </a:r>
            <a:r>
              <a:rPr sz="1400" b="0">
                <a:solidFill>
                  <a:srgbClr val="F0F0F0"/>
                </a:solidFill>
                <a:latin typeface="Arial"/>
              </a:rPr>
              <a:t>Todos os métodos usam e colaboram com os mesmos atributos.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F0F0"/>
                </a:solidFill>
                <a:latin typeface="Arial"/>
              </a:rPr>
              <a:t>•  </a:t>
            </a:r>
            <a:r>
              <a:rPr sz="1400" b="1">
                <a:solidFill>
                  <a:srgbClr val="F0F0F0"/>
                </a:solidFill>
                <a:latin typeface="Arial"/>
              </a:rPr>
              <a:t>Benefício: </a:t>
            </a:r>
            <a:r>
              <a:rPr sz="1400" b="0">
                <a:solidFill>
                  <a:srgbClr val="F0F0F0"/>
                </a:solidFill>
                <a:latin typeface="Arial"/>
              </a:rPr>
              <a:t>Código fácil de ler, depurar, testar e reutilizar.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DCB437"/>
                </a:solidFill>
                <a:latin typeface="Arial"/>
              </a:rPr>
              <a:t>Figura 1 - Foco Interno e Responsabilidade</a:t>
            </a:r>
          </a:p>
        </p:txBody>
      </p:sp>
      <p:pic>
        <p:nvPicPr>
          <p:cNvPr id="15" name="Picture 14" descr="figura1_o_que_e_coes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363208"/>
            <a:ext cx="5532120" cy="413158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B4B4B4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O que é Acoplamento? (Dependência Externa)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4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F05050"/>
                </a:solidFill>
                <a:latin typeface="Arial"/>
              </a:rPr>
              <a:t>•  </a:t>
            </a:r>
            <a:r>
              <a:rPr sz="1400" b="1">
                <a:solidFill>
                  <a:srgbClr val="F05050"/>
                </a:solidFill>
                <a:latin typeface="Arial"/>
              </a:rPr>
              <a:t>Definição Simples: </a:t>
            </a:r>
            <a:r>
              <a:rPr sz="1400" b="0">
                <a:solidFill>
                  <a:srgbClr val="F0F0F0"/>
                </a:solidFill>
                <a:latin typeface="Arial"/>
              </a:rPr>
              <a:t>Mede o quanto uma classe depende de outras para funcionar.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5050"/>
                </a:solidFill>
                <a:latin typeface="Arial"/>
              </a:rPr>
              <a:t>•  </a:t>
            </a:r>
            <a:r>
              <a:rPr sz="1400" b="1">
                <a:solidFill>
                  <a:srgbClr val="F05050"/>
                </a:solidFill>
                <a:latin typeface="Arial"/>
              </a:rPr>
              <a:t>Alto Acoplamento: </a:t>
            </a:r>
            <a:r>
              <a:rPr sz="1400" b="0">
                <a:solidFill>
                  <a:srgbClr val="F0F0F0"/>
                </a:solidFill>
                <a:latin typeface="Arial"/>
              </a:rPr>
              <a:t>Mudanças em uma classe quebram várias outras em cascata.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50C878"/>
                </a:solidFill>
                <a:latin typeface="Arial"/>
              </a:rPr>
              <a:t>•  </a:t>
            </a:r>
            <a:r>
              <a:rPr sz="1400" b="1">
                <a:solidFill>
                  <a:srgbClr val="50C878"/>
                </a:solidFill>
                <a:latin typeface="Arial"/>
              </a:rPr>
              <a:t>Baixo Acoplamento: </a:t>
            </a:r>
            <a:r>
              <a:rPr sz="1400" b="0">
                <a:solidFill>
                  <a:srgbClr val="F0F0F0"/>
                </a:solidFill>
                <a:latin typeface="Arial"/>
              </a:rPr>
              <a:t>Módulos independentes comunicando-se por interfaces estáveis.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F0F0"/>
                </a:solidFill>
                <a:latin typeface="Arial"/>
              </a:rPr>
              <a:t>•  </a:t>
            </a:r>
            <a:r>
              <a:rPr sz="1400" b="1">
                <a:solidFill>
                  <a:srgbClr val="F0F0F0"/>
                </a:solidFill>
                <a:latin typeface="Arial"/>
              </a:rPr>
              <a:t>Benefício: </a:t>
            </a:r>
            <a:r>
              <a:rPr sz="1400" b="0">
                <a:solidFill>
                  <a:srgbClr val="F0F0F0"/>
                </a:solidFill>
                <a:latin typeface="Arial"/>
              </a:rPr>
              <a:t>Facilidade para trocar componentes sem efeitos colaterais.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DCB437"/>
                </a:solidFill>
                <a:latin typeface="Arial"/>
              </a:rPr>
              <a:t>Figura 2 - Alto vs Baixo Acoplamento</a:t>
            </a:r>
          </a:p>
        </p:txBody>
      </p:sp>
      <p:pic>
        <p:nvPicPr>
          <p:cNvPr id="15" name="Picture 14" descr="figura2_o_que_e_acoplamen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50087"/>
            <a:ext cx="5532120" cy="33578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B4B4B4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O Trade-off: God Class vs Nanoclasses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5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F05050"/>
                </a:solidFill>
                <a:latin typeface="Arial"/>
              </a:rPr>
              <a:t>•  </a:t>
            </a:r>
            <a:r>
              <a:rPr sz="1400" b="1">
                <a:solidFill>
                  <a:srgbClr val="F05050"/>
                </a:solidFill>
                <a:latin typeface="Arial"/>
              </a:rPr>
              <a:t>Extremo 1 (God Class): </a:t>
            </a:r>
            <a:r>
              <a:rPr sz="1400" b="0">
                <a:solidFill>
                  <a:srgbClr val="F0F0F0"/>
                </a:solidFill>
                <a:latin typeface="Arial"/>
              </a:rPr>
              <a:t>Uma superclasse que faz tudo; acoplamento zero, mas coesão nula.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5050"/>
                </a:solidFill>
                <a:latin typeface="Arial"/>
              </a:rPr>
              <a:t>•  </a:t>
            </a:r>
            <a:r>
              <a:rPr sz="1400" b="1">
                <a:solidFill>
                  <a:srgbClr val="F05050"/>
                </a:solidFill>
                <a:latin typeface="Arial"/>
              </a:rPr>
              <a:t>Extremo 2 (Nanoclasses): </a:t>
            </a:r>
            <a:r>
              <a:rPr sz="1400" b="0">
                <a:solidFill>
                  <a:srgbClr val="F0F0F0"/>
                </a:solidFill>
                <a:latin typeface="Arial"/>
              </a:rPr>
              <a:t>1 método por classe; coesão máxima, mas o acoplamento explode.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50C878"/>
                </a:solidFill>
                <a:latin typeface="Arial"/>
              </a:rPr>
              <a:t>•  </a:t>
            </a:r>
            <a:r>
              <a:rPr sz="1400" b="1">
                <a:solidFill>
                  <a:srgbClr val="50C878"/>
                </a:solidFill>
                <a:latin typeface="Arial"/>
              </a:rPr>
              <a:t>O Ponto de Equilíbrio: </a:t>
            </a:r>
            <a:r>
              <a:rPr sz="1400" b="0">
                <a:solidFill>
                  <a:srgbClr val="F0F0F0"/>
                </a:solidFill>
                <a:latin typeface="Arial"/>
              </a:rPr>
              <a:t>Responsabilidade clara e classes enxutas.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Meta: </a:t>
            </a:r>
            <a:r>
              <a:rPr sz="1400" b="0">
                <a:solidFill>
                  <a:srgbClr val="F0F0F0"/>
                </a:solidFill>
                <a:latin typeface="Arial"/>
              </a:rPr>
              <a:t>Alta Coesão (interna) e Baixo Acoplamento (externo).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DCB437"/>
                </a:solidFill>
                <a:latin typeface="Arial"/>
              </a:rPr>
              <a:t>Figura 3 - Espectro de Complexidade do Design</a:t>
            </a:r>
          </a:p>
        </p:txBody>
      </p:sp>
      <p:pic>
        <p:nvPicPr>
          <p:cNvPr id="15" name="Picture 14" descr="figura3_tradeoff_desig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50716"/>
            <a:ext cx="5532120" cy="33565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B4B4B4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Paradigmas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Coesão e Acoplamento nos Paradigmas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6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Estruturado: </a:t>
            </a:r>
            <a:r>
              <a:rPr sz="1400" b="0">
                <a:solidFill>
                  <a:srgbClr val="F0F0F0"/>
                </a:solidFill>
                <a:latin typeface="Arial"/>
              </a:rPr>
              <a:t>Funções dedicadas; controle via parâmetros (evitar variáveis globais).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50C878"/>
                </a:solidFill>
                <a:latin typeface="Arial"/>
              </a:rPr>
              <a:t>•  </a:t>
            </a:r>
            <a:r>
              <a:rPr sz="1400" b="1">
                <a:solidFill>
                  <a:srgbClr val="50C878"/>
                </a:solidFill>
                <a:latin typeface="Arial"/>
              </a:rPr>
              <a:t>Orientado a Objetos: </a:t>
            </a:r>
            <a:r>
              <a:rPr sz="1400" b="0">
                <a:solidFill>
                  <a:srgbClr val="F0F0F0"/>
                </a:solidFill>
                <a:latin typeface="Arial"/>
              </a:rPr>
              <a:t>Encapsulamento de estado e métodos; isolamento por interfaces.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Funcional: </a:t>
            </a:r>
            <a:r>
              <a:rPr sz="1400" b="0">
                <a:solidFill>
                  <a:srgbClr val="F0F0F0"/>
                </a:solidFill>
                <a:latin typeface="Arial"/>
              </a:rPr>
              <a:t>Funções puras (f: Entrada → Saída) e dados imutáveis (acoplamento nulo de estado).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F0F0"/>
                </a:solidFill>
                <a:latin typeface="Arial"/>
              </a:rPr>
              <a:t>•  </a:t>
            </a:r>
            <a:r>
              <a:rPr sz="1400" b="1">
                <a:solidFill>
                  <a:srgbClr val="F0F0F0"/>
                </a:solidFill>
                <a:latin typeface="Arial"/>
              </a:rPr>
              <a:t>Conclusão: </a:t>
            </a:r>
            <a:r>
              <a:rPr sz="1400" b="0">
                <a:solidFill>
                  <a:srgbClr val="F0F0F0"/>
                </a:solidFill>
                <a:latin typeface="Arial"/>
              </a:rPr>
              <a:t>Princípios universais que mudam apenas de ferramenta.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DCB437"/>
                </a:solidFill>
                <a:latin typeface="Arial"/>
              </a:rPr>
              <a:t>Figura 4 - Análise nos 3 Paradigmas</a:t>
            </a:r>
          </a:p>
        </p:txBody>
      </p:sp>
      <p:pic>
        <p:nvPicPr>
          <p:cNvPr id="15" name="Picture 14" descr="figura4_paradigm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920240"/>
            <a:ext cx="5532120" cy="30175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B4B4B4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Métricas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Métricas Práticas de Qualidade (LCOM &amp; CBO)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7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LCOM (Falta de Coesão): </a:t>
            </a:r>
            <a:r>
              <a:rPr sz="1400" b="0">
                <a:solidFill>
                  <a:srgbClr val="F0F0F0"/>
                </a:solidFill>
                <a:latin typeface="Arial"/>
              </a:rPr>
              <a:t>Avalia se os métodos usam os mesmos atributos.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5050"/>
                </a:solidFill>
                <a:latin typeface="Arial"/>
              </a:rPr>
              <a:t>•  </a:t>
            </a:r>
            <a:r>
              <a:rPr sz="1400" b="1">
                <a:solidFill>
                  <a:srgbClr val="F05050"/>
                </a:solidFill>
                <a:latin typeface="Arial"/>
              </a:rPr>
              <a:t>LCOM Alto: </a:t>
            </a:r>
            <a:r>
              <a:rPr sz="1400" b="0">
                <a:solidFill>
                  <a:srgbClr val="F0F0F0"/>
                </a:solidFill>
                <a:latin typeface="Arial"/>
              </a:rPr>
              <a:t>Métodos isolados que não conversam → Dividir a classe!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CBO (Acoplamento): </a:t>
            </a:r>
            <a:r>
              <a:rPr sz="1400" b="0">
                <a:solidFill>
                  <a:srgbClr val="F0F0F0"/>
                </a:solidFill>
                <a:latin typeface="Arial"/>
              </a:rPr>
              <a:t>Conta com quantas classes externas há dependência direta.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5050"/>
                </a:solidFill>
                <a:latin typeface="Arial"/>
              </a:rPr>
              <a:t>•  </a:t>
            </a:r>
            <a:r>
              <a:rPr sz="1400" b="1">
                <a:solidFill>
                  <a:srgbClr val="F05050"/>
                </a:solidFill>
                <a:latin typeface="Arial"/>
              </a:rPr>
              <a:t>CBO Alto: </a:t>
            </a:r>
            <a:r>
              <a:rPr sz="1400" b="0">
                <a:solidFill>
                  <a:srgbClr val="F0F0F0"/>
                </a:solidFill>
                <a:latin typeface="Arial"/>
              </a:rPr>
              <a:t>Classe sobrecarregada e rígida → Criar interfaces!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DCB437"/>
                </a:solidFill>
                <a:latin typeface="Arial"/>
              </a:rPr>
              <a:t>Figura 5 - Leitura Prática de LCOM e CBO</a:t>
            </a:r>
          </a:p>
        </p:txBody>
      </p:sp>
      <p:pic>
        <p:nvPicPr>
          <p:cNvPr id="15" name="Picture 14" descr="figura5_metricas_qu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35493"/>
            <a:ext cx="5532120" cy="33870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B4B4B4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Boas Práticas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Boas Práticas de Desacoplamento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8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50C878"/>
                </a:solidFill>
                <a:latin typeface="Arial"/>
              </a:rPr>
              <a:t>•  </a:t>
            </a:r>
            <a:r>
              <a:rPr sz="1400" b="1">
                <a:solidFill>
                  <a:srgbClr val="50C878"/>
                </a:solidFill>
                <a:latin typeface="Arial"/>
              </a:rPr>
              <a:t>Programar para Interfaces: </a:t>
            </a:r>
            <a:r>
              <a:rPr sz="1400" b="0">
                <a:solidFill>
                  <a:srgbClr val="F0F0F0"/>
                </a:solidFill>
                <a:latin typeface="Arial"/>
              </a:rPr>
              <a:t>Módulos dependem de contratos, não de implementações.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Injeção de Dependência: </a:t>
            </a:r>
            <a:r>
              <a:rPr sz="1400" b="0">
                <a:solidFill>
                  <a:srgbClr val="F0F0F0"/>
                </a:solidFill>
                <a:latin typeface="Arial"/>
              </a:rPr>
              <a:t>Receber conexões de fora em vez de instanciá-las internamente.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50C878"/>
                </a:solidFill>
                <a:latin typeface="Arial"/>
              </a:rPr>
              <a:t>•  </a:t>
            </a:r>
            <a:r>
              <a:rPr sz="1400" b="1">
                <a:solidFill>
                  <a:srgbClr val="50C878"/>
                </a:solidFill>
                <a:latin typeface="Arial"/>
              </a:rPr>
              <a:t>Princípio de Responsabilidade Única (SRP): </a:t>
            </a:r>
            <a:r>
              <a:rPr sz="1400" b="0">
                <a:solidFill>
                  <a:srgbClr val="F0F0F0"/>
                </a:solidFill>
                <a:latin typeface="Arial"/>
              </a:rPr>
              <a:t>Uma única razão para mudar.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F0F0F0"/>
                </a:solidFill>
                <a:latin typeface="Arial"/>
              </a:rPr>
              <a:t>•  </a:t>
            </a:r>
            <a:r>
              <a:rPr sz="1400" b="1">
                <a:solidFill>
                  <a:srgbClr val="F0F0F0"/>
                </a:solidFill>
                <a:latin typeface="Arial"/>
              </a:rPr>
              <a:t>Resultado: </a:t>
            </a:r>
            <a:r>
              <a:rPr sz="1400" b="0">
                <a:solidFill>
                  <a:srgbClr val="F0F0F0"/>
                </a:solidFill>
                <a:latin typeface="Arial"/>
              </a:rPr>
              <a:t>Facilidade total de testes unitários com *mocks*.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DCB437"/>
                </a:solidFill>
                <a:latin typeface="Arial"/>
              </a:rPr>
              <a:t>Figura 6 - Inversão de Dependência e Contratos</a:t>
            </a:r>
          </a:p>
        </p:txBody>
      </p:sp>
      <p:pic>
        <p:nvPicPr>
          <p:cNvPr id="15" name="Picture 14" descr="figura6_boas_pratic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50716"/>
            <a:ext cx="5532120" cy="33565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B4B4B4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Conclusões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Síntese e Diretrizes Arquiteturais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9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50C878"/>
                </a:solidFill>
                <a:latin typeface="Arial"/>
              </a:rPr>
              <a:t>•  </a:t>
            </a:r>
            <a:r>
              <a:rPr sz="1400" b="1">
                <a:solidFill>
                  <a:srgbClr val="50C878"/>
                </a:solidFill>
                <a:latin typeface="Arial"/>
              </a:rPr>
              <a:t>Métricas como Guia: </a:t>
            </a:r>
            <a:r>
              <a:rPr sz="1400" b="0">
                <a:solidFill>
                  <a:srgbClr val="F0F0F0"/>
                </a:solidFill>
                <a:latin typeface="Arial"/>
              </a:rPr>
              <a:t>LCOM e CBO servem de termômetro para refatoração preventiva.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Equilíbrio Constante: </a:t>
            </a:r>
            <a:r>
              <a:rPr sz="1400" b="0">
                <a:solidFill>
                  <a:srgbClr val="F0F0F0"/>
                </a:solidFill>
                <a:latin typeface="Arial"/>
              </a:rPr>
              <a:t>Nem classes gigantes, nem classes com 1 linha só.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50C878"/>
                </a:solidFill>
                <a:latin typeface="Arial"/>
              </a:rPr>
              <a:t>•  </a:t>
            </a:r>
            <a:r>
              <a:rPr sz="1400" b="1">
                <a:solidFill>
                  <a:srgbClr val="50C878"/>
                </a:solidFill>
                <a:latin typeface="Arial"/>
              </a:rPr>
              <a:t>Sustentabilidade: </a:t>
            </a:r>
            <a:r>
              <a:rPr sz="1400" b="0">
                <a:solidFill>
                  <a:srgbClr val="F0F0F0"/>
                </a:solidFill>
                <a:latin typeface="Arial"/>
              </a:rPr>
              <a:t>Código limpo evolui rápido sem quebrar o sistema.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DCB437"/>
                </a:solidFill>
                <a:latin typeface="Arial"/>
              </a:rPr>
              <a:t>•  </a:t>
            </a:r>
            <a:r>
              <a:rPr sz="1400" b="1">
                <a:solidFill>
                  <a:srgbClr val="DCB437"/>
                </a:solidFill>
                <a:latin typeface="Arial"/>
              </a:rPr>
              <a:t>Objetivo Final: </a:t>
            </a:r>
            <a:r>
              <a:rPr sz="1400" b="0">
                <a:solidFill>
                  <a:srgbClr val="F0F0F0"/>
                </a:solidFill>
                <a:latin typeface="Arial"/>
              </a:rPr>
              <a:t>Software sustentável, testável e desacoplado.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1C1C1C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DCB437"/>
                </a:solidFill>
                <a:latin typeface="Arial"/>
              </a:rPr>
              <a:t>Figura 7 - Síntese da Arquitetura Limpa</a:t>
            </a:r>
          </a:p>
        </p:txBody>
      </p:sp>
      <p:pic>
        <p:nvPicPr>
          <p:cNvPr id="15" name="Picture 14" descr="figura6_boas_pratic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50716"/>
            <a:ext cx="5532120" cy="33565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B4B4B4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B4B4B4"/>
                </a:solidFill>
                <a:latin typeface="Arial"/>
              </a:rPr>
              <a:t> |   </a:t>
            </a:r>
            <a:r>
              <a:rPr sz="2000" b="1">
                <a:solidFill>
                  <a:srgbClr val="F0F0F0"/>
                </a:solidFill>
                <a:latin typeface="Arial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F0F0F0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B4B4B4"/>
                </a:solidFill>
                <a:latin typeface="Arial"/>
              </a:rPr>
              <a:t>   |   </a:t>
            </a:r>
            <a:r>
              <a:rPr sz="1300" b="1">
                <a:solidFill>
                  <a:srgbClr val="DCB437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DCB437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DCB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DCB437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0F0F0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F0F0F0"/>
                </a:solidFill>
                <a:latin typeface="Arial"/>
              </a:rPr>
              <a:t>10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188720"/>
            <a:ext cx="10725912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350" b="1">
                <a:solidFill>
                  <a:srgbClr val="DCB437"/>
                </a:solidFill>
                <a:latin typeface="Arial"/>
              </a:rPr>
              <a:t>[1]  </a:t>
            </a:r>
            <a:r>
              <a:rPr sz="1350">
                <a:solidFill>
                  <a:srgbClr val="F0F0F0"/>
                </a:solidFill>
                <a:latin typeface="Arial"/>
              </a:rPr>
              <a:t>LARMAN, Craig. Utilizando UML e Padrões: Uma Introdução à Análise e ao Projeto Orientados a Objetos. 3. ed. Porto Alegre: Bookman, 2007.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DCB437"/>
                </a:solidFill>
                <a:latin typeface="Arial"/>
              </a:rPr>
              <a:t>[2]  </a:t>
            </a:r>
            <a:r>
              <a:rPr sz="1350">
                <a:solidFill>
                  <a:srgbClr val="F0F0F0"/>
                </a:solidFill>
                <a:latin typeface="Arial"/>
              </a:rPr>
              <a:t>VALENTE, Marco Tulio. Engenharia de Software Moderna: Princípios e Práticas para Desenvolvimento de Software com Produtividade. Editora UFMG, 2020.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DCB437"/>
                </a:solidFill>
                <a:latin typeface="Arial"/>
              </a:rPr>
              <a:t>[3]  </a:t>
            </a:r>
            <a:r>
              <a:rPr sz="1350">
                <a:solidFill>
                  <a:srgbClr val="F0F0F0"/>
                </a:solidFill>
                <a:latin typeface="Arial"/>
              </a:rPr>
              <a:t>MARTIN, Robert C. Clean Architecture: A Craftsman's Guide to Software Structure and Design. Prentice Hall, 2017.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DCB437"/>
                </a:solidFill>
                <a:latin typeface="Arial"/>
              </a:rPr>
              <a:t>[4]  </a:t>
            </a:r>
            <a:r>
              <a:rPr sz="1350">
                <a:solidFill>
                  <a:srgbClr val="F0F0F0"/>
                </a:solidFill>
                <a:latin typeface="Arial"/>
              </a:rPr>
              <a:t>CHIDAMBER, S. R.; KEMERER, C. F. A Metrics Suite for Object Oriented Design. IEEE Transactions on Software Engineering, 1994.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95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DCB437"/>
                </a:solidFill>
                <a:latin typeface="Arial"/>
              </a:rPr>
              <a:t>Obrigado!</a:t>
            </a:r>
            <a:r>
              <a:rPr sz="1800" b="1">
                <a:solidFill>
                  <a:srgbClr val="DCB437"/>
                </a:solidFill>
                <a:latin typeface="Arial"/>
              </a:rPr>
              <a:t>   —   Perguntas &amp; Discussão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DCB437"/>
                </a:solidFill>
                <a:latin typeface="Arial"/>
              </a:rPr>
              <a:t>Contatos: pedroiff0@gmail.com  |  amanda.moraes@iff.edu.br</a:t>
            </a:r>
          </a:p>
        </p:txBody>
      </p:sp>
      <p:pic>
        <p:nvPicPr>
          <p:cNvPr id="4" name="Picture 3" descr="qrcode_iff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679" y="1188720"/>
            <a:ext cx="5120640" cy="5115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63640"/>
            <a:ext cx="1072895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DCB437"/>
                </a:solidFill>
                <a:latin typeface="Arial"/>
                <a:hlinkClick r:id="rId3"/>
              </a:rPr>
              <a:t>https://www.phrandrade.com/pt-br/resource/engenharia-de-computacao/6-periodo/analise-de-software-orientada-a-objetos/anotacoes/atividades/trabalho---coesao-e-acoplamento-asoo/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ll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DCB437"/>
      </a:dk2>
      <a:lt2>
        <a:srgbClr val="EEECE1"/>
      </a:lt2>
      <a:accent1>
        <a:srgbClr val="DCB437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DCB437"/>
      </a:hlink>
      <a:folHlink>
        <a:srgbClr val="DCB43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