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 showMasterSp="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LogoMaster" Type="http://schemas.openxmlformats.org/officeDocument/2006/relationships/image" Target="../media/logo_master.png"/><Relationship Id="rIdEmailFooter" Type="http://schemas.openxmlformats.org/officeDocument/2006/relationships/hyperlink" Target="mailto:pedroiff0@gmail.com" TargetMode="Externa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0F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!-- 1. Logo IFF no Cabeçalho Superior Esquerdo -->
      <p:pic>
        <p:nvPicPr>
          <p:cNvPr id="1001" name="LogoIFFMaster"/>
          <p:cNvPicPr>
            <a:picLocks noChangeAspect="1"/>
          </p:cNvPicPr>
          <p:nvPr/>
        </p:nvPicPr>
        <p:blipFill>
          <a:blip r:embed="rIdLogoMaster"/>
          <a:stretch>
            <a:fillRect/>
          </a:stretch>
        </p:blipFill>
        <p:spPr>
          <a:xfrm>
            <a:off x="411480" y="73152"/>
            <a:ext cx="1591056" cy="438912"/>
          </a:xfrm>
          <a:prstGeom prst="rect">
            <a:avLst/>
          </a:prstGeom>
        </p:spPr>
      </p:pic>
      <!-- 2. Linha Divisória Superior (Verde IFF / Dourado) -->
      <p:sp>
        <p:nvSpPr>
          <p:cNvPr id="1002" name="LinhaDivisoriaSuperior"/>
          <p:cNvSpPr/>
          <p:nvPr/>
        </p:nvSpPr>
        <p:spPr>
          <a:xfrm>
            <a:off x="0" y="621792"/>
            <a:ext cx="12192000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</p:sp>
      <!-- 3. Disciplina & Tópico no Cabeçalho Superior Direito -->
      <p:sp>
        <p:nvSpPr>
          <p:cNvPr id="1003" name="CabecalhoDisciplinaTopico"/>
          <p:cNvSpPr/>
          <p:nvPr/>
        </p:nvSpPr>
        <p:spPr>
          <a:xfrm>
            <a:off x="5000000" y="73152"/>
            <a:ext cx="6780520" cy="36576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r"/>
            <a:r>
              <a:rPr lang="pt-BR" sz="1800" b="1">
                <a:solidFill>
                  <a:srgbClr val="DCB437"/>
                </a:solidFill>
                <a:latin typeface="Arial"/>
              </a:rPr>
              <a:t>Análise de Software Orientada a Objetos</a:t>
            </a:r>
            <a:r>
              <a:rPr lang="pt-BR" sz="1800">
                <a:solidFill>
                  <a:srgbClr val="B4B4B4"/>
                </a:solidFill>
                <a:latin typeface="Arial"/>
              </a:rPr>
              <a:t>  |  </a:t>
            </a:r>
            <a:r>
              <a:rPr lang="pt-BR" sz="1800" b="1">
                <a:solidFill>
                  <a:srgbClr val="DCB437"/>
                </a:solidFill>
                <a:latin typeface="Arial"/>
              </a:rPr>
              <a:t>Seminário | Coesão &amp; Acoplamento</a:t>
            </a:r>
          </a:p>
        </p:txBody>
      </p:sp>
      <!-- 4. Linha Divisória Inferior (Verde IFF / Dourado) -->
      <p:sp>
        <p:nvSpPr>
          <p:cNvPr id="1004" name="LinhaDivisoriaInferior"/>
          <p:cNvSpPr/>
          <p:nvPr/>
        </p:nvSpPr>
        <p:spPr>
          <a:xfrm>
            <a:off x="0" y="6510528"/>
            <a:ext cx="12192000" cy="13716"/>
          </a:xfrm>
          <a:prstGeom prst="rect">
            <a:avLst/>
          </a:prstGeom>
          <a:solidFill>
            <a:srgbClr val="DCB437"/>
          </a:solidFill>
          <a:ln>
            <a:solidFill>
              <a:srgbClr val="DCB437"/>
            </a:solidFill>
          </a:ln>
        </p:spPr>
      </p:sp>
      <!-- 5. Autor no Rodapé Esquerdo Linkado ao Email -->
      <p:sp>
        <p:nvSpPr>
          <p:cNvPr id="1005" name="RodapeAutor"/>
          <p:cNvSpPr/>
          <p:nvPr/>
        </p:nvSpPr>
        <p:spPr>
          <a:xfrm>
            <a:off x="411480" y="6545000"/>
            <a:ext cx="4000000" cy="2743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l"/>
            <a:r>
              <a:rPr lang="pt-BR" sz="1500" b="1">
                <a:hlinkClick r:id="rIdEmailFooter"/>
                <a:solidFill>
                  <a:srgbClr val="DCB437"/>
                </a:solidFill>
                <a:latin typeface="Arial"/>
              </a:rPr>
              <a:t>de Andrade, P. H. R; Moraes, A.</a:t>
            </a:r>
          </a:p>
        </p:txBody>
      </p:sp>
      <!-- 6. Título do Trabalho no Rodapé Centro -->
      <p:sp>
        <p:nvSpPr>
          <p:cNvPr id="1006" name="RodapeTituloTrabalho"/>
          <p:cNvSpPr/>
          <p:nvPr/>
        </p:nvSpPr>
        <p:spPr>
          <a:xfrm>
            <a:off x="4500000" y="6545000"/>
            <a:ext cx="4200000" cy="274320"/>
          </a:xfrm>
          <a:prstGeom prst="rect">
            <a:avLst/>
          </a:prstGeom>
          <a:noFill/>
          <a:ln>
            <a:noFill/>
          </a:ln>
        </p:spPr>
        <p:txBody>
          <a:bodyPr vert="horz" lIns="0" tIns="0" rIns="0" bIns="0" rtlCol="0" anchor="ctr"/>
          <a:lstStyle/>
          <a:p>
            <a:pPr algn="ctr"/>
            <a:r>
              <a:rPr lang="pt-BR" sz="1500" b="1">
                <a:solidFill>
                  <a:srgbClr val="DCB437"/>
                </a:solidFill>
                <a:latin typeface="Arial"/>
              </a:rPr>
              <a:t>Coesão e Acoplamento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www.phrandrade.com/pt-br/resource/engenharia-de-computacao/" TargetMode="Externa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hyperlink" Target="https://www.phrandrade.com/pt-br/resource/engenharia-de-computa%C3%A7%C3%A3o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iff_crop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89236" y="274320"/>
            <a:ext cx="5813526" cy="16002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31520" y="2057400"/>
            <a:ext cx="10728959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DCB437"/>
                </a:solidFill>
                <a:latin typeface="Arial"/>
                <a:hlinkClick r:id="rId3"/>
              </a:rPr>
              <a:t>ANÁLISE DE SOFTWARE ORIENTADA A OBJETOS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60320"/>
            <a:ext cx="10728959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CB437"/>
                </a:solidFill>
                <a:latin typeface="Arial"/>
                <a:hlinkClick r:id="rId3"/>
              </a:rPr>
              <a:t>Coesão e Acoplamento</a:t>
            </a:r>
          </a:p>
          <a:p>
            <a:pPr algn="ctr"/>
            <a:r>
              <a:rPr sz="1600">
                <a:solidFill>
                  <a:srgbClr val="F0F0F0"/>
                </a:solidFill>
                <a:latin typeface="Arial"/>
              </a:rPr>
              <a:t>Revisão Prática, Métricas, Paradigmas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023360"/>
            <a:ext cx="10728959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50" b="1">
                <a:solidFill>
                  <a:srgbClr val="F0F0F0"/>
                </a:solidFill>
                <a:latin typeface="Arial"/>
              </a:rPr>
              <a:t>Pedro Henrique Rocha de Andrade</a:t>
            </a:r>
          </a:p>
          <a:p>
            <a:pPr algn="ctr">
              <a:spcBef>
                <a:spcPts val="300"/>
              </a:spcBef>
            </a:pPr>
            <a:r>
              <a:rPr sz="1450" b="1">
                <a:solidFill>
                  <a:srgbClr val="F0F0F0"/>
                </a:solidFill>
                <a:latin typeface="Arial"/>
              </a:rPr>
              <a:t>Amanda Moraes do Carmo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806440"/>
            <a:ext cx="10728959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>
                <a:solidFill>
                  <a:srgbClr val="F0F0F0"/>
                </a:solidFill>
                <a:latin typeface="Arial"/>
              </a:rPr>
              <a:t>Bom Jesus do Itabapoana — RJ</a:t>
            </a:r>
          </a:p>
          <a:p>
            <a:pPr algn="ctr">
              <a:spcBef>
                <a:spcPts val="300"/>
              </a:spcBef>
            </a:pPr>
            <a:r>
              <a:rPr sz="1250" b="1">
                <a:solidFill>
                  <a:srgbClr val="DCB437"/>
                </a:solidFill>
                <a:latin typeface="Arial"/>
              </a:rPr>
              <a:t>02 de Setembro de 2026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Sumário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Estrutura da Apresentação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2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371600"/>
            <a:ext cx="1036015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 b="1">
                <a:solidFill>
                  <a:srgbClr val="DCB437"/>
                </a:solidFill>
                <a:latin typeface="Arial"/>
              </a:defRPr>
            </a:pPr>
            <a:r>
              <a:t>1.  Conceitos Iniciais (Coesão vs Acoplamento)</a:t>
            </a:r>
          </a:p>
          <a:p>
            <a:pPr>
              <a:spcAft>
                <a:spcPts val="1400"/>
              </a:spcAft>
              <a:defRPr sz="1700" b="1">
                <a:solidFill>
                  <a:srgbClr val="DCB437"/>
                </a:solidFill>
                <a:latin typeface="Arial"/>
              </a:defRPr>
            </a:pPr>
            <a:r>
              <a:t>2.  A Relação Oposta (O Trade-off de Design)</a:t>
            </a:r>
          </a:p>
          <a:p>
            <a:pPr>
              <a:spcAft>
                <a:spcPts val="1400"/>
              </a:spcAft>
              <a:defRPr sz="1700" b="1">
                <a:solidFill>
                  <a:srgbClr val="DCB437"/>
                </a:solidFill>
                <a:latin typeface="Arial"/>
              </a:defRPr>
            </a:pPr>
            <a:r>
              <a:t>3.  Paradigmas de Programação</a:t>
            </a:r>
          </a:p>
          <a:p>
            <a:pPr>
              <a:spcAft>
                <a:spcPts val="1400"/>
              </a:spcAft>
              <a:defRPr sz="1700" b="1">
                <a:solidFill>
                  <a:srgbClr val="DCB437"/>
                </a:solidFill>
                <a:latin typeface="Arial"/>
              </a:defRPr>
            </a:pPr>
            <a:r>
              <a:t>4.  Estudos de Caso e Refatoração</a:t>
            </a:r>
          </a:p>
          <a:p>
            <a:pPr>
              <a:spcAft>
                <a:spcPts val="1400"/>
              </a:spcAft>
              <a:defRPr sz="1700" b="1">
                <a:solidFill>
                  <a:srgbClr val="DCB437"/>
                </a:solidFill>
                <a:latin typeface="Arial"/>
              </a:defRPr>
            </a:pPr>
            <a:r>
              <a:t>5.  Métricas CK (LCOM e CBO)</a:t>
            </a:r>
          </a:p>
          <a:p>
            <a:pPr>
              <a:spcAft>
                <a:spcPts val="1400"/>
              </a:spcAft>
              <a:defRPr sz="1700" b="1">
                <a:solidFill>
                  <a:srgbClr val="DCB437"/>
                </a:solidFill>
                <a:latin typeface="Arial"/>
              </a:defRPr>
            </a:pPr>
            <a:r>
              <a:t>6.  Referências Bibliográficas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Conceitos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O que são Coesão e Acoplamento?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3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74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 i="0">
                <a:solidFill>
                  <a:srgbClr val="DCB437"/>
                </a:solidFill>
                <a:latin typeface="Arial"/>
              </a:defRPr>
            </a:pPr>
            <a:r>
              <a:t>•  Coesão: Mede o foco interno. Uma classe coesa possui uma única responsabilidade (SRP).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F05050"/>
                </a:solidFill>
                <a:latin typeface="Arial"/>
              </a:defRPr>
            </a:pPr>
            <a:r>
              <a:t>•  Acoplamento: Mede a interdependência externa. O quanto uma classe depende de detalhes de outras.</a:t>
            </a:r>
          </a:p>
          <a:p>
            <a:pPr>
              <a:spcAft>
                <a:spcPts val="1000"/>
              </a:spcAft>
              <a:defRPr sz="1400" b="0" i="1">
                <a:solidFill>
                  <a:srgbClr val="F0F0F0"/>
                </a:solidFill>
                <a:latin typeface="Arial"/>
              </a:defRPr>
            </a:pPr>
            <a:r>
              <a:t>•  Meta do Design: Alcançar Alta Coesão e Baixo Acoplamento.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50C878"/>
                </a:solidFill>
                <a:latin typeface="Arial"/>
              </a:defRPr>
            </a:pPr>
            <a:r>
              <a:t>•  Métricas: Mensuráveis estaticamente para evitar degradação de código.</a:t>
            </a:r>
          </a:p>
        </p:txBody>
      </p:sp>
      <p:pic>
        <p:nvPicPr>
          <p:cNvPr id="6" name="Picture 5" descr="card_conceitos_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22376"/>
            <a:ext cx="5989320" cy="55321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A Relação Oposta (O Trade-off de Design)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4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74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 i="0">
                <a:solidFill>
                  <a:srgbClr val="F05050"/>
                </a:solidFill>
                <a:latin typeface="Arial"/>
              </a:defRPr>
            </a:pPr>
            <a:r>
              <a:t>•  Forças Opostas: Coesão e acoplamento puxam a arquitetura em sentidos inversos.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DCB437"/>
                </a:solidFill>
                <a:latin typeface="Arial"/>
              </a:defRPr>
            </a:pPr>
            <a:r>
              <a:t>•  Zero Acoplamento: 1 única classe concentrando tudo. Acoplamento nulo, mas coesão zero (God Class).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50C878"/>
                </a:solidFill>
                <a:latin typeface="Arial"/>
              </a:defRPr>
            </a:pPr>
            <a:r>
              <a:t>•  Coesão Absoluta: Classes com 1 único método. Coesão máxima, mas acoplamento explode.</a:t>
            </a:r>
          </a:p>
          <a:p>
            <a:pPr>
              <a:spcAft>
                <a:spcPts val="1000"/>
              </a:spcAft>
              <a:defRPr sz="1400" b="0" i="1">
                <a:solidFill>
                  <a:srgbClr val="F0F0F0"/>
                </a:solidFill>
                <a:latin typeface="Arial"/>
              </a:defRPr>
            </a:pPr>
            <a:r>
              <a:t>•  A Meta: Partição ótima com classes dominando responsabilidades conceituais.</a:t>
            </a:r>
          </a:p>
        </p:txBody>
      </p:sp>
      <p:pic>
        <p:nvPicPr>
          <p:cNvPr id="6" name="Picture 5" descr="card_tradeoff_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22376"/>
            <a:ext cx="5989320" cy="55321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Paradigmas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Comparativo entre Paradigmas de Programação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5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11365992" cy="4983480"/>
          </a:xfrm>
          <a:prstGeom prst="roundRect">
            <a:avLst/>
          </a:prstGeom>
          <a:solidFill>
            <a:srgbClr val="201E18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91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0F0F0"/>
                </a:solidFill>
                <a:latin typeface="Arial"/>
              </a:rPr>
              <a:t>Tabela 1 — Tratamento de Coesão e Acoplamento nos Paradigmas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91671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2194560"/>
                <a:gridCol w="2468880"/>
                <a:gridCol w="2423160"/>
                <a:gridCol w="2084831"/>
              </a:tblGrid>
              <a:tr h="994409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Paradigma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Mecanismo Central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Como Obtém Coesão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Como Trata Acoplamento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Risco Principal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</a:tr>
              <a:tr h="99440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Estruturado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Funções &amp; Structs separadas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Função com algoritmo e objetivo único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Passagem por valor; sem dados globais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Dependência de estado global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</a:tr>
              <a:tr h="994409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Orientado a Objetos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Classes encapsulando estado e métodos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Classes alinhadas a entidades reais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Abstração, Interfaces e DIP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God Class e herança profunda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</a:tr>
              <a:tr h="994412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Funcional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Funções Puras &amp; Imutabilidade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Funções sem efeitos colaterais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Eliminação de estado compartilhado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Curva de aprendizado e recursão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B4B4B4"/>
                </a:solidFill>
                <a:latin typeface="Arial"/>
              </a:rPr>
              <a:t>Fonte: Elaboração dos Autores com base em Martin (2017) e Larman (2006)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Refatoração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Estudo de Caso 1: Refatoração de Coesão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6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86400" cy="4983480"/>
          </a:xfrm>
          <a:prstGeom prst="roundRect">
            <a:avLst/>
          </a:prstGeom>
          <a:solidFill>
            <a:srgbClr val="2D1414"/>
          </a:solidFill>
          <a:ln w="12700">
            <a:solidFill>
              <a:srgbClr val="F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05050"/>
                </a:solidFill>
              </a:defRPr>
            </a:pPr>
            <a:r>
              <a:t>Antes: Baixa Coesão (Classe Acumuladora)</a:t>
            </a:r>
          </a:p>
          <a:p>
            <a:pPr>
              <a:defRPr sz="1000" b="1">
                <a:solidFill>
                  <a:srgbClr val="F0F0F0"/>
                </a:solidFill>
                <a:latin typeface="Arial"/>
              </a:defRPr>
            </a:pPr>
            <a:r>
              <a:t>Problema: Pedido mistura negócio fiscal, HTML e SMTP.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Pedido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private List&lt;Item&gt; itens;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double calcularTotal()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    // Lógica tributária fiscal...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String gerarHTMLFatura()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    // Lógica visual HTML/CSS...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void enviarEmailSMTP()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    // Socket e envio de email...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F05050"/>
                </a:solidFill>
                <a:latin typeface="Arial"/>
              </a:defRPr>
            </a:pPr>
            <a:r>
              <a:t>Impacto: Alterar layout HTML exige retestar a lógica fiscal crítica!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188720"/>
            <a:ext cx="5486400" cy="4983480"/>
          </a:xfrm>
          <a:prstGeom prst="roundRect">
            <a:avLst/>
          </a:prstGeom>
          <a:solidFill>
            <a:srgbClr val="142D19"/>
          </a:solidFill>
          <a:ln w="127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50C878"/>
                </a:solidFill>
              </a:defRPr>
            </a:pPr>
            <a:r>
              <a:t>Depois: Alta Coesão (Classes Especialistas)</a:t>
            </a:r>
          </a:p>
          <a:p>
            <a:pPr>
              <a:defRPr sz="950" b="1">
                <a:solidFill>
                  <a:srgbClr val="F0F0F0"/>
                </a:solidFill>
                <a:latin typeface="Courier New"/>
              </a:defRPr>
            </a:pPr>
            <a:r>
              <a:t>Solução: Cada classe com uma única razão para mudar.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Pedido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private List&lt;Item&gt; itens;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CalculadorImposto {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double calcular(Pedido p) { ...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GeradorFaturaHTML {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String gerarHTML(Pedido p) { ...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NotificadorEmail {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void enviar(Pedido p) { ...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50C878"/>
                </a:solidFill>
                <a:latin typeface="Arial"/>
              </a:defRPr>
            </a:pPr>
            <a:r>
              <a:t>Benefício: Manutenção isolada, alta testabilidade e reuso.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Refatoração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Estudo de Caso 2: Refatoração de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7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5486400" cy="4983480"/>
          </a:xfrm>
          <a:prstGeom prst="roundRect">
            <a:avLst/>
          </a:prstGeom>
          <a:solidFill>
            <a:srgbClr val="2D1414"/>
          </a:solidFill>
          <a:ln w="12700">
            <a:solidFill>
              <a:srgbClr val="F050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F05050"/>
                </a:solidFill>
              </a:defRPr>
            </a:pPr>
            <a:r>
              <a:t>Antes: Alto Acoplamento Concreto</a:t>
            </a:r>
          </a:p>
          <a:p>
            <a:pPr>
              <a:defRPr sz="1000" b="1">
                <a:solidFill>
                  <a:srgbClr val="F0F0F0"/>
                </a:solidFill>
                <a:latin typeface="Arial"/>
              </a:defRPr>
            </a:pPr>
            <a:r>
              <a:t>Problema: Dependência direta de banco físico.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FaturamentoProcessor {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  <a:r>
              <a:t>    private PostgresConnector db;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FaturamentoProcessor()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    this.db = new PostgresConnector();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void processar(Venda v)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    db.inserirTabelaVendas(v);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F05050"/>
                </a:solidFill>
                <a:latin typeface="Arial"/>
              </a:defRPr>
            </a:pPr>
            <a:r>
              <a:t>Impacto: Impossível trocar banco ou criar mocks sem alterar o código.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91072" y="1188720"/>
            <a:ext cx="5486400" cy="4983480"/>
          </a:xfrm>
          <a:prstGeom prst="roundRect">
            <a:avLst/>
          </a:prstGeom>
          <a:solidFill>
            <a:srgbClr val="142D19"/>
          </a:solidFill>
          <a:ln w="12700">
            <a:solidFill>
              <a:srgbClr val="50C8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82512" y="1280160"/>
            <a:ext cx="5303520" cy="4800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200">
                <a:solidFill>
                  <a:srgbClr val="50C878"/>
                </a:solidFill>
              </a:defRPr>
            </a:pPr>
            <a:r>
              <a:t>Depois: Baixo Acoplamento Abstrato (DIP)</a:t>
            </a:r>
          </a:p>
          <a:p>
            <a:pPr>
              <a:defRPr sz="1000" b="1">
                <a:solidFill>
                  <a:srgbClr val="F0F0F0"/>
                </a:solidFill>
                <a:latin typeface="Arial"/>
              </a:defRPr>
            </a:pPr>
            <a:r>
              <a:t>Solução: Inversão de Dependência via Interface.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interface IVendaRepository {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  <a:r>
              <a:t>    void salvar(Venda v);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public class FaturamentoProcessor {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  <a:r>
              <a:t>    private IVendaRepository repo;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public FaturamentoProcessor(IVendaRepository r) {</a:t>
            </a:r>
          </a:p>
          <a:p>
            <a:pPr>
              <a:defRPr sz="1000" b="0">
                <a:solidFill>
                  <a:srgbClr val="F0F0F0"/>
                </a:solidFill>
                <a:latin typeface="Courier New"/>
              </a:defRPr>
            </a:pPr>
            <a:r>
              <a:t>        this.repo = r;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    }</a:t>
            </a:r>
          </a:p>
          <a:p>
            <a:pPr>
              <a:defRPr sz="950" b="0">
                <a:solidFill>
                  <a:srgbClr val="F0F0F0"/>
                </a:solidFill>
                <a:latin typeface="Courier New"/>
              </a:defRPr>
            </a:pPr>
            <a:r>
              <a:t>}</a:t>
            </a:r>
          </a:p>
          <a:p>
            <a:pPr>
              <a:defRPr sz="1000" b="0">
                <a:solidFill>
                  <a:srgbClr val="F0F0F0"/>
                </a:solidFill>
                <a:latin typeface="Arial"/>
              </a:defRPr>
            </a:pPr>
          </a:p>
          <a:p>
            <a:pPr>
              <a:defRPr sz="1000" b="1">
                <a:solidFill>
                  <a:srgbClr val="50C878"/>
                </a:solidFill>
                <a:latin typeface="Arial"/>
              </a:defRPr>
            </a:pPr>
            <a:r>
              <a:t>Benefício: Suporta Postgres, MongoDB ou Mocks sem alterar 1 linha!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Refatoração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Arquitetura Desacoplada: Inversão de Dependência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8 / 13</a:t>
            </a:r>
          </a:p>
        </p:txBody>
      </p:sp>
      <p:pic>
        <p:nvPicPr>
          <p:cNvPr id="5" name="Picture 4" descr="card_dip_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188720"/>
            <a:ext cx="11365992" cy="498348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Métricas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512064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Métricas CK de Coesão e Acoplamento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9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188720"/>
            <a:ext cx="50749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400" b="1" i="0">
                <a:solidFill>
                  <a:srgbClr val="DCB437"/>
                </a:solidFill>
                <a:latin typeface="Arial"/>
              </a:defRPr>
            </a:pPr>
            <a:r>
              <a:t>•  LCOM: Mede a falta de coesão comparando pares sem variáveis (P) vs com variáveis (Q).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50C878"/>
                </a:solidFill>
                <a:latin typeface="Arial"/>
              </a:defRPr>
            </a:pPr>
            <a:r>
              <a:t>•  Fórmula Clássica: LCOM = max(0, |P| - |Q|)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DCB437"/>
                </a:solidFill>
                <a:latin typeface="Arial"/>
              </a:defRPr>
            </a:pPr>
            <a:r>
              <a:t>•  CBO: Conta o número de outras classes acopladas diretamente.</a:t>
            </a:r>
          </a:p>
          <a:p>
            <a:pPr>
              <a:spcAft>
                <a:spcPts val="1000"/>
              </a:spcAft>
              <a:defRPr sz="1400" b="1" i="0">
                <a:solidFill>
                  <a:srgbClr val="F05050"/>
                </a:solidFill>
                <a:latin typeface="Arial"/>
              </a:defRPr>
            </a:pPr>
            <a:r>
              <a:t>•  Alerta Crítico: CBO &gt; 10 indica risco de quebras em cascata (Shotgun Surgery).</a:t>
            </a:r>
          </a:p>
        </p:txBody>
      </p:sp>
      <p:pic>
        <p:nvPicPr>
          <p:cNvPr id="6" name="Picture 5" descr="card_lcom_escu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0" y="722376"/>
            <a:ext cx="5989320" cy="553212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Métricas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Diagnóstico de Código e Métricas da Suite 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10 / 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11480" y="1188720"/>
            <a:ext cx="11365992" cy="4983480"/>
          </a:xfrm>
          <a:prstGeom prst="roundRect">
            <a:avLst/>
          </a:prstGeom>
          <a:solidFill>
            <a:srgbClr val="201E18"/>
          </a:solidFill>
          <a:ln w="12700">
            <a:solidFill>
              <a:srgbClr val="DCB43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280160"/>
            <a:ext cx="11091672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>
                <a:solidFill>
                  <a:srgbClr val="F0F0F0"/>
                </a:solidFill>
                <a:latin typeface="Arial"/>
              </a:rPr>
              <a:t>Tabela 2 — Limites e Ações de Refatoração da Suite de Métricas CK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645920"/>
          <a:ext cx="11091672" cy="397763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468880"/>
                <a:gridCol w="2834640"/>
                <a:gridCol w="1645920"/>
                <a:gridCol w="2770632"/>
              </a:tblGrid>
              <a:tr h="795527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Métrica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Significado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Definição / Cálculo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Alerta Crítico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Ação de Refatoração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LCOM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Lack of Cohesion in Methods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|P| - |Q| (métodos sem vs com variáveis)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LCOM &gt; 0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Extrair Classe / Aplicar SRP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CBO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Coupling Between Objects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Quantidade de classes externas conectadas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CBO &gt; 10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Inversão de Dependência / Facade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</a:tr>
              <a:tr h="795527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RFC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Response for a Class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Métodos locais + métodos externos chamados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RFC &gt; 50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Simplificar fluxo e delegar responsabilidade</a:t>
                      </a:r>
                    </a:p>
                  </a:txBody>
                  <a:tcPr>
                    <a:solidFill>
                      <a:srgbClr val="201E18"/>
                    </a:solidFill>
                  </a:tcPr>
                </a:tc>
              </a:tr>
              <a:tr h="795531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B437"/>
                          </a:solidFill>
                          <a:latin typeface="Arial"/>
                        </a:defRPr>
                      </a:pPr>
                      <a:r>
                        <a:t>WMC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Weighted Methods per Class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Soma da complexidade ciclomática dos métodos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WMC &gt; 30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F0F0F0"/>
                          </a:solidFill>
                          <a:latin typeface="Arial"/>
                        </a:defRPr>
                      </a:pPr>
                      <a:r>
                        <a:t>Decompor métodos longos e polimorfismo</a:t>
                      </a:r>
                    </a:p>
                  </a:txBody>
                  <a:tcPr>
                    <a:solidFill>
                      <a:srgbClr val="242016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48640" y="5760720"/>
            <a:ext cx="11091672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50">
                <a:solidFill>
                  <a:srgbClr val="B4B4B4"/>
                </a:solidFill>
                <a:latin typeface="Arial"/>
              </a:rPr>
              <a:t>Fonte: Chidamber &amp; Kemerer (1994) — IEEE Transactions on Software Engineering</a:t>
            </a:r>
          </a:p>
        </p:txBody>
      </p:sp>
    </p:spTree>
  </p:cSld>
  <p:clrMapOvr>
    <a:masterClrMapping/>
  </p:clrMapOvr>
  <p:transition spd="med">
    <p:fade/>
  </p:transition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450592" y="27432"/>
            <a:ext cx="4389120" cy="4754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b="0">
                <a:solidFill>
                  <a:srgbClr val="B4B4B4"/>
                </a:solidFill>
                <a:latin typeface="Arial"/>
              </a:rPr>
              <a:t> |   </a:t>
            </a:r>
            <a:r>
              <a:rPr sz="2400" b="1">
                <a:solidFill>
                  <a:srgbClr val="F0F0F0"/>
                </a:solidFill>
                <a:latin typeface="Arial"/>
              </a:rPr>
              <a:t>Referências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11480" y="658368"/>
            <a:ext cx="1115568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DCB437"/>
                </a:solidFill>
                <a:latin typeface="Arial"/>
              </a:defRPr>
            </a:pPr>
            <a:r>
              <a:t>Referências Bibliográficas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546079" y="6537960"/>
            <a:ext cx="12344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 b="1">
                <a:solidFill>
                  <a:srgbClr val="DCB437"/>
                </a:solidFill>
                <a:latin typeface="Arial"/>
              </a:rPr>
              <a:t>11 / 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463040"/>
            <a:ext cx="1036015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[1]  LARMAN, Craig. Utilizando UML e Padrões: Uma Introdução à Análise e ao Projeto Orientados a Objetos e ao Desenvolvimento Iterativo. 3. ed. Porto Alegre: Bookman, 2006.</a:t>
            </a:r>
          </a:p>
          <a:p>
            <a:pPr>
              <a:spcAft>
                <a:spcPts val="20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[2]  CHIDAMBER, S. R.; KEMERER, C. F. A Metrics Suite for Object Oriented Design. IEEE Transactions on Software Engineering, v. 20, n. 6, p. 476-493, 1994.</a:t>
            </a:r>
          </a:p>
          <a:p>
            <a:pPr>
              <a:spcAft>
                <a:spcPts val="2000"/>
              </a:spcAft>
              <a:defRPr sz="1400">
                <a:solidFill>
                  <a:srgbClr val="F0F0F0"/>
                </a:solidFill>
                <a:latin typeface="Arial"/>
              </a:defRPr>
            </a:pPr>
            <a:r>
              <a:t>[3]  MARTIN, Robert C. Clean Architecture: A Craftsman's Guide to Software Structure and Design. Prentice Hall, 2017.</a:t>
            </a:r>
          </a:p>
        </p:txBody>
      </p:sp>
    </p:spTree>
  </p:cSld>
  <p:clrMapOvr>
    <a:masterClrMapping/>
  </p:clrMapOvr>
  <p:transition spd="med">
    <p:fade/>
  </p:transition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"/>
            <a:ext cx="10728959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>
                <a:solidFill>
                  <a:srgbClr val="DCB437"/>
                </a:solidFill>
                <a:latin typeface="Arial"/>
              </a:rPr>
              <a:t>Obrigado!</a:t>
            </a:r>
            <a:r>
              <a:rPr sz="1800" b="1">
                <a:solidFill>
                  <a:srgbClr val="DCB437"/>
                </a:solidFill>
                <a:latin typeface="Arial"/>
              </a:rPr>
              <a:t>   —   Perguntas &amp; Discussão</a:t>
            </a:r>
          </a:p>
          <a:p>
            <a:pPr algn="ctr">
              <a:spcBef>
                <a:spcPts val="300"/>
              </a:spcBef>
            </a:pPr>
            <a:r>
              <a:rPr sz="1350" b="1">
                <a:solidFill>
                  <a:srgbClr val="DCB437"/>
                </a:solidFill>
                <a:latin typeface="Arial"/>
              </a:rPr>
              <a:t>Contatos: pedroiff0@gmail.com  |  amanda.moraes@placeholder.edu.br</a:t>
            </a:r>
          </a:p>
        </p:txBody>
      </p:sp>
      <p:pic>
        <p:nvPicPr>
          <p:cNvPr id="4" name="Picture 3" descr="qrcode_iff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35679" y="1280160"/>
            <a:ext cx="5120640" cy="51154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31520" y="6263640"/>
            <a:ext cx="10728959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50" b="1">
                <a:solidFill>
                  <a:srgbClr val="DCB437"/>
                </a:solidFill>
                <a:latin typeface="Arial"/>
                <a:hlinkClick r:id="rId3"/>
              </a:rPr>
              <a:t>https://www.phrandrade.com/pt-br/resource/engenharia-de-computacao/</a:t>
            </a:r>
          </a:p>
        </p:txBody>
      </p:sp>
    </p:spTree>
  </p:cSld>
  <p:clrMapOvr>
    <a:masterClrMapping/>
  </p:clrMapOvr>
  <p:transition spd="med">
    <p:fade/>
  </p:transition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pilla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DCB437"/>
      </a:dk2>
      <a:lt2>
        <a:srgbClr val="EEECE1"/>
      </a:lt2>
      <a:accent1>
        <a:srgbClr val="DCB437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DCB437"/>
      </a:hlink>
      <a:folHlink>
        <a:srgbClr val="DCB437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