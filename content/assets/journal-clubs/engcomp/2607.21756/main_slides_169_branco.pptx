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roups.google.com/g/engcompbji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www.phrandrade.com/pt-br/research/journal-clubs/engcomp/prompt-as-a-data-type#-1-motivacao-e-isolamento-atual-de-prompt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www.phrandrade.com/pt-br/research/journal-clubs/engcomp/prompt-as-a-data-type#-2-arquitetura-do-promptdb--o-tipo-de-dado-promp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www.phrandrade.com/pt-br/research/journal-clubs/engcomp/prompt-as-a-data-typ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www.phrandrade.com/pt-br/research/journal-clubs/engcomp/prompt-as-a-data-typ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/pt-br/research/journal-clubs/engcomp/prompt-as-a-data-typ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noSpellCheck="1" dirty="0" lang="pt-BR">
                <a:solidFill>
                  <a:srgbClr val="1E823C"/>
                </a:solidFill>
                <a:latin typeface="Arial"/>
                <a:hlinkClick r:id="rId3"/>
              </a:rPr>
              <a:t>ENGENHARIA DE COMPUTAÇÃO — JOURNAL CLUB (IFF BJI)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noSpellCheck="1" dirty="0" lang="pt-BR">
                <a:solidFill>
                  <a:srgbClr val="1E823C"/>
                </a:solidFill>
                <a:latin typeface="Arial"/>
                <a:hlinkClick r:id="rId4"/>
              </a:rPr>
              <a:t>Prompt as a Data Type</a:t>
            </a:r>
          </a:p>
          <a:p>
            <a:pPr algn="ctr">
              <a:spcBef>
                <a:spcPts val="600"/>
              </a:spcBef>
            </a:pPr>
            <a:r>
              <a:rPr sz="1600" noSpellCheck="1" dirty="0" lang="pt-BR">
                <a:solidFill>
                  <a:srgbClr val="141414"/>
                </a:solidFill>
                <a:latin typeface="Arial"/>
                <a:hlinkClick r:id="rId4"/>
              </a:rPr>
              <a:t>In-Database LLM Prompt Management and Rewriting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895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noSpellCheck="1" dirty="0" lang="pt-BR">
                <a:solidFill>
                  <a:srgbClr val="141414"/>
                </a:solidFill>
                <a:latin typeface="Arial"/>
              </a:rPr>
              <a:t>Martins, D. M. L. &amp; Vossen, G. (2026)</a:t>
            </a:r>
          </a:p>
          <a:p>
            <a:pPr algn="ctr">
              <a:spcBef>
                <a:spcPts val="400"/>
              </a:spcBef>
            </a:pPr>
            <a:r>
              <a:rPr sz="1600" b="1" noSpellCheck="1" dirty="0" lang="pt-BR">
                <a:solidFill>
                  <a:srgbClr val="1E823C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1E823C"/>
                </a:solidFill>
                <a:latin typeface="Arial"/>
              </a:rPr>
              <a:t>28 de Agosto de 2026  |  Grupo: engcompbji  |  arXiv:2607.21756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5A5A5A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000000"/>
                </a:solidFill>
                <a:latin typeface="Arial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5A5A5A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00000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000000"/>
                </a:solidFill>
                <a:latin typeface="Arial"/>
              </a:rPr>
              <a:t>2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1.  Motivação &amp; O Isolamento Atual de Prompts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2.  Arquitetura PromptDB &amp; O Tipo de Dado PROMPT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3.  Otimizador de Consultas &amp; Cache Semântico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4.  Segurança, Mitigação de Injeção &amp; Garantias ACID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5A5A5A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000000"/>
                </a:solidFill>
                <a:latin typeface="Arial"/>
              </a:rPr>
              <a:t>Motivação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5A5A5A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Gargalo da Separação Aplicação-Banco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00000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000000"/>
                </a:solidFill>
                <a:latin typeface="Arial"/>
              </a:rPr>
              <a:t>3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O Paradigma Atual: Prompts vivem na camada de aplicação externa (LangChain, LlamaIndex).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Opacidade do SGBD: O banco de dados desconhece a semântica e estrutura dos templates.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141414"/>
                </a:solidFill>
                <a:latin typeface="Arial"/>
              </a:defRPr>
            </a:pPr>
            <a:r>
              <a:t>•  Pergunta Central: Por que manter prompts como strings externas em vez de tipos relacionais estruturados?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A Proposta: Integrar PROMPT como tipo nativo de 1ª classe no motor 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8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noSpellCheck="1" dirty="0" lang="pt-BR">
                <a:solidFill>
                  <a:srgbClr val="141414"/>
                </a:solidFill>
                <a:latin typeface="Arial"/>
              </a:rPr>
              <a:t>Figura 1 - Isolamento Atual de Prompts</a:t>
            </a:r>
          </a:p>
        </p:txBody>
      </p:sp>
      <p:pic>
        <p:nvPicPr>
          <p:cNvPr id="15" name="Picture 1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noSpellCheck="1" dirty="0" lang="pt-BR">
                <a:solidFill>
                  <a:srgbClr val="5A5A5A"/>
                </a:solidFill>
                <a:latin typeface="Arial"/>
              </a:rPr>
              <a:t>Fonte: Martins &amp; Vossen (2026)</a:t>
            </a:r>
          </a:p>
          <a:p>
            <a:pPr algn="ctr"/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6"/>
              </a:rPr>
              <a:t>ENGCOMP Journal Club | Martins+2026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5A5A5A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000000"/>
                </a:solidFill>
                <a:latin typeface="Arial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5A5A5A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O Domínio Composto PROMPT no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00000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000000"/>
                </a:solidFill>
                <a:latin typeface="Arial"/>
              </a:rPr>
              <a:t>4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Estrutura do Domínio: Template textual, parâmetros tipados, hiperparâmetros e versão.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Sintaxe SQL Nativa: Suporte a CREATE TABLE, índices semânticos e constraints.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Type Safety: Validação sintática e de tipos no momento do binding relacional.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8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noSpellCheck="1" dirty="0" lang="pt-BR">
                <a:solidFill>
                  <a:srgbClr val="141414"/>
                </a:solidFill>
                <a:latin typeface="Arial"/>
              </a:rPr>
              <a:t>Figura 2 - Estrutura do Tipo de Dado PROMPT</a:t>
            </a:r>
          </a:p>
        </p:txBody>
      </p:sp>
      <p:pic>
        <p:nvPicPr>
          <p:cNvPr id="15" name="Picture 1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noSpellCheck="1" dirty="0" lang="pt-BR">
                <a:solidFill>
                  <a:srgbClr val="5A5A5A"/>
                </a:solidFill>
                <a:latin typeface="Arial"/>
              </a:rPr>
              <a:t>Fonte: Martins &amp; Vossen (2026)</a:t>
            </a:r>
          </a:p>
          <a:p>
            <a:pPr algn="ctr"/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6"/>
              </a:rPr>
              <a:t>ENGCOMP Journal Club | Martins+2026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5A5A5A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000000"/>
                </a:solidFill>
                <a:latin typeface="Arial"/>
              </a:rPr>
              <a:t>Otimização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5A5A5A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Reescrita Algébrica e Economia de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00000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000000"/>
                </a:solidFill>
                <a:latin typeface="Arial"/>
              </a:rPr>
              <a:t>5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Pushdown de Predicados: Filtragem de tuplas antes da expansão do prompt.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Cache Semântico Transacional: Invalidação automática sincronizada com mutações na tabela.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Batching Inteligente: Agrupamento de inferências externas durante scans relacionais.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8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noSpellCheck="1" dirty="0" lang="pt-BR">
                <a:solidFill>
                  <a:srgbClr val="141414"/>
                </a:solidFill>
                <a:latin typeface="Arial"/>
              </a:rPr>
              <a:t>Figura 3 - Otimizador Baseado em Custo</a:t>
            </a:r>
          </a:p>
        </p:txBody>
      </p:sp>
      <p:pic>
        <p:nvPicPr>
          <p:cNvPr id="15" name="Picture 1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noSpellCheck="1" dirty="0" lang="pt-BR">
                <a:solidFill>
                  <a:srgbClr val="5A5A5A"/>
                </a:solidFill>
                <a:latin typeface="Arial"/>
              </a:rPr>
              <a:t>Fonte: Martins &amp; Vossen (2026)</a:t>
            </a:r>
          </a:p>
          <a:p>
            <a:pPr algn="ctr"/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6"/>
              </a:rPr>
              <a:t>ENGCOMP Journal Club | Martins+2026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5A5A5A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000000"/>
                </a:solidFill>
                <a:latin typeface="Arial"/>
              </a:rPr>
              <a:t>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5A5A5A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1E823C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Mitigação de Injeção no Nível de SGBD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00000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000000"/>
                </a:solidFill>
                <a:latin typeface="Arial"/>
              </a:rPr>
              <a:t>6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Prepared Prompts: Separação formal e estrita entre código (template) e dados (inputs).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Controle de Acesso: Políticas de segurança por linha (RLS) e coluna aplicadas a prompts.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Atomicidade &amp; Consistência: Inferência integrada ao ciclo transacional clássico ACID.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8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noSpellCheck="1" dirty="0" lang="pt-BR">
                <a:solidFill>
                  <a:srgbClr val="141414"/>
                </a:solidFill>
                <a:latin typeface="Arial"/>
              </a:rPr>
              <a:t>Figura 4 - Prepared Prompts &amp; RLS</a:t>
            </a:r>
          </a:p>
        </p:txBody>
      </p:sp>
      <p:pic>
        <p:nvPicPr>
          <p:cNvPr id="15" name="Picture 1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noSpellCheck="1" dirty="0" lang="pt-BR">
                <a:solidFill>
                  <a:srgbClr val="5A5A5A"/>
                </a:solidFill>
                <a:latin typeface="Arial"/>
              </a:rPr>
              <a:t>Fonte: Martins &amp; Vossen (2026)</a:t>
            </a:r>
          </a:p>
          <a:p>
            <a:pPr algn="ctr"/>
            <a:r>
              <a:rPr sz="1050" b="1" noSpellCheck="1" dirty="0" lang="pt-BR">
                <a:solidFill>
                  <a:srgbClr val="1E823C"/>
                </a:solidFill>
                <a:latin typeface="Arial"/>
                <a:hlinkClick r:id="rId6"/>
              </a:rPr>
              <a:t>ENGCOMP Journal Club | Martins+2026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noSpellCheck="1" dirty="0" lang="pt-BR">
                <a:solidFill>
                  <a:srgbClr val="1E823C"/>
                </a:solidFill>
                <a:latin typeface="Arial"/>
              </a:rPr>
              <a:t>Obrigado!</a:t>
            </a:r>
            <a:r>
              <a:rPr sz="1800" b="1" noSpellCheck="1" dirty="0" lang="pt-BR">
                <a:solidFill>
                  <a:srgbClr val="1E823C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 noSpellCheck="1" dirty="0" lang="pt-BR">
                <a:solidFill>
                  <a:srgbClr val="1E823C"/>
                </a:solidFill>
                <a:latin typeface="Arial"/>
              </a:rPr>
              <a:t>Pedro Henrique Rocha de Andrade  |  pedroiff0@gmail.com  |  Grupo: engcompbji</a:t>
            </a:r>
          </a:p>
        </p:txBody>
      </p:sp>
      <p:pic>
        <p:nvPicPr>
          <p:cNvPr id="4" name="Picture 3" descr="qrcode_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1E823C"/>
                </a:solidFill>
                <a:latin typeface="Arial"/>
                <a:hlinkClick r:id="rId3"/>
              </a:rPr>
              <a:t>https://www.phrandrade.com/pt-br/research/journal-clubs/engcomp/prompt-as-a-data-type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45A28"/>
      </a:dk2>
      <a:lt2>
        <a:srgbClr val="EEECE1"/>
      </a:lt2>
      <a:accent1>
        <a:srgbClr val="1E823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823C"/>
      </a:hlink>
      <a:folHlink>
        <a:srgbClr val="1E823C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