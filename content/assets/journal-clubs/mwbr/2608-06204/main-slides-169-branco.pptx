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arxiv.org/abs/2608.06204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ui.adsabs.harvard.edu/search/q=author%3A%22Lu%22%20year%3A2026%20title%3A%22They%20Won't%20Be%20Giants%2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2.png"/><Relationship Id="rId8" Type="http://schemas.openxmlformats.org/officeDocument/2006/relationships/hyperlink" Target="https://www.phrandrade.com/pt-br/research/journal-clubs/mwbr/Artigo---Lu2026#-1-contexto-teorico--o-conflito-observacional-section-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phrandrade.com/pt-br/research/journal-clubs/mwbr/Artigo---Lu2026#-2-selecao-de-amostras-levantamentos--populacoes-sinteticas-section-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4.png"/><Relationship Id="rId8" Type="http://schemas.openxmlformats.org/officeDocument/2006/relationships/hyperlink" Target="https://www.phrandrade.com/pt-br/research/journal-clubs/mwbr/Artigo---Lu2026#-3-resultados-a-funcao-de-luminosidade-truncada--o-cmd-section-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5.png"/><Relationship Id="rId8" Type="http://schemas.openxmlformats.org/officeDocument/2006/relationships/hyperlink" Target="https://www.phrandrade.com/pt-br/research/journal-clubs/mwbr/Artigo---Lu2026#-4-validacao-empirica-em-aglomerados-abertos-section-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Relationship Id="rId3" Type="http://schemas.openxmlformats.org/officeDocument/2006/relationships/hyperlink" Target="https://www.phrandrade.com/pt-br/research/journal-clubs/mwbr/" TargetMode="External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319" y="32004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7289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 u="none" noSpellCheck="1" dirty="0" lang="pt-BR">
                <a:solidFill>
                  <a:srgbClr val="58187C"/>
                </a:solidFill>
                <a:latin typeface="Times New Roman"/>
                <a:hlinkClick r:id="rId3"/>
              </a:rPr>
              <a:t>MILKY WAY BRAZIL — JOURNAL CLUB</a:t>
            </a:r>
          </a:p>
          <a:p>
            <a:pPr algn="ctr">
              <a:spcBef>
                <a:spcPts val="1600"/>
              </a:spcBef>
            </a:pPr>
            <a:r>
              <a:rPr b="1" sz="3200" u="none" noSpellCheck="1" dirty="0" lang="pt-BR">
                <a:solidFill>
                  <a:srgbClr val="58187C"/>
                </a:solidFill>
                <a:latin typeface="Times New Roman"/>
                <a:hlinkClick r:id="rId4"/>
              </a:rPr>
              <a:t>They Won't Be Giants</a:t>
            </a:r>
          </a:p>
          <a:p>
            <a:pPr algn="ctr">
              <a:spcBef>
                <a:spcPts val="800"/>
              </a:spcBef>
            </a:pPr>
            <a:r>
              <a:rPr sz="1800" u="none" noSpellCheck="1" dirty="0" lang="pt-BR">
                <a:solidFill>
                  <a:srgbClr val="141414"/>
                </a:solidFill>
                <a:latin typeface="Times New Roman"/>
                <a:hlinkClick r:id="rId4"/>
              </a:rPr>
              <a:t>Missing Metal-Rich RGB Stars in Gaia Data Indicate Truncated Stellar Evolution</a:t>
            </a:r>
          </a:p>
          <a:p>
            <a:pPr algn="ctr">
              <a:spcBef>
                <a:spcPts val="1800"/>
              </a:spcBef>
            </a:pPr>
            <a:r>
              <a:rPr sz="1400" noSpellCheck="1" dirty="0" lang="pt-BR">
                <a:solidFill>
                  <a:srgbClr val="141414"/>
                </a:solidFill>
                <a:latin typeface="Times New Roman"/>
              </a:rPr>
              <a:t>Lu, Y. (Lucy), Howell, M., Pinsonneault, M. H., et al. (2026)</a:t>
            </a:r>
          </a:p>
          <a:p>
            <a:pPr algn="ctr">
              <a:spcBef>
                <a:spcPts val="1200"/>
              </a:spcBef>
            </a:pPr>
            <a:r>
              <a:rPr b="1" sz="1800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Pedro Henrique Rocha de Andrade</a:t>
            </a:r>
          </a:p>
          <a:p>
            <a:pPr algn="ctr">
              <a:spcBef>
                <a:spcPts val="1600"/>
              </a:spcBef>
            </a:pPr>
            <a:r>
              <a:rPr sz="1250" noSpellCheck="1" dirty="0" lang="pt-BR">
                <a:solidFill>
                  <a:srgbClr val="5A5A5A"/>
                </a:solidFill>
                <a:latin typeface="Times New Roman"/>
              </a:rPr>
              <a:t>28 de Agosto de 2026   |   </a:t>
            </a:r>
            <a:r>
              <a:rPr b="1" sz="1250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NASA ADS: Lu+2026</a:t>
            </a:r>
            <a:r>
              <a:rPr sz="1250" noSpellCheck="1" dirty="0" lang="pt-BR">
                <a:solidFill>
                  <a:srgbClr val="5A5A5A"/>
                </a:solidFill>
                <a:latin typeface="Times New Roman"/>
              </a:rPr>
              <a:t>   |   </a:t>
            </a:r>
            <a:r>
              <a:rPr b="1" sz="1250" u="none" noSpellCheck="1" dirty="0" lang="pt-BR">
                <a:solidFill>
                  <a:srgbClr val="58187C"/>
                </a:solidFill>
                <a:latin typeface="Times New Roman"/>
                <a:hlinkClick r:id="rId4"/>
              </a:rPr>
              <a:t>arXiv:2608.06204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5A5A5A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000000"/>
                </a:solidFill>
                <a:latin typeface="Times New Roman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00000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5A5A5A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58187C"/>
                </a:solidFill>
                <a:latin typeface="Times New Roman"/>
              </a:defRPr>
            </a:pPr>
            <a:r>
              <a:t>Estrutura da Apresentação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00000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58187C"/>
                </a:solidFill>
                <a:latin typeface="Times New Roman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58187C"/>
                </a:solidFill>
                <a:latin typeface="Times New Roman"/>
              </a:defRPr>
            </a:pPr>
            <a:r>
              <a:t>1.  Contexto Teórico &amp; O Conflito Observacional</a:t>
            </a:r>
          </a:p>
          <a:p>
            <a:pPr>
              <a:spcAft>
                <a:spcPts val="1600"/>
              </a:spcAft>
              <a:defRPr sz="1900" b="1">
                <a:solidFill>
                  <a:srgbClr val="58187C"/>
                </a:solidFill>
                <a:latin typeface="Times New Roman"/>
              </a:defRPr>
            </a:pPr>
            <a:r>
              <a:t>2.  Seleção de Amostras, Levantamentos &amp; Populações Sintéticas</a:t>
            </a:r>
          </a:p>
          <a:p>
            <a:pPr>
              <a:spcAft>
                <a:spcPts val="1600"/>
              </a:spcAft>
              <a:defRPr sz="1900" b="1">
                <a:solidFill>
                  <a:srgbClr val="58187C"/>
                </a:solidFill>
                <a:latin typeface="Times New Roman"/>
              </a:defRPr>
            </a:pPr>
            <a:r>
              <a:t>3.  Resultados: A Função de Luminosidade Truncada &amp; O CMD</a:t>
            </a:r>
          </a:p>
          <a:p>
            <a:pPr>
              <a:spcAft>
                <a:spcPts val="1600"/>
              </a:spcAft>
              <a:defRPr sz="1900" b="1">
                <a:solidFill>
                  <a:srgbClr val="58187C"/>
                </a:solidFill>
                <a:latin typeface="Times New Roman"/>
              </a:defRPr>
            </a:pPr>
            <a:r>
              <a:t>4.  Validação em Aglomerados Abertos &amp; Resolução do UV-Upturn</a:t>
            </a:r>
          </a:p>
          <a:p>
            <a:pPr>
              <a:spcAft>
                <a:spcPts val="1600"/>
              </a:spcAft>
              <a:defRPr sz="1900" b="1">
                <a:solidFill>
                  <a:srgbClr val="58187C"/>
                </a:solidFill>
                <a:latin typeface="Times New Roman"/>
              </a:defRPr>
            </a:pPr>
            <a:r>
              <a:t>5.  Referências Bibliográficas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5A5A5A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000000"/>
                </a:solidFill>
                <a:latin typeface="Times New Roman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00000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5A5A5A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58187C"/>
                </a:solidFill>
                <a:latin typeface="Times New Roman"/>
              </a:defRPr>
            </a:pPr>
            <a:r>
              <a:t>População no Topo do Ramo das Gigantes (RGB)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00000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58187C"/>
                </a:solidFill>
                <a:latin typeface="Times New Roman"/>
              </a:rPr>
              <a:t>3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8187C"/>
                </a:solidFill>
                <a:latin typeface="Times New Roman"/>
              </a:rPr>
              <a:t>•  Evolução Canônica: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Isócronas clássicas (PARSEC) preveem ascensão contínua até o flash de He.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B41E1E"/>
                </a:solidFill>
                <a:latin typeface="Times New Roman"/>
              </a:rPr>
              <a:t>•  O Conflito Observacional: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Populações com [Fe/H] &gt; +0.4 apresentam escassez severa no Upper-RGB.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A5A5A"/>
                </a:solidFill>
                <a:latin typeface="Times New Roman"/>
              </a:rPr>
              <a:t>•  Pergunta Central: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Por que o topo do ramo desaparece enquanto o Red Clump permanece intacto?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1E783C"/>
                </a:solidFill>
                <a:latin typeface="Times New Roman"/>
              </a:rPr>
              <a:t>•  Hipótese Central: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A evolução no RGB é truncada precocemente por perda de envelope.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141414"/>
                </a:solidFill>
                <a:latin typeface="Times New Roman"/>
              </a:rPr>
              <a:t>Figura 1 - Distribuição Normalizada de Magnitude MG</a:t>
            </a:r>
          </a:p>
        </p:txBody>
      </p:sp>
      <p:pic>
        <p:nvPicPr>
          <p:cNvPr id="15" name="Picture 14" descr="fig1_gaia_surveys_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487119"/>
            <a:ext cx="5715000" cy="3792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5A5A5A"/>
                </a:solidFill>
                <a:latin typeface="Times New Roman"/>
              </a:rPr>
              <a:t>Fonte: Lu et al. (2026)</a:t>
            </a:r>
          </a:p>
          <a:p>
            <a:pPr algn="ctr"/>
            <a:r>
              <a:rPr sz="1100" b="1" u="sng" noSpellCheck="1" dirty="0" lang="pt-BR">
                <a:solidFill>
                  <a:srgbClr val="58187C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5A5A5A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000000"/>
                </a:solidFill>
                <a:latin typeface="Times New Roman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00000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5A5A5A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58187C"/>
                </a:solidFill>
                <a:latin typeface="Times New Roman"/>
              </a:defRPr>
            </a:pPr>
            <a:r>
              <a:t>Amostra Multissurvey &amp; Controle Etário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00000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58187C"/>
                </a:solidFill>
                <a:latin typeface="Times New Roman"/>
              </a:rPr>
              <a:t>4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8187C"/>
                </a:solidFill>
                <a:latin typeface="Times New Roman"/>
              </a:rPr>
              <a:t>•  Levantamentos Independentes: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Gaia DR3 (XP), SDSS-V (APOGEE-2), GALAH DR4 e LAMOST.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8187C"/>
                </a:solidFill>
                <a:latin typeface="Times New Roman"/>
              </a:rPr>
              <a:t>•  Imunidade a Vieses: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Subamostras volumétricas de 1 a 4 kpc e correções homogêneas de extinção.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1E783C"/>
                </a:solidFill>
                <a:latin typeface="Times New Roman"/>
              </a:rPr>
              <a:t>•  Controle Etário: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Idade média constante (~4-6 Gyr) no LAMOST (1,5M estrelas) descarta efeitos etários.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141414"/>
                </a:solidFill>
                <a:latin typeface="Times New Roman"/>
              </a:rPr>
              <a:t>Figura 2 - Distribuição de Idades vs. [Fe/H] (LAMOST)</a:t>
            </a:r>
          </a:p>
        </p:txBody>
      </p:sp>
      <p:pic>
        <p:nvPicPr>
          <p:cNvPr id="15" name="Picture 14" descr="fig2_lamost_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501545"/>
            <a:ext cx="5715000" cy="37634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5A5A5A"/>
                </a:solidFill>
                <a:latin typeface="Times New Roman"/>
              </a:rPr>
              <a:t>Fonte: Lu &amp; Pinsonneault (2026)</a:t>
            </a:r>
          </a:p>
          <a:p>
            <a:pPr algn="ctr"/>
            <a:r>
              <a:rPr sz="1100" b="1" u="sng" noSpellCheck="1" dirty="0" lang="pt-BR">
                <a:solidFill>
                  <a:srgbClr val="58187C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5A5A5A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000000"/>
                </a:solidFill>
                <a:latin typeface="Times New Roman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00000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5A5A5A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58187C"/>
                </a:solidFill>
                <a:latin typeface="Times New Roman"/>
              </a:defRPr>
            </a:pPr>
            <a:r>
              <a:t>Resultados no CMD &amp; Razão N(RGB)/N(RC)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00000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58187C"/>
                </a:solidFill>
                <a:latin typeface="Times New Roman"/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8187C"/>
                </a:solidFill>
                <a:latin typeface="Times New Roman"/>
              </a:rPr>
              <a:t>•  Truncamento em MG &lt; 0: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Desaparecimento sistemático da cauda luminosa além do pico do RC.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1E783C"/>
                </a:solidFill>
                <a:latin typeface="Times New Roman"/>
              </a:rPr>
              <a:t>•  Estabilidade de RC e LRGB: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O Red Clump e a base do ramo mantêm frações perfeitamente constantes.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B41E1E"/>
                </a:solidFill>
                <a:latin typeface="Times New Roman"/>
              </a:rPr>
              <a:t>•  Queda da Razão N(RGB)/N(RC):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Colapso populacional acentuado a &lt; 1 kpc do Sol.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141414"/>
                </a:solidFill>
                <a:latin typeface="Times New Roman"/>
              </a:rPr>
              <a:t>Figura 3 - Frações de URGB, RC e LRGB vs. [Fe/H]</a:t>
            </a:r>
          </a:p>
        </p:txBody>
      </p:sp>
      <p:pic>
        <p:nvPicPr>
          <p:cNvPr id="15" name="Picture 14" descr="fig3_urgb_rc_lrgb_fr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224842"/>
            <a:ext cx="5715000" cy="4316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5A5A5A"/>
                </a:solidFill>
                <a:latin typeface="Times New Roman"/>
              </a:rPr>
              <a:t>Fonte: Lu et al. (2026)</a:t>
            </a:r>
          </a:p>
          <a:p>
            <a:pPr algn="ctr"/>
            <a:r>
              <a:rPr sz="1100" b="1" u="sng" noSpellCheck="1" dirty="0" lang="pt-BR">
                <a:solidFill>
                  <a:srgbClr val="58187C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5A5A5A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000000"/>
                </a:solidFill>
                <a:latin typeface="Times New Roman"/>
              </a:rPr>
              <a:t>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00000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5A5A5A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58187C"/>
                </a:solidFill>
                <a:latin typeface="Times New Roman"/>
              </a:defRPr>
            </a:pPr>
            <a:r>
              <a:t>Validação em Aglomerados &amp; UV-Upturn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00000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58187C"/>
                </a:solidFill>
                <a:latin typeface="Times New Roman"/>
              </a:rPr>
              <a:t>6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8187C"/>
                </a:solidFill>
                <a:latin typeface="Times New Roman"/>
              </a:rPr>
              <a:t>•  Aglomerados Metálicos: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Membros com pureza &gt; 70% confirmam a calibração do Gaia XP.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1E783C"/>
                </a:solidFill>
                <a:latin typeface="Times New Roman"/>
              </a:rPr>
              <a:t>•  Ventos Estelares por Poeira: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Alta opacidade molecular acelera a ejeção do envelope convectivo.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B41E1E"/>
                </a:solidFill>
                <a:latin typeface="Times New Roman"/>
              </a:rPr>
              <a:t>•  Produção de HeWDs &amp; UV-Upturn: </a:t>
            </a:r>
            <a:r>
              <a:rPr sz="1350" noSpellCheck="1" dirty="0" lang="pt-BR">
                <a:solidFill>
                  <a:srgbClr val="141414"/>
                </a:solidFill>
                <a:latin typeface="Times New Roman"/>
              </a:rPr>
              <a:t>Núcleos despidos tornam-se fontes de radiação UV distante.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141414"/>
                </a:solidFill>
                <a:latin typeface="Times New Roman"/>
              </a:rPr>
              <a:t>Figura 4 - Metalicidade vs. Magnitude em NGC 6791/6253</a:t>
            </a:r>
          </a:p>
        </p:txBody>
      </p:sp>
      <p:pic>
        <p:nvPicPr>
          <p:cNvPr id="15" name="Picture 14" descr="fig4_ngc6791_ngc6253_clust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83" y="1188720"/>
            <a:ext cx="3090545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5A5A5A"/>
                </a:solidFill>
                <a:latin typeface="Times New Roman"/>
              </a:rPr>
              <a:t>Fonte: Hunt &amp; Reffert (2024)</a:t>
            </a:r>
          </a:p>
          <a:p>
            <a:pPr algn="ctr"/>
            <a:r>
              <a:rPr sz="1100" b="1" u="sng" noSpellCheck="1" dirty="0" lang="pt-BR">
                <a:solidFill>
                  <a:srgbClr val="58187C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pret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5A5A5A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000000"/>
                </a:solidFill>
                <a:latin typeface="Times New Roman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00000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5A5A5A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58187C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58187C"/>
                </a:solidFill>
                <a:latin typeface="Times New Roman"/>
              </a:defRPr>
            </a:pPr>
            <a:r>
              <a:t>Referências Bibliográficas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58187C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00000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58187C"/>
                </a:solidFill>
                <a:latin typeface="Times New Roman"/>
              </a:rPr>
              <a:t>7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500" noSpellCheck="1" dirty="0" lang="pt-BR">
                <a:solidFill>
                  <a:srgbClr val="58187C"/>
                </a:solidFill>
                <a:latin typeface="Times New Roman"/>
              </a:rPr>
              <a:t>[1]  LU, Y. (Lucy); HOWELL, M.; PINSONNEAULT, M. H., et al.</a:t>
            </a:r>
            <a:r>
              <a:rPr sz="1500" noSpellCheck="1" dirty="0" lang="pt-BR">
                <a:solidFill>
                  <a:srgbClr val="141414"/>
                </a:solidFill>
                <a:latin typeface="Times New Roman"/>
              </a:rPr>
              <a:t> They Won't Be Giants: Missing Metal-Rich RGB Stars in Gaia Data Indicate Truncated Stellar Evolution. arXiv:2608.06204 [astro-ph.GA], 2026.</a:t>
            </a:r>
          </a:p>
          <a:p>
            <a:pPr>
              <a:spcBef>
                <a:spcPts val="1800"/>
              </a:spcBef>
            </a:pPr>
            <a:r>
              <a:rPr b="1" sz="1500" noSpellCheck="1" dirty="0" lang="pt-BR">
                <a:solidFill>
                  <a:srgbClr val="58187C"/>
                </a:solidFill>
                <a:latin typeface="Times New Roman"/>
              </a:rPr>
              <a:t>[2]  ANDRAE, R., et al.</a:t>
            </a:r>
            <a:r>
              <a:rPr sz="1500" noSpellCheck="1" dirty="0" lang="pt-BR">
                <a:solidFill>
                  <a:srgbClr val="141414"/>
                </a:solidFill>
                <a:latin typeface="Times New Roman"/>
              </a:rPr>
              <a:t> Stellar parameters and chemical abundances from Gaia DR3 XP spectra. A&amp;A, 674, A8, 2023.</a:t>
            </a:r>
          </a:p>
          <a:p>
            <a:pPr>
              <a:spcBef>
                <a:spcPts val="1800"/>
              </a:spcBef>
            </a:pPr>
            <a:r>
              <a:rPr b="1" sz="1500" noSpellCheck="1" dirty="0" lang="pt-BR">
                <a:solidFill>
                  <a:srgbClr val="58187C"/>
                </a:solidFill>
                <a:latin typeface="Times New Roman"/>
              </a:rPr>
              <a:t>[3]  HUNT, E. L.; REFFERT, S.</a:t>
            </a:r>
            <a:r>
              <a:rPr sz="1500" noSpellCheck="1" dirty="0" lang="pt-BR">
                <a:solidFill>
                  <a:srgbClr val="141414"/>
                </a:solidFill>
                <a:latin typeface="Times New Roman"/>
              </a:rPr>
              <a:t> Improving the open cluster census with Gaia DR3. A&amp;A, 686, A42, 2024.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3631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 noSpellCheck="1" dirty="0" lang="pt-BR">
                <a:solidFill>
                  <a:srgbClr val="58187C"/>
                </a:solidFill>
                <a:latin typeface="Times New Roman"/>
              </a:rPr>
              <a:t>Obrigado!   —   Perguntas &amp; Discussão</a:t>
            </a:r>
          </a:p>
          <a:p>
            <a:pPr algn="ctr">
              <a:spcBef>
                <a:spcPts val="600"/>
              </a:spcBef>
            </a:pPr>
            <a:r>
              <a:rPr b="1" sz="1300" u="none" noSpellCheck="1" dirty="0" lang="pt-BR">
                <a:solidFill>
                  <a:srgbClr val="58187C"/>
                </a:solidFill>
                <a:latin typeface="Times New Roman"/>
                <a:hlinkClick r:id="rId2"/>
              </a:rPr>
              <a:t>pedroiff0@gmail.com</a:t>
            </a:r>
            <a:r>
              <a:rPr sz="1300" noSpellCheck="1" dirty="0" lang="pt-BR">
                <a:solidFill>
                  <a:srgbClr val="5A5A5A"/>
                </a:solidFill>
                <a:latin typeface="Times New Roman"/>
              </a:rPr>
              <a:t>   |   </a:t>
            </a:r>
            <a:r>
              <a:rPr b="1" sz="1300" u="none" noSpellCheck="1" dirty="0" lang="pt-BR">
                <a:solidFill>
                  <a:srgbClr val="58187C"/>
                </a:solidFill>
                <a:latin typeface="Times New Roman"/>
                <a:hlinkClick r:id="rId3"/>
              </a:rPr>
              <a:t>phrandrade.com/mwbr</a:t>
            </a:r>
          </a:p>
        </p:txBody>
      </p:sp>
      <p:pic>
        <p:nvPicPr>
          <p:cNvPr id="4" name="Picture 3" descr="qrcode_mw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79" y="1261872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19088"/>
            <a:ext cx="1036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 u="none" noSpellCheck="1" dirty="0" lang="pt-BR">
                <a:solidFill>
                  <a:srgbClr val="58187C"/>
                </a:solidFill>
                <a:latin typeface="Times New Roman"/>
                <a:hlinkClick r:id="rId3"/>
              </a:rPr>
              <a:t>https://www.phrandrade.com/pt-br/research/journal-clubs/mwbr/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