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0-discussao-citacoes-nbr-10520-e-referencias-nbr-6023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0-discussao-citacoes-nbr-10520-e-referencias-nbr-6023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7C"/>
                </a:solidFill>
              </a:rPr>
              <a:t>Aula 10: Discussão, Citações (10520) e Referências (6023)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10: Discussão, Citações (10520) e Referências (6023)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58187C"/>
                </a:solidFill>
              </a:rPr>
              <p:t>2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1. O Papel da Discussão e da Conclusão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2. O Novo Padrão de Citações: ABNT NBR 10520:2023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3. As Referências e o Fim do Documento: ABNT NBR 6023 (2018 com correções de 2020)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4. Diagrama Lógico de Encerramento da Pesquisa (Mermaid)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5. Estudo de Caso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6. Exercício Prático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1. O Papel da Discussão e da Conclusão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10: Discussão, Citações (10520) e Referências (6023)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58187C"/>
                </a:solidFill>
              </a:rPr>
              <p:t>3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Após a apresentação fria e objetiva dos dados no capítulo de Resultados, a escrita acadêmica exige que o pesquisador eleve o nível da tese e promova o embate intelectual, interpretando criticamente seus achados na Discussão e fechando as amarras lógicas na Conclusão.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1.1 A Arte da Discussão de Resultados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Discussão responde ao "E daí?". Não basta mostrar que o Algoritmo A foi 15% mais rápido que o Algoritmo B. A Discussão deve: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Confrontar a Literatura: Comparar seus achados com as publicações analisadas na Revisão Sistemática (Capítulo 2). Seus resultados apoiam ou contradizem o estudo anterior de Silva e Santos (2025)?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Explicar Exceções: Justificar anomalias, dados fora do padrão (outliers) e desvios de expectativa. Se a bateria esgotou mais rápido que o calculado, por que isso ocorreu (efeito térmico, falha no componente)?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2. O Novo Padrão de Citações: ABNT NBR 10520:2023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10: Discussão, Citações (10520) e Referências (6023)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58187C"/>
                </a:solidFill>
              </a:rPr>
              <p:t>4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norma que rege a menção de trabalhos no corpo do texto passou por uma revolução drástica no ano de 2023, modernizando a formatação histórica da ABNT. Todo manuscrito científico precisa aplicar e entender a distinção do sistema "Autor-Data".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2.1 Citação Indireta (Paráfrase)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É a mais utilizada em Engenharias e Exatas. O autor reescreve a ideia da obra consultada com suas próprias palavras. O fundamental é informar a autoria e o ano. Não exige número de página.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Autoria inserida na fluidez do texto (dentro da sintaxe da frase): Somente a letra inicial do nome é maiúscula, independente se está ou não no fim do parágrafo.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Exemplo: Segundo afirmação recente de Einstein (2025), o comportamento das partículas...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3. As Referências e o Fim do Documento: ABNT NBR 6...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10: Discussão, Citações (10520) e Referências (6023)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58187C"/>
                </a:solidFill>
              </a:rPr>
              <p:t>5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 referências pós-textuais consistem na lista completa e minuciosa de todas as obras citadas no decorrer do texto (se um artigo foi citado, ele obrigatoriamente tem que estar na lista, e se está na lista, tem que ter sido citado. A compilação BibTeX garante isso automaticamente).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ABNT 6023 detalha como listar cada tipo de documento (livro, periódico, site, tese, relatório técnico, normas padrão e até mesmo postagens de redes sociais ou vídeos do YouTube).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Elementos Essenciais (Livro / Monografia):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AUTOR (Sobrenome em CAIXA ALTA, seguido de Nome abreviado ou não). Título em negrito ou itálico: subtítulo sem negrito. Edição (se houver). Local (cidade): Editora, Ano de publicação.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Exemplo: LAKATOS, E. M.; MARCONI, M. de A. Fundamentos de metodologia científica. 8. ed. São Paulo: Atlas, 2017.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4. Diagrama Lógico de Encerramento da Pesquisa (Me...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10: Discussão, Citações (10520) e Referências (6023)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58187C"/>
                </a:solidFill>
              </a:rPr>
              <p:t>6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graph TD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A(Fim da Coleta e Exibição dos Resultados) --&gt; B[Discussão Crítica];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B --&gt; C{Resultados Atendem aos Objetivos?};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 -- Sim --&gt; D(Confirmação da Hipótese);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 -- Não --&gt; E(Refutação da Hipótese / Encontro de Limitação);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5. Estudo de Caso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10: Discussão, Citações (10520) e Referências (6023)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58187C"/>
                </a:solidFill>
              </a:rPr>
              <p:t>7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Cenário: Carolina chegou ao final da escrita da sua dissertação sobre "Filtragem Ativa de Harmônicos usando Controle Preditivo".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Processo de Fechamento: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Em Resultados, Carolina usa gráficos de espectro de frequência e tabelas de THD (Total Harmonic Distortion).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Na Discussão, ela escreve (usando a NBR 10520:2023 atualizada): Ao reduzir a distorção para 2%, o sistema supera largamente os filtros passivos clássicos documentados pela literatura (Akagi; Watanabe; Aredes, 2017), confirmando a vantagem do rastreio em tempo real.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Ela insere uma citação direta da IEEE-519 justificando por que o limite 5% importava.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6.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10: Discussão, Citações (10520) e Referências (6023)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58187C"/>
                </a:solidFill>
              </a:rPr>
              <p:t>8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Objetivo: Adaptar formatação ao padrão 2023 e entender referências.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 A frase a seguir está no padrão ABNT antigo. Reescreva-a seguindo a regra da nova NBR 10520:2023 para autoria entre parênteses: A estabilidade cibernética global é comprometida pela ação velada de malwares avançados (KASPERSKY; SYMANTEC; MCAFEE, 2022).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 Descreva a principal diferença conceitual, de propósito na estrutura de uma tese, entre a "Discussão" e a "Conclusão".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 Simule a criação de uma Referência Bibliográfica completa nos moldes da NBR 6023 para um livro fictício (um tema inventado ou relacionado ao seu projeto) que possua: Dois autores, uma terceira edição, publicado na cidade do Rio de Janeiro no ano passado.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7. Referências Bibliográficas (ABNT NBR 6023:2018)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10: Discussão, Citações (10520) e Referências (6023)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58187C"/>
                </a:solidFill>
              </a:rPr>
              <p:t>9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6023: Informação e documentação: referências: elaboração. Rio de Janeiro: ABNT, 2018.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10520: Informação e documentação: citações em documentos: apresentação. Rio de Janeiro: ABNT, 2023.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14724: Informação e documentação: trabalhos acadêmicos: apresentação. Rio de Janeiro: ABNT, 2011.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10: Discussão, Citações (10520) e Referências (6023)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58187C"/>
                </a:solidFill>
              </a:rPr>
              <p:t>10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58187C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141414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58187C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8187C"/>
                </a:solidFill>
                <a:hlinkClick r:id="rId4"/>
              </a:rPr>
              <a:t>https://www.phrandrade.com/pt-br/resource/latex/aula-10-discussao-citacoes-nbr-10520-e-referencias-nbr-6023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