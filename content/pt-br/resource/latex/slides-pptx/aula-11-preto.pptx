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1-arquitetura-latex-motores-tex-e-preambulo-tex" TargetMode="External"/><Relationship Id="rId4" Type="http://schemas.openxmlformats.org/officeDocument/2006/relationships/hyperlink" Target="mailto:pedroiff0@gmail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1-arquitetura-latex-motores-tex-e-preambulo-tex" TargetMode="External"/><Relationship Id="rId4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1-arquitetura-latex-motores-tex-e-preambulo-tex" TargetMode="External"/><Relationship Id="rId4" Type="http://schemas.openxmlformats.org/officeDocument/2006/relationships/hyperlink" Target="mailto:pedroiff0@gmail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1-arquitetura-latex-motores-tex-e-preambulo-tex" TargetMode="External"/><Relationship Id="rId4" Type="http://schemas.openxmlformats.org/officeDocument/2006/relationships/hyperlink" Target="mailto:pedroiff0@gmai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1-arquitetura-latex-motores-tex-e-preambulo-tex" TargetMode="External"/><Relationship Id="rId4" Type="http://schemas.openxmlformats.org/officeDocument/2006/relationships/hyperlink" Target="mailto:pedroiff0@gmai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1-arquitetura-latex-motores-tex-e-preambulo-tex" TargetMode="External"/><Relationship Id="rId4" Type="http://schemas.openxmlformats.org/officeDocument/2006/relationships/hyperlink" Target="mailto:pedroiff0@gmail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1-arquitetura-latex-motores-tex-e-preambulo-tex" TargetMode="External"/><Relationship Id="rId4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hyperlink" Target="https://www.phrandrade.com/pt-br/resource/latex/aula-11-arquitetura-latex-motores-tex-e-preambulo-tex" TargetMode="External"/><Relationship Id="rId4" Type="http://schemas.openxmlformats.org/officeDocument/2006/relationships/hyperlink" Target="mailto:pedroiff0@gmail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.png"/><Relationship Id="rId4" Type="http://schemas.openxmlformats.org/officeDocument/2006/relationships/hyperlink" Target="https://www.phrandrade.com/pt-br/resource/latex/aula-11-arquitetura-latex-motores-tex-e-preambulo-tex" TargetMode="External"/><Relationship Id="rId5" Type="http://schemas.openxmlformats.org/officeDocument/2006/relationships/hyperlink" Target="mailto:pedroiff0@gmail.com" TargetMode="External"/><Relationship Id="rId6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554" y="640080"/>
            <a:ext cx="3986891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2011680"/>
            <a:ext cx="11277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1277599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DCB437"/>
                </a:solidFill>
              </a:rPr>
              <a:t>Aula 11: Arquitetura do Kernel LaTeX2e, Motores PDFLaTeX/LuaLaTeX/XeLaTeX e Estrutura do Preâmbulo .tex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06240"/>
            <a:ext cx="1127759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37760"/>
            <a:ext cx="11277599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B4B4B4"/>
                </a:solidFill>
              </a:rPr>
              <a:t>Instituto Federal Fluminense --- Campus Bom Jesus do Itabapoana
Semestre Letivo 2026 | Bom Jesus do Itabapoana - RJ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Sumário da Aula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11: Arquitetura do Kernel LaTeX2e, Motores PDFLaTeX/LuaLaTeX/XeLaTeX e Estrutura do Preâmbulo .tex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2A0A0A0-1111-2222-3333-444444444444}" type="slidenum">
              <a:rPr lang="pt-BR" b="1" sz="1400">
                <a:solidFill>
                  <a:srgbClr val="DCB437"/>
                </a:solidFill>
              </a:rPr>
              <p:t>2</p:t>
            </p:fld>
            <a:r>
              <a:rPr sz="1400" b="1">
                <a:solidFill>
                  <a:srgbClr val="DCB437"/>
                </a:solidFill>
              </a:rPr>
              <a:t> /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1. Introdução à Arquitetura do Sistema TeX e LaTeX2e</a:t>
            </a:r>
          </a:p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2. Estrutura Profunda do Preâmbulo `.tex`</a:t>
            </a:r>
          </a:p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3. Estudo de Caso: Migração de PDFLaTeX para LuaLaTeX em uma Tese</a:t>
            </a:r>
          </a:p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4. Diagrama de Arquitetura dos Motores</a:t>
            </a:r>
          </a:p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5. Exercício Prático</a:t>
            </a:r>
          </a:p>
          <a:p>
            <a:pPr>
              <a:spcAft>
                <a:spcPts val="1000"/>
              </a:spcAft>
              <a:defRPr sz="1800" b="1">
                <a:solidFill>
                  <a:srgbClr val="DCB437"/>
                </a:solidFill>
              </a:defRPr>
            </a:pPr>
            <a:r>
              <a:t>6. Referências Bibliográficas (NBR 6023:2018)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1. Introdução à Arquitetura do Sistema TeX e LaTeX...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11: Arquitetura do Kernel LaTeX2e, Motores PDFLaTeX/LuaLaTeX/XeLaTeX e Estrutura do Preâmbulo .tex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3A0A0A0-1111-2222-3333-444444444444}" type="slidenum">
              <a:rPr lang="pt-BR" b="1" sz="1400">
                <a:solidFill>
                  <a:srgbClr val="DCB437"/>
                </a:solidFill>
              </a:rPr>
              <p:t>3</p:t>
            </p:fld>
            <a:r>
              <a:rPr sz="1400" b="1">
                <a:solidFill>
                  <a:srgbClr val="DCB437"/>
                </a:solidFill>
              </a:rPr>
              <a:t> /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O sistema TeX, criado por Donald Knuth no final da década de 1970, representa um marco na editoração eletrônica e na tipografia digital. Sua arquitetura foi concebida com o rigor matemático necessário para garantir a estabilidade do layout de documentos ao longo de décadas. O LaTeX, concebido inicialmente por Leslie Lamport como um conjunto de macros para simplificar o uso do TeX, evoluiu para o padrão de fato na escrita acadêmica, culminando na versão LaTeX2e.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1.1 O Kernel LaTeX2e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O kernel do LaTeX2e atua como a interface entre as primitivas de baixo nível do TeX (como manipulação de caixas, colas e penalidades - boxes, glue, and penalties) e a semântica abstrata desejada pelos autores (como seções, figuras e referências). A arquitetura modular do kernel permite a extensão através de pacotes (`.sty`) e classes (`.cls`).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O processamento de um documento LaTeX segue um pipeline rigoroso: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1. Tokenização: Leitura do arquivo `.tex` em caracteres e macros.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2. Estrutura Profunda do Preâmbulo `.tex`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11: Arquitetura do Kernel LaTeX2e, Motores PDFLaTeX/LuaLaTeX/XeLaTeX e Estrutura do Preâmbulo .tex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4A0A0A0-1111-2222-3333-444444444444}" type="slidenum">
              <a:rPr lang="pt-BR" b="1" sz="1400">
                <a:solidFill>
                  <a:srgbClr val="DCB437"/>
                </a:solidFill>
              </a:rPr>
              <p:t>4</p:t>
            </p:fld>
            <a:r>
              <a:rPr sz="1400" b="1">
                <a:solidFill>
                  <a:srgbClr val="DCB437"/>
                </a:solidFill>
              </a:rPr>
              <a:t> /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O preâmbulo é a seção do documento LaTeX compreendida entre o `\documentclass` e o `\begin{document}`. Ele atua como o "cérebro" da configuração tipográfica. No contexto da escrita acadêmica e das normas ABNT (NBR 14724, NBR 6023, NBR 10520), o preâmbulo é vital para estabelecer as margens, fontes, espaçamentos entrelinhas e estilos bibliográficos.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2.1 Sintaxe de Invocação de Classe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A declaração `\documentclass[opções]{classe}` não apenas inicia a leitura, mas carrega o arquivo `.cls` correspondente.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% Exemplo de inicialização baseada em abntex2 ou ifftese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\documentclass[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3. Estudo de Caso: Migração de PDFLaTeX para LuaLa...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11: Arquitetura do Kernel LaTeX2e, Motores PDFLaTeX/LuaLaTeX/XeLaTeX e Estrutura do Preâmbulo .tex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5A0A0A0-1111-2222-3333-444444444444}" type="slidenum">
              <a:rPr lang="pt-BR" b="1" sz="1400">
                <a:solidFill>
                  <a:srgbClr val="DCB437"/>
                </a:solidFill>
              </a:rPr>
              <p:t>5</p:t>
            </p:fld>
            <a:r>
              <a:rPr sz="1400" b="1">
                <a:solidFill>
                  <a:srgbClr val="DCB437"/>
                </a:solidFill>
              </a:rPr>
              <a:t> /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O Prof. João, da Engenharia de Materiais, estava desenvolvendo sua tese em PDFLaTeX. Ele enfrentava problemas de lentidão extrema e erros de out of memory (TeX capacity exceeded) ao lidar com mais de 200 figuras em alta resolução e extensos blocos de código TikZ, além de dificuldades para incorporar uma fonte OpenType exigida pelo padrão visual da universidade.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A intervenção requerida foi a alteração do motor para LuaLaTeX. O preâmbulo foi refatorado: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1. Remoção total de `\usepackage[utf8]{inputenc}` e `\usepackage[T1]{fontenc}`.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2. Inclusão de `\usepackage{fontspec}` e definição nativa da fonte.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3. Utilização da capacidade dinâmica de memória do LuaTeX para lidar com gráficos vetoriais imensos sem estourar registradores (save size ou main memory).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4. Diagrama de Arquitetura dos Motores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11: Arquitetura do Kernel LaTeX2e, Motores PDFLaTeX/LuaLaTeX/XeLaTeX e Estrutura do Preâmbulo .tex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6A0A0A0-1111-2222-3333-444444444444}" type="slidenum">
              <a:rPr lang="pt-BR" b="1" sz="1400">
                <a:solidFill>
                  <a:srgbClr val="DCB437"/>
                </a:solidFill>
              </a:rPr>
              <p:t>6</p:t>
            </p:fld>
            <a:r>
              <a:rPr sz="1400" b="1">
                <a:solidFill>
                  <a:srgbClr val="DCB437"/>
                </a:solidFill>
              </a:rPr>
              <a:t> /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graph TD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A[Arquivo Fonte .tex] --&gt;|Engine| B{Seletor de Motor}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B --&gt;|pdfLaTeX| C[Compilação Clássica pdfTeX]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B --&gt;|XeLaTeX| D[Integração Fontes OS xdv2pdf]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B --&gt;|LuaLaTeX| E[Motor com Script Lua Embutido]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5. Exercício Prático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11: Arquitetura do Kernel LaTeX2e, Motores PDFLaTeX/LuaLaTeX/XeLaTeX e Estrutura do Preâmbulo .tex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7A0A0A0-1111-2222-3333-444444444444}" type="slidenum">
              <a:rPr lang="pt-BR" b="1" sz="1400">
                <a:solidFill>
                  <a:srgbClr val="DCB437"/>
                </a:solidFill>
              </a:rPr>
              <p:t>7</p:t>
            </p:fld>
            <a:r>
              <a:rPr sz="1400" b="1">
                <a:solidFill>
                  <a:srgbClr val="DCB437"/>
                </a:solidFill>
              </a:rPr>
              <a:t> /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Objetivo: Criar um preâmbulo "à prova de balas" para LuaLaTeX compatível com as margens da NBR 14724.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1. Crie um arquivo `exercicio.tex`.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2. Utilize a classe `article` com `12pt` e `a4paper`.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3. Configure o pacote `geometry` para margens ABNT: Esquerda e Superior: 3cm, Direita e Inferior: 2cm.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4. Carregue o `fontspec` e configure a fonte 'Arial' (ou similar disponível no seu SO).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iff_cro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3"/>
              </a:rPr>
              <a:t>[DISCIPLINA]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713232"/>
            <a:ext cx="11460479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DCB437"/>
                </a:solidFill>
              </a:defRPr>
            </a:pPr>
            <a:r>
              <a:t>6. Referências Bibliográficas (NBR 6023:2018)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4"/>
              </a:rPr>
              <a:t>Prof. Pedro Henrique Rocha de Andrade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11: Arquitetura do Kernel LaTeX2e, Motores PDFLaTeX/LuaLaTeX/XeLaTeX e Estrutura do Preâmbulo .tex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8A0A0A0-1111-2222-3333-444444444444}" type="slidenum">
              <a:rPr lang="pt-BR" b="1" sz="1400">
                <a:solidFill>
                  <a:srgbClr val="DCB437"/>
                </a:solidFill>
              </a:rPr>
              <p:t>8</p:t>
            </p:fld>
            <a:r>
              <a:rPr sz="1400" b="1">
                <a:solidFill>
                  <a:srgbClr val="DCB437"/>
                </a:solidFill>
              </a:rPr>
              <a:t> /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371600"/>
            <a:ext cx="1109471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ASSOCIAÇÃO BRASILEIRA DE NORMAS TÉCNICAS. NBR 14724: Informação e documentação — Trabalhos acadêmicos — Apresentação. Rio de Janeiro: ABNT, 2011.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KNUTH, Donald E. The TeXbook. Reading, Massachusetts: Addison-Wesley, 1984.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LAMPORT, Leslie. LaTeX: A Document Preparation System. 2. ed. Reading, Massachusetts: Addison-Wesley, 1994.</a:t>
            </a:r>
          </a:p>
          <a:p>
            <a:pPr>
              <a:spcAft>
                <a:spcPts val="800"/>
              </a:spcAft>
              <a:defRPr sz="1700">
                <a:solidFill>
                  <a:srgbClr val="F0F0F0"/>
                </a:solidFill>
              </a:defRPr>
            </a:pPr>
            <a:r>
              <a:t>• MITTELBACH, Frank et al. The LaTeX Companion. 2. ed. Boston: Addison-Wesley, 2004.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ite_estrelada_soft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logo_iff_cro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46304"/>
            <a:ext cx="1461860" cy="40233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0" y="137160"/>
            <a:ext cx="8168639" cy="402336"/>
          </a:xfrm>
          <a:prstGeom prst="rect">
            <a:avLst/>
          </a:prstGeom>
          <a:noFill/>
        </p:spPr>
        <p:txBody>
          <a:bodyPr wrap="none" tIns="27432">
            <a:spAutoFit/>
          </a:bodyPr>
          <a:lstStyle/>
          <a:p>
            <a:pPr algn="r"/>
            <a:r>
              <a:rPr sz="1300" b="1">
                <a:solidFill>
                  <a:srgbClr val="DCB437"/>
                </a:solidFill>
                <a:hlinkClick r:id="rId4"/>
              </a:rPr>
              <a:t>[DISCIPLINA]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1792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19088"/>
            <a:ext cx="12191999" cy="13716"/>
          </a:xfrm>
          <a:prstGeom prst="rect">
            <a:avLst/>
          </a:prstGeom>
          <a:solidFill>
            <a:srgbClr val="DCB437"/>
          </a:solidFill>
          <a:ln>
            <a:solidFill>
              <a:srgbClr val="DCB4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l"/>
            <a:r>
              <a:rPr sz="1400" b="1">
                <a:solidFill>
                  <a:srgbClr val="DCB437"/>
                </a:solidFill>
                <a:hlinkClick r:id="rId5"/>
              </a:rPr>
              <a:t>Prof. Pedro Henrique Rocha de Andrade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7199" y="6464808"/>
            <a:ext cx="426719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ctr"/>
            <a:r>
              <a:rPr sz="1400">
                <a:solidFill>
                  <a:srgbClr val="B4B4B4"/>
                </a:solidFill>
              </a:rPr>
              <a:t>Aula 11: Arquitetura do Kernel LaTeX2e, Motores PDFLaTeX/LuaLaTeX/XeLaTeX e Estrutura do Preâmbulo .tex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34399" y="6464808"/>
            <a:ext cx="3169919" cy="347472"/>
          </a:xfrm>
          <a:prstGeom prst="rect">
            <a:avLst/>
          </a:prstGeom>
          <a:noFill/>
        </p:spPr>
        <p:txBody>
          <a:bodyPr wrap="none" tIns="18288">
            <a:spAutoFit/>
          </a:bodyPr>
          <a:lstStyle/>
          <a:p>
            <a:pPr algn="r"/>
            <p:fld id="{9A0A0A0-1111-2222-3333-444444444444}" type="slidenum">
              <a:rPr lang="pt-BR" b="1" sz="1400">
                <a:solidFill>
                  <a:srgbClr val="DCB437"/>
                </a:solidFill>
              </a:rPr>
              <p:t>9</p:t>
            </p:fld>
            <a:r>
              <a:rPr sz="1400" b="1">
                <a:solidFill>
                  <a:srgbClr val="DCB437"/>
                </a:solidFill>
              </a:rPr>
              <a:t> / 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64592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DCB437"/>
                </a:solidFill>
              </a:defRPr>
            </a:pPr>
            <a:r>
              <a:t>Obrigado!</a:t>
            </a:r>
          </a:p>
          <a:p>
            <a:br/>
            <a:pPr>
              <a:defRPr sz="3200" b="1">
                <a:solidFill>
                  <a:srgbClr val="F0F0F0"/>
                </a:solidFill>
              </a:defRPr>
            </a:pPr>
            <a:r>
              <a:t>Perguntas?</a:t>
            </a:r>
          </a:p>
          <a:p>
            <a:r>
              <a:rPr sz="2200">
                <a:solidFill>
                  <a:srgbClr val="DCB437"/>
                </a:solidFill>
                <a:hlinkClick r:id="rId5"/>
              </a:rPr>
              <a:t>
Contato: pedroiff0@gmail.com</a:t>
            </a:r>
          </a:p>
        </p:txBody>
      </p:sp>
      <p:pic>
        <p:nvPicPr>
          <p:cNvPr id="11" name="Picture 10" descr="qrcode_aula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868680"/>
            <a:ext cx="4937760" cy="49377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669280" y="5897880"/>
            <a:ext cx="6035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DCB437"/>
                </a:solidFill>
                <a:hlinkClick r:id="rId4"/>
              </a:rPr>
              <a:t>https://www.phrandrade.com/pt-br/resource/latex/aula-11-arquitetura-latex-motores-tex-e-preambulo-tex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DCB437"/>
      </a:dk2>
      <a:lt2>
        <a:srgbClr val="EEECE1"/>
      </a:lt2>
      <a:accent1>
        <a:srgbClr val="DCB437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DCB437"/>
      </a:hlink>
      <a:folHlink>
        <a:srgbClr val="DCB43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