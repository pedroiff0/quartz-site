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hyperlink" Target="https://www.phrandrade.com/pt-br/resource/latex/aula-08-etica-plataforma-brasil-e-uso-de-ia" TargetMode="External"/><Relationship Id="rId4" Type="http://schemas.openxmlformats.org/officeDocument/2006/relationships/hyperlink" Target="mailto:pedroiff0@gmail.com"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1.png"/><Relationship Id="rId4" Type="http://schemas.openxmlformats.org/officeDocument/2006/relationships/hyperlink" Target="https://www.phrandrade.com/pt-br/resource/latex/aula-08-etica-plataforma-brasil-e-uso-de-ia" TargetMode="External"/><Relationship Id="rId5" Type="http://schemas.openxmlformats.org/officeDocument/2006/relationships/hyperlink" Target="mailto:pedroiff0@gmail.com" TargetMode="External"/><Relationship Id="rId6"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p:txBody>
      </p:sp>
      <p:sp>
        <p:nvSpPr>
          <p:cNvPr id="3" name="Subtitle 2"/>
          <p:cNvSpPr>
            <a:spLocks noGrp="1"/>
          </p:cNvSpPr>
          <p:nvPr>
            <p:ph type="subTitle"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4102554" y="640080"/>
            <a:ext cx="3986891" cy="1097280"/>
          </a:xfrm>
          <a:prstGeom prst="rect">
            <a:avLst/>
          </a:prstGeom>
        </p:spPr>
      </p:pic>
      <p:sp>
        <p:nvSpPr>
          <p:cNvPr id="6" name="TextBox 5"/>
          <p:cNvSpPr txBox="1"/>
          <p:nvPr/>
        </p:nvSpPr>
        <p:spPr>
          <a:xfrm>
            <a:off x="457200" y="2011680"/>
            <a:ext cx="11277599" cy="457200"/>
          </a:xfrm>
          <a:prstGeom prst="rect">
            <a:avLst/>
          </a:prstGeom>
          <a:noFill/>
        </p:spPr>
        <p:txBody>
          <a:bodyPr wrap="none">
            <a:spAutoFit/>
          </a:bodyPr>
          <a:lstStyle/>
          <a:p>
            <a:pPr algn="ctr"/>
            <a:r>
              <a:rPr sz="2000" b="1">
                <a:solidFill>
                  <a:srgbClr val="58187C"/>
                </a:solidFill>
                <a:hlinkClick r:id="rId3"/>
              </a:rPr>
              <a:t>[DISCIPLINA]</a:t>
            </a:r>
          </a:p>
        </p:txBody>
      </p:sp>
      <p:sp>
        <p:nvSpPr>
          <p:cNvPr id="7" name="TextBox 6"/>
          <p:cNvSpPr txBox="1"/>
          <p:nvPr/>
        </p:nvSpPr>
        <p:spPr>
          <a:xfrm>
            <a:off x="457200" y="2651760"/>
            <a:ext cx="11277599" cy="1280160"/>
          </a:xfrm>
          <a:prstGeom prst="rect">
            <a:avLst/>
          </a:prstGeom>
          <a:noFill/>
        </p:spPr>
        <p:txBody>
          <a:bodyPr wrap="none">
            <a:spAutoFit/>
          </a:bodyPr>
          <a:lstStyle/>
          <a:p>
            <a:pPr algn="ctr"/>
            <a:r>
              <a:rPr sz="2800" b="1">
                <a:solidFill>
                  <a:srgbClr val="58187C"/>
                </a:solidFill>
              </a:rPr>
              <a:t>Aula 08: Ética na Pesquisa (Plataforma Brasil) e IA</a:t>
            </a:r>
          </a:p>
        </p:txBody>
      </p:sp>
      <p:sp>
        <p:nvSpPr>
          <p:cNvPr id="8" name="TextBox 7"/>
          <p:cNvSpPr txBox="1"/>
          <p:nvPr/>
        </p:nvSpPr>
        <p:spPr>
          <a:xfrm>
            <a:off x="457200" y="4206240"/>
            <a:ext cx="11277599" cy="548640"/>
          </a:xfrm>
          <a:prstGeom prst="rect">
            <a:avLst/>
          </a:prstGeom>
          <a:noFill/>
        </p:spPr>
        <p:txBody>
          <a:bodyPr wrap="none">
            <a:spAutoFit/>
          </a:bodyPr>
          <a:lstStyle/>
          <a:p>
            <a:pPr algn="ctr"/>
            <a:r>
              <a:rPr sz="2200" b="1">
                <a:solidFill>
                  <a:srgbClr val="58187C"/>
                </a:solidFill>
                <a:hlinkClick r:id="rId4"/>
              </a:rPr>
              <a:t>Prof. Pedro Henrique Rocha de Andrade</a:t>
            </a:r>
          </a:p>
        </p:txBody>
      </p:sp>
      <p:sp>
        <p:nvSpPr>
          <p:cNvPr id="9" name="TextBox 8"/>
          <p:cNvSpPr txBox="1"/>
          <p:nvPr/>
        </p:nvSpPr>
        <p:spPr>
          <a:xfrm>
            <a:off x="457200" y="4937760"/>
            <a:ext cx="11277599" cy="1097280"/>
          </a:xfrm>
          <a:prstGeom prst="rect">
            <a:avLst/>
          </a:prstGeom>
          <a:noFill/>
        </p:spPr>
        <p:txBody>
          <a:bodyPr wrap="none">
            <a:spAutoFit/>
          </a:bodyPr>
          <a:lstStyle/>
          <a:p>
            <a:pPr algn="ctr"/>
            <a:r>
              <a:rPr sz="1600">
                <a:solidFill>
                  <a:srgbClr val="5A5A5A"/>
                </a:solidFill>
              </a:rPr>
              <a:t>Instituto Federal Fluminense --- Campus Bom Jesus do Itabapoana
Semestre Letivo 2026 | Bom Jesus do Itabapoana - RJ</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Sumário da Aula</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2A0A0A0-1111-2222-3333-444444444444}" type="slidenum">
              <a:rPr lang="pt-BR" b="1" sz="1400">
                <a:solidFill>
                  <a:srgbClr val="58187C"/>
                </a:solidFill>
              </a:rPr>
              <p:t>2</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1000"/>
              </a:spcAft>
              <a:defRPr sz="1800" b="1">
                <a:solidFill>
                  <a:srgbClr val="58187C"/>
                </a:solidFill>
              </a:defRPr>
            </a:pPr>
            <a:r>
              <a:t>1. O Sistema CEP/CONEP e a Ética com Seres Humanos</a:t>
            </a:r>
          </a:p>
          <a:p>
            <a:pPr>
              <a:spcAft>
                <a:spcPts val="1000"/>
              </a:spcAft>
              <a:defRPr sz="1800" b="1">
                <a:solidFill>
                  <a:srgbClr val="58187C"/>
                </a:solidFill>
              </a:defRPr>
            </a:pPr>
            <a:r>
              <a:t>2. A Inserção de Modelos de Linguagem (LLMs e IA Generativa) na Ciência</a:t>
            </a:r>
          </a:p>
          <a:p>
            <a:pPr>
              <a:spcAft>
                <a:spcPts val="1000"/>
              </a:spcAft>
              <a:defRPr sz="1800" b="1">
                <a:solidFill>
                  <a:srgbClr val="58187C"/>
                </a:solidFill>
              </a:defRPr>
            </a:pPr>
            <a:r>
              <a:t>3. Diagrama do Fluxo Ético de Pesquisa (Mermaid)</a:t>
            </a:r>
          </a:p>
          <a:p>
            <a:pPr>
              <a:spcAft>
                <a:spcPts val="1000"/>
              </a:spcAft>
              <a:defRPr sz="1800" b="1">
                <a:solidFill>
                  <a:srgbClr val="58187C"/>
                </a:solidFill>
              </a:defRPr>
            </a:pPr>
            <a:r>
              <a:t>4. Estudo de Caso</a:t>
            </a:r>
          </a:p>
          <a:p>
            <a:pPr>
              <a:spcAft>
                <a:spcPts val="1000"/>
              </a:spcAft>
              <a:defRPr sz="1800" b="1">
                <a:solidFill>
                  <a:srgbClr val="58187C"/>
                </a:solidFill>
              </a:defRPr>
            </a:pPr>
            <a:r>
              <a:t>5. Exercício Prático</a:t>
            </a:r>
          </a:p>
          <a:p>
            <a:pPr>
              <a:spcAft>
                <a:spcPts val="1000"/>
              </a:spcAft>
              <a:defRPr sz="1800" b="1">
                <a:solidFill>
                  <a:srgbClr val="58187C"/>
                </a:solidFill>
              </a:defRPr>
            </a:pPr>
            <a:r>
              <a:t>6. Referências Bibliográficas (ABNT NBR 6023:2018)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1. O Sistema CEP/CONEP e a Ética com Seres Humanos</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3A0A0A0-1111-2222-3333-444444444444}" type="slidenum">
              <a:rPr lang="pt-BR" b="1" sz="1400">
                <a:solidFill>
                  <a:srgbClr val="58187C"/>
                </a:solidFill>
              </a:rPr>
              <p:t>3</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Qualquer projeto de pesquisa, TCC, dissertação ou tese em território nacional que envolva seres humanos de forma direta ou indireta está submetido às diretrizes do Sistema CEP/CONEP (Comitê de Ética em Pesquisa / Comissão Nacional de Ética em Pesquisa), regulamentado pelo Conselho Nacional de Saúde (Resoluções CNS n. 466/2012 e n. 510/2016).</a:t>
            </a:r>
          </a:p>
          <a:p>
            <a:pPr>
              <a:spcAft>
                <a:spcPts val="800"/>
              </a:spcAft>
              <a:defRPr sz="1700">
                <a:solidFill>
                  <a:srgbClr val="141414"/>
                </a:solidFill>
              </a:defRPr>
            </a:pPr>
            <a:r>
              <a:t>• 1.1 O Que Configura "Envolvimento de Seres Humanos"?</a:t>
            </a:r>
          </a:p>
          <a:p>
            <a:pPr>
              <a:spcAft>
                <a:spcPts val="800"/>
              </a:spcAft>
              <a:defRPr sz="1700">
                <a:solidFill>
                  <a:srgbClr val="141414"/>
                </a:solidFill>
              </a:defRPr>
            </a:pPr>
            <a:r>
              <a:t>• Engenheiros e pesquisadores da área de exatas frequentemente (e equivocadamente) acreditam estar isentos da submissão de projetos ao CEP. No entanto, o envolvimento humano não se restringe a ensaios clínicos (dar um medicamento ao paciente). Constitui pesquisa envolvendo seres humanos trabalhos como:</a:t>
            </a:r>
          </a:p>
          <a:p>
            <a:pPr>
              <a:spcAft>
                <a:spcPts val="800"/>
              </a:spcAft>
              <a:defRPr sz="1700">
                <a:solidFill>
                  <a:srgbClr val="141414"/>
                </a:solidFill>
              </a:defRPr>
            </a:pPr>
            <a:r>
              <a:t>• Aplicação de questionários, surveys ou entrevistas estruturadas via Google Forms para validar usabilidade de um software.</a:t>
            </a:r>
          </a:p>
          <a:p>
            <a:pPr>
              <a:spcAft>
                <a:spcPts val="800"/>
              </a:spcAft>
              <a:defRPr sz="1700">
                <a:solidFill>
                  <a:srgbClr val="141414"/>
                </a:solidFill>
              </a:defRPr>
            </a:pPr>
            <a:r>
              <a:t>• Coleta de dados fisiológicos (sinais de EEG, ECG, frequência cardíaca) através de hardwares desenvolvidos no mestrado.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2. A Inserção de Modelos de Linguagem (LLMs e IA G...</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4A0A0A0-1111-2222-3333-444444444444}" type="slidenum">
              <a:rPr lang="pt-BR" b="1" sz="1400">
                <a:solidFill>
                  <a:srgbClr val="58187C"/>
                </a:solidFill>
              </a:rPr>
              <p:t>4</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Com o surgimento e onipresença de Large Language Models (LLMs) como ChatGPT, Claude, Gemini, e DeepSeek, a academia enfrenta um novo desafio ético: a autoria, integridade e o plágio sintético.</a:t>
            </a:r>
          </a:p>
          <a:p>
            <a:pPr>
              <a:spcAft>
                <a:spcPts val="800"/>
              </a:spcAft>
              <a:defRPr sz="1700">
                <a:solidFill>
                  <a:srgbClr val="141414"/>
                </a:solidFill>
              </a:defRPr>
            </a:pPr>
            <a:r>
              <a:t>• Veículos editoriais de imenso prestígio (Nature, Science, IEEE, Elsevier) publicaram, a partir de 2023, diretrizes severas para o uso destas ferramentas. A comunidade científica aceita a IA como uma ferramenta de auxílio produtivo, mas repudia a IA como autora intelectual.</a:t>
            </a:r>
          </a:p>
          <a:p>
            <a:pPr>
              <a:spcAft>
                <a:spcPts val="800"/>
              </a:spcAft>
              <a:defRPr sz="1700">
                <a:solidFill>
                  <a:srgbClr val="141414"/>
                </a:solidFill>
              </a:defRPr>
            </a:pPr>
            <a:r>
              <a:t>• 2.1 Diretrizes de Uso Transparente</a:t>
            </a:r>
          </a:p>
          <a:p>
            <a:pPr>
              <a:spcAft>
                <a:spcPts val="800"/>
              </a:spcAft>
              <a:defRPr sz="1700">
                <a:solidFill>
                  <a:srgbClr val="141414"/>
                </a:solidFill>
              </a:defRPr>
            </a:pPr>
            <a:r>
              <a:t>• Para evitar processos de sindicância e perda de títulos, a conduta acadêmica atual demanda transparência radical no uso de Inteligência Artificial:</a:t>
            </a:r>
          </a:p>
          <a:p>
            <a:pPr>
              <a:spcAft>
                <a:spcPts val="800"/>
              </a:spcAft>
              <a:defRPr sz="1700">
                <a:solidFill>
                  <a:srgbClr val="141414"/>
                </a:solidFill>
              </a:defRPr>
            </a:pPr>
            <a:r>
              <a:t>• 1.  Ferramentas de IA Não São Autoras: Um software não pode assumir responsabilidade legal e ética (accountability) por possíveis fraudes ou erros no texto. Assim, IAs não podem figurar como coautoras de artigos ou teses.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3. Diagrama do Fluxo Ético de Pesquisa (Mermaid)</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5A0A0A0-1111-2222-3333-444444444444}" type="slidenum">
              <a:rPr lang="pt-BR" b="1" sz="1400">
                <a:solidFill>
                  <a:srgbClr val="58187C"/>
                </a:solidFill>
              </a:rPr>
              <p:t>5</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sequenceDiagram</a:t>
            </a:r>
          </a:p>
          <a:p>
            <a:pPr>
              <a:spcAft>
                <a:spcPts val="800"/>
              </a:spcAft>
              <a:defRPr sz="1700">
                <a:solidFill>
                  <a:srgbClr val="141414"/>
                </a:solidFill>
              </a:defRPr>
            </a:pPr>
            <a:r>
              <a:t>• participant Pesquisador as Pesquisador / Aluno</a:t>
            </a:r>
          </a:p>
          <a:p>
            <a:pPr>
              <a:spcAft>
                <a:spcPts val="800"/>
              </a:spcAft>
              <a:defRPr sz="1700">
                <a:solidFill>
                  <a:srgbClr val="141414"/>
                </a:solidFill>
              </a:defRPr>
            </a:pPr>
            <a:r>
              <a:t>• participant PB as Plataforma Brasil (CEP)</a:t>
            </a:r>
          </a:p>
          <a:p>
            <a:pPr>
              <a:spcAft>
                <a:spcPts val="800"/>
              </a:spcAft>
              <a:defRPr sz="1700">
                <a:solidFill>
                  <a:srgbClr val="141414"/>
                </a:solidFill>
              </a:defRPr>
            </a:pPr>
            <a:r>
              <a:t>• participant Voluntario as Sujeito da Pesquisa</a:t>
            </a:r>
          </a:p>
          <a:p>
            <a:pPr>
              <a:spcAft>
                <a:spcPts val="800"/>
              </a:spcAft>
              <a:defRPr sz="1700">
                <a:solidFill>
                  <a:srgbClr val="141414"/>
                </a:solidFill>
              </a:defRPr>
            </a:pPr>
            <a:r>
              <a:t>• participant LLM as Ferramenta IA (Ex: ChatGPT)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4. Estudo de Caso</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6A0A0A0-1111-2222-3333-444444444444}" type="slidenum">
              <a:rPr lang="pt-BR" b="1" sz="1400">
                <a:solidFill>
                  <a:srgbClr val="58187C"/>
                </a:solidFill>
              </a:rPr>
              <p:t>6</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O Cenário: Mariana, engenheira mecânica, construiu uma prótese biônica de mão no doutorado. O movimento depende da leitura de sensores EMG colocados no braço de amputados. Ela quer testar a prótese em 10 pacientes do hospital universitário local. O prazo da tese está apertado.</a:t>
            </a:r>
          </a:p>
          <a:p>
            <a:pPr>
              <a:spcAft>
                <a:spcPts val="800"/>
              </a:spcAft>
              <a:defRPr sz="1700">
                <a:solidFill>
                  <a:srgbClr val="141414"/>
                </a:solidFill>
              </a:defRPr>
            </a:pPr>
            <a:r>
              <a:t>• Desastre Ético: Mariana imprime a prótese, leva ao hospital, pede aos pacientes que testem e mede o grau de abertura da garra. Ela usa o ChatGPT para redigir o capítulo inteiro de Resultados e inventa duas citações para dar volume. Na defesa, a banca descobre que ela não submeteu o projeto à Plataforma Brasil e as citações não batem (o ChatGPT alucinou as publicações). Resultado: tese reprovada, possibilidade de cancelamento de matrícula e responder legalmente por intervenção médica sem CEP.</a:t>
            </a:r>
          </a:p>
          <a:p>
            <a:pPr>
              <a:spcAft>
                <a:spcPts val="800"/>
              </a:spcAft>
              <a:defRPr sz="1700">
                <a:solidFill>
                  <a:srgbClr val="141414"/>
                </a:solidFill>
              </a:defRPr>
            </a:pPr>
            <a:r>
              <a:t>• Abordagem Ética e Correta: Antes de encostar a prótese no primeiro paciente, Mariana redige um TCLE descrevendo os riscos (ex: alergia ao plástico, fadiga muscular). Submete via Plataforma Brasil, aguarda 45 dias, recebe o Parecer Consubstanciado de Aprovação. Testa os pacientes documentando tudo. Escreve a tese por conta própria. Usa o Gemini apenas para refinar a gramática do resumo final e declara, em uma seção "Declaração de Uso de IA", que: "Durante a preparação deste trabalho, a autora utilizou o modelo Gemini Pro (Google) unicamente a fim de melhorar a fluidez da linguagem técnica da língua inglesa. A autora revisou e assume total responsabilidade por todo o conteúdo final." A banca elogia o rigor e a transparência.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5. Exercício Prático</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7A0A0A0-1111-2222-3333-444444444444}" type="slidenum">
              <a:rPr lang="pt-BR" b="1" sz="1400">
                <a:solidFill>
                  <a:srgbClr val="58187C"/>
                </a:solidFill>
              </a:rPr>
              <p:t>7</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1.  Analise seu projeto atual (seja TCC, PIBITI ou apenas uma ideia inicial). Ele requer submissão à Plataforma Brasil? Descreva os motivos do "Sim" ou do "Não".</a:t>
            </a:r>
          </a:p>
          <a:p>
            <a:pPr>
              <a:spcAft>
                <a:spcPts val="800"/>
              </a:spcAft>
              <a:defRPr sz="1700">
                <a:solidFill>
                  <a:srgbClr val="141414"/>
                </a:solidFill>
              </a:defRPr>
            </a:pPr>
            <a:r>
              <a:t>• 2.  Suponha que exija aprovação. Escreva 3 parágrafos simulando o texto principal de um TCLE, focado em explicar: os objetivos, os riscos (ainda que mínimos) e a garantia de sigilo ao leigo.</a:t>
            </a:r>
          </a:p>
          <a:p>
            <a:pPr>
              <a:spcAft>
                <a:spcPts val="800"/>
              </a:spcAft>
              <a:defRPr sz="1700">
                <a:solidFill>
                  <a:srgbClr val="141414"/>
                </a:solidFill>
              </a:defRPr>
            </a:pPr>
            <a:r>
              <a:t>• 3.  Redija uma declaração curta, no padrão Qualis A, que seria inserida no final do seu artigo atestando as formas como você utilizou (ou optou por não utilizar) Inteligência Artificial no seu fluxo de trabalho acadêmico.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Content Placeholder 2"/>
          <p:cNvSpPr>
            <a:spLocks noGrp="1"/>
          </p:cNvSpPr>
          <p:nvPr>
            <p:ph idx="1"/>
          </p:nvPr>
        </p:nvSpPr>
        <p:spPr/>
        <p:txBody>
          <a:bodyPr/>
          <a:lstStyle/>
          <a:p/>
        </p:txBody>
      </p:sp>
      <p:sp>
        <p:nvSpPr>
          <p:cNvPr id="4" name="Rectangle 3"/>
          <p:cNvSpPr/>
          <p:nvPr/>
        </p:nvSpPr>
        <p:spPr>
          <a:xfrm>
            <a:off x="0" y="0"/>
            <a:ext cx="12191999"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ogo_iff_crop.png"/>
          <p:cNvPicPr>
            <a:picLocks noChangeAspect="1"/>
          </p:cNvPicPr>
          <p:nvPr/>
        </p:nvPicPr>
        <p:blipFill>
          <a:blip r:embed="rId2"/>
          <a:stretch>
            <a:fillRect/>
          </a:stretch>
        </p:blipFill>
        <p:spPr>
          <a:xfrm>
            <a:off x="365760" y="146304"/>
            <a:ext cx="1461860" cy="402336"/>
          </a:xfrm>
          <a:prstGeom prst="rect">
            <a:avLst/>
          </a:prstGeom>
        </p:spPr>
      </p:pic>
      <p:sp>
        <p:nvSpPr>
          <p:cNvPr id="6" name="TextBox 5"/>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3"/>
              </a:rPr>
              <a:t>[DISCIPLINA]</a:t>
            </a:r>
          </a:p>
        </p:txBody>
      </p:sp>
      <p:sp>
        <p:nvSpPr>
          <p:cNvPr id="7" name="Rectangle 6"/>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713232"/>
            <a:ext cx="11460479" cy="548640"/>
          </a:xfrm>
          <a:prstGeom prst="rect">
            <a:avLst/>
          </a:prstGeom>
          <a:noFill/>
        </p:spPr>
        <p:txBody>
          <a:bodyPr wrap="none">
            <a:spAutoFit/>
          </a:bodyPr>
          <a:lstStyle/>
          <a:p>
            <a:pPr>
              <a:defRPr sz="2400" b="1">
                <a:solidFill>
                  <a:srgbClr val="58187C"/>
                </a:solidFill>
              </a:defRPr>
            </a:pPr>
            <a:r>
              <a:t>6. Referências Bibliográficas (ABNT NBR 6023:2018)</a:t>
            </a:r>
          </a:p>
        </p:txBody>
      </p:sp>
      <p:sp>
        <p:nvSpPr>
          <p:cNvPr id="9" name="Rectangle 8"/>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4"/>
              </a:rPr>
              <a:t>Prof. Pedro Henrique Rocha de Andrade</a:t>
            </a:r>
          </a:p>
        </p:txBody>
      </p:sp>
      <p:sp>
        <p:nvSpPr>
          <p:cNvPr id="11" name="TextBox 10"/>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12" name="TextBox 11"/>
          <p:cNvSpPr txBox="1"/>
          <p:nvPr/>
        </p:nvSpPr>
        <p:spPr>
          <a:xfrm>
            <a:off x="8534399" y="6464808"/>
            <a:ext cx="3169919" cy="347472"/>
          </a:xfrm>
          <a:prstGeom prst="rect">
            <a:avLst/>
          </a:prstGeom>
          <a:noFill/>
        </p:spPr>
        <p:txBody>
          <a:bodyPr wrap="none" tIns="18288">
            <a:spAutoFit/>
          </a:bodyPr>
          <a:lstStyle/>
          <a:p>
            <a:pPr algn="r"/>
            <p:fld id="{8A0A0A0-1111-2222-3333-444444444444}" type="slidenum">
              <a:rPr lang="pt-BR" b="1" sz="1400">
                <a:solidFill>
                  <a:srgbClr val="58187C"/>
                </a:solidFill>
              </a:rPr>
              <p:t>8</p:t>
            </p:fld>
            <a:r>
              <a:rPr sz="1400" b="1">
                <a:solidFill>
                  <a:srgbClr val="58187C"/>
                </a:solidFill>
              </a:rPr>
              <a:t> / 9</a:t>
            </a:r>
          </a:p>
        </p:txBody>
      </p:sp>
      <p:sp>
        <p:nvSpPr>
          <p:cNvPr id="13" name="TextBox 12"/>
          <p:cNvSpPr txBox="1"/>
          <p:nvPr/>
        </p:nvSpPr>
        <p:spPr>
          <a:xfrm>
            <a:off x="548640" y="1371600"/>
            <a:ext cx="11094719" cy="4754880"/>
          </a:xfrm>
          <a:prstGeom prst="rect">
            <a:avLst/>
          </a:prstGeom>
          <a:noFill/>
        </p:spPr>
        <p:txBody>
          <a:bodyPr wrap="square">
            <a:spAutoFit/>
          </a:bodyPr>
          <a:lstStyle/>
          <a:p/>
          <a:p>
            <a:pPr>
              <a:spcAft>
                <a:spcPts val="800"/>
              </a:spcAft>
              <a:defRPr sz="1700">
                <a:solidFill>
                  <a:srgbClr val="141414"/>
                </a:solidFill>
              </a:defRPr>
            </a:pPr>
            <a:r>
              <a:t>• BRASIL. Ministério da Saúde. Conselho Nacional de Saúde. Resolução nº 466, de 12 de dezembro de 2012. Aprova diretrizes e normas regulamentadoras de pesquisas envolvendo seres humanos. Brasília, DF: Ministério da Saúde, 2012.</a:t>
            </a:r>
          </a:p>
          <a:p>
            <a:pPr>
              <a:spcAft>
                <a:spcPts val="800"/>
              </a:spcAft>
              <a:defRPr sz="1700">
                <a:solidFill>
                  <a:srgbClr val="141414"/>
                </a:solidFill>
              </a:defRPr>
            </a:pPr>
            <a:r>
              <a:t>• BRASIL. Ministério da Saúde. Conselho Nacional de Saúde. Resolução nº 510, de 07 de abril de 2016. Regulamenta a pesquisa nas ciências humanas e sociais. Brasília, DF: Ministério da Saúde, 2016.</a:t>
            </a:r>
          </a:p>
          <a:p>
            <a:pPr>
              <a:spcAft>
                <a:spcPts val="800"/>
              </a:spcAft>
              <a:defRPr sz="1700">
                <a:solidFill>
                  <a:srgbClr val="141414"/>
                </a:solidFill>
              </a:defRPr>
            </a:pPr>
            <a:r>
              <a:t>• ELSEVIER. The use of AI and AI-assisted technologies in writing for Elsevier. 2023. Disponível em: https://www.elsevier.com/about/policies-and-standards/the-use-of-ai-and-ai-assisted-technologies-in-writing-for-elsevier. Acesso em: 04 ago. 2026.</a:t>
            </a:r>
          </a:p>
          <a:p>
            <a:pPr>
              <a:spcAft>
                <a:spcPts val="800"/>
              </a:spcAft>
              <a:defRPr sz="1700">
                <a:solidFill>
                  <a:srgbClr val="141414"/>
                </a:solidFill>
              </a:defRPr>
            </a:pPr>
            <a:r>
              <a:t>• NATURE. Artificial intelligence (AI) in research and publication. 2023. Disponível em: https://www.nature.com/nature-portfolio/editorial-policies/ai. Acesso em: 04 ago. 2026.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noite_estrelada_soft_light.jpg"/>
          <p:cNvPicPr>
            <a:picLocks noChangeAspect="1"/>
          </p:cNvPicPr>
          <p:nvPr/>
        </p:nvPicPr>
        <p:blipFill>
          <a:blip r:embed="rId2"/>
          <a:stretch>
            <a:fillRect/>
          </a:stretch>
        </p:blipFill>
        <p:spPr>
          <a:xfrm>
            <a:off x="0" y="0"/>
            <a:ext cx="12191999" cy="6858000"/>
          </a:xfrm>
          <a:prstGeom prst="rect">
            <a:avLst/>
          </a:prstGeom>
        </p:spPr>
      </p:pic>
      <p:pic>
        <p:nvPicPr>
          <p:cNvPr id="3" name="Picture 2" descr="logo_iff_crop.png"/>
          <p:cNvPicPr>
            <a:picLocks noChangeAspect="1"/>
          </p:cNvPicPr>
          <p:nvPr/>
        </p:nvPicPr>
        <p:blipFill>
          <a:blip r:embed="rId3"/>
          <a:stretch>
            <a:fillRect/>
          </a:stretch>
        </p:blipFill>
        <p:spPr>
          <a:xfrm>
            <a:off x="365760" y="146304"/>
            <a:ext cx="1461860" cy="402336"/>
          </a:xfrm>
          <a:prstGeom prst="rect">
            <a:avLst/>
          </a:prstGeom>
        </p:spPr>
      </p:pic>
      <p:sp>
        <p:nvSpPr>
          <p:cNvPr id="4" name="TextBox 3"/>
          <p:cNvSpPr txBox="1"/>
          <p:nvPr/>
        </p:nvSpPr>
        <p:spPr>
          <a:xfrm>
            <a:off x="3657600" y="137160"/>
            <a:ext cx="8168639" cy="402336"/>
          </a:xfrm>
          <a:prstGeom prst="rect">
            <a:avLst/>
          </a:prstGeom>
          <a:noFill/>
        </p:spPr>
        <p:txBody>
          <a:bodyPr wrap="none" tIns="27432">
            <a:spAutoFit/>
          </a:bodyPr>
          <a:lstStyle/>
          <a:p>
            <a:pPr algn="r"/>
            <a:r>
              <a:rPr sz="1300" b="1">
                <a:solidFill>
                  <a:srgbClr val="58187C"/>
                </a:solidFill>
                <a:hlinkClick r:id="rId4"/>
              </a:rPr>
              <a:t>[DISCIPLINA]</a:t>
            </a:r>
          </a:p>
        </p:txBody>
      </p:sp>
      <p:sp>
        <p:nvSpPr>
          <p:cNvPr id="5" name="Rectangle 4"/>
          <p:cNvSpPr/>
          <p:nvPr/>
        </p:nvSpPr>
        <p:spPr>
          <a:xfrm>
            <a:off x="0" y="621792"/>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19088"/>
            <a:ext cx="12191999" cy="13716"/>
          </a:xfrm>
          <a:prstGeom prst="rect">
            <a:avLst/>
          </a:prstGeom>
          <a:solidFill>
            <a:srgbClr val="58187C"/>
          </a:solidFill>
          <a:ln>
            <a:solidFill>
              <a:srgbClr val="58187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464808"/>
            <a:ext cx="4267199" cy="347472"/>
          </a:xfrm>
          <a:prstGeom prst="rect">
            <a:avLst/>
          </a:prstGeom>
          <a:noFill/>
        </p:spPr>
        <p:txBody>
          <a:bodyPr wrap="none" tIns="18288">
            <a:spAutoFit/>
          </a:bodyPr>
          <a:lstStyle/>
          <a:p>
            <a:pPr algn="l"/>
            <a:r>
              <a:rPr sz="1400" b="1">
                <a:solidFill>
                  <a:srgbClr val="58187C"/>
                </a:solidFill>
                <a:hlinkClick r:id="rId5"/>
              </a:rPr>
              <a:t>Prof. Pedro Henrique Rocha de Andrade</a:t>
            </a:r>
          </a:p>
        </p:txBody>
      </p:sp>
      <p:sp>
        <p:nvSpPr>
          <p:cNvPr id="8" name="TextBox 7"/>
          <p:cNvSpPr txBox="1"/>
          <p:nvPr/>
        </p:nvSpPr>
        <p:spPr>
          <a:xfrm>
            <a:off x="4267199" y="6464808"/>
            <a:ext cx="4267199" cy="347472"/>
          </a:xfrm>
          <a:prstGeom prst="rect">
            <a:avLst/>
          </a:prstGeom>
          <a:noFill/>
        </p:spPr>
        <p:txBody>
          <a:bodyPr wrap="none" tIns="18288">
            <a:spAutoFit/>
          </a:bodyPr>
          <a:lstStyle/>
          <a:p>
            <a:pPr algn="ctr"/>
            <a:r>
              <a:rPr sz="1400">
                <a:solidFill>
                  <a:srgbClr val="5A5A5A"/>
                </a:solidFill>
              </a:rPr>
              <a:t>Aula 08: Ética na Pesquisa (Plataforma Brasil) e IA</a:t>
            </a:r>
          </a:p>
        </p:txBody>
      </p:sp>
      <p:sp>
        <p:nvSpPr>
          <p:cNvPr id="9" name="TextBox 8"/>
          <p:cNvSpPr txBox="1"/>
          <p:nvPr/>
        </p:nvSpPr>
        <p:spPr>
          <a:xfrm>
            <a:off x="8534399" y="6464808"/>
            <a:ext cx="3169919" cy="347472"/>
          </a:xfrm>
          <a:prstGeom prst="rect">
            <a:avLst/>
          </a:prstGeom>
          <a:noFill/>
        </p:spPr>
        <p:txBody>
          <a:bodyPr wrap="none" tIns="18288">
            <a:spAutoFit/>
          </a:bodyPr>
          <a:lstStyle/>
          <a:p>
            <a:pPr algn="r"/>
            <p:fld id="{9A0A0A0-1111-2222-3333-444444444444}" type="slidenum">
              <a:rPr lang="pt-BR" b="1" sz="1400">
                <a:solidFill>
                  <a:srgbClr val="58187C"/>
                </a:solidFill>
              </a:rPr>
              <p:t>9</p:t>
            </p:fld>
            <a:r>
              <a:rPr sz="1400" b="1">
                <a:solidFill>
                  <a:srgbClr val="58187C"/>
                </a:solidFill>
              </a:rPr>
              <a:t> / 9</a:t>
            </a:r>
          </a:p>
        </p:txBody>
      </p:sp>
      <p:sp>
        <p:nvSpPr>
          <p:cNvPr id="10" name="TextBox 9"/>
          <p:cNvSpPr txBox="1"/>
          <p:nvPr/>
        </p:nvSpPr>
        <p:spPr>
          <a:xfrm>
            <a:off x="457200" y="1645920"/>
            <a:ext cx="4572000" cy="4114800"/>
          </a:xfrm>
          <a:prstGeom prst="rect">
            <a:avLst/>
          </a:prstGeom>
          <a:noFill/>
        </p:spPr>
        <p:txBody>
          <a:bodyPr wrap="square">
            <a:spAutoFit/>
          </a:bodyPr>
          <a:lstStyle/>
          <a:p>
            <a:pPr>
              <a:defRPr sz="5400" b="1">
                <a:solidFill>
                  <a:srgbClr val="58187C"/>
                </a:solidFill>
              </a:defRPr>
            </a:pPr>
            <a:r>
              <a:t>Obrigado!</a:t>
            </a:r>
          </a:p>
          <a:p>
            <a:br/>
            <a:pPr>
              <a:defRPr sz="3200" b="1">
                <a:solidFill>
                  <a:srgbClr val="141414"/>
                </a:solidFill>
              </a:defRPr>
            </a:pPr>
            <a:r>
              <a:t>Perguntas?</a:t>
            </a:r>
          </a:p>
          <a:p>
            <a:r>
              <a:rPr sz="2200">
                <a:solidFill>
                  <a:srgbClr val="58187C"/>
                </a:solidFill>
                <a:hlinkClick r:id="rId5"/>
              </a:rPr>
              <a:t>
Contato: pedroiff0@gmail.com</a:t>
            </a:r>
          </a:p>
        </p:txBody>
      </p:sp>
      <p:pic>
        <p:nvPicPr>
          <p:cNvPr id="11" name="Picture 10" descr="qrcode_aula.png"/>
          <p:cNvPicPr>
            <a:picLocks noChangeAspect="1"/>
          </p:cNvPicPr>
          <p:nvPr/>
        </p:nvPicPr>
        <p:blipFill>
          <a:blip r:embed="rId6"/>
          <a:stretch>
            <a:fillRect/>
          </a:stretch>
        </p:blipFill>
        <p:spPr>
          <a:xfrm>
            <a:off x="6217920" y="868680"/>
            <a:ext cx="4937760" cy="4937760"/>
          </a:xfrm>
          <a:prstGeom prst="rect">
            <a:avLst/>
          </a:prstGeom>
        </p:spPr>
      </p:pic>
      <p:sp>
        <p:nvSpPr>
          <p:cNvPr id="12" name="TextBox 11"/>
          <p:cNvSpPr txBox="1"/>
          <p:nvPr/>
        </p:nvSpPr>
        <p:spPr>
          <a:xfrm>
            <a:off x="5669280" y="5897880"/>
            <a:ext cx="6035040" cy="457200"/>
          </a:xfrm>
          <a:prstGeom prst="rect">
            <a:avLst/>
          </a:prstGeom>
          <a:noFill/>
        </p:spPr>
        <p:txBody>
          <a:bodyPr wrap="none">
            <a:spAutoFit/>
          </a:bodyPr>
          <a:lstStyle/>
          <a:p>
            <a:pPr algn="ctr"/>
            <a:r>
              <a:rPr sz="1800" b="1">
                <a:solidFill>
                  <a:srgbClr val="58187C"/>
                </a:solidFill>
                <a:hlinkClick r:id="rId4"/>
              </a:rPr>
              <a:t>https://www.phrandrade.com/pt-br/resource/latex/aula-08-etica-plataforma-brasil-e-uso-de-ia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3C145A"/>
      </a:dk2>
      <a:lt2>
        <a:srgbClr val="EEECE1"/>
      </a:lt2>
      <a:accent1>
        <a:srgbClr val="58187C"/>
      </a:accent1>
      <a:accent2>
        <a:srgbClr val="C0504D"/>
      </a:accent2>
      <a:accent3>
        <a:srgbClr val="9BBB59"/>
      </a:accent3>
      <a:accent4>
        <a:srgbClr val="8064A2"/>
      </a:accent4>
      <a:accent5>
        <a:srgbClr val="4BACC6"/>
      </a:accent5>
      <a:accent6>
        <a:srgbClr val="F79646"/>
      </a:accent6>
      <a:hlink>
        <a:srgbClr val="58187C"/>
      </a:hlink>
      <a:folHlink>
        <a:srgbClr val="58187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