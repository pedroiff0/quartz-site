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9-resultados-tabelas-ibge-vs-quadros-abnt" TargetMode="External"/><Relationship Id="rId4" Type="http://schemas.openxmlformats.org/officeDocument/2006/relationships/hyperlink" Target="mailto:pedroiff0@gmail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9-resultados-tabelas-ibge-vs-quadros-abnt" TargetMode="External"/><Relationship Id="rId4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9-resultados-tabelas-ibge-vs-quadros-abnt" TargetMode="External"/><Relationship Id="rId4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9-resultados-tabelas-ibge-vs-quadros-abnt" TargetMode="External"/><Relationship Id="rId4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9-resultados-tabelas-ibge-vs-quadros-abnt" TargetMode="External"/><Relationship Id="rId4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9-resultados-tabelas-ibge-vs-quadros-abnt" TargetMode="External"/><Relationship Id="rId4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9-resultados-tabelas-ibge-vs-quadros-abnt" TargetMode="External"/><Relationship Id="rId4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9-resultados-tabelas-ibge-vs-quadros-abnt" TargetMode="External"/><Relationship Id="rId4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09-resultados-tabelas-ibge-vs-quadros-abnt" TargetMode="External"/><Relationship Id="rId4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png"/><Relationship Id="rId4" Type="http://schemas.openxmlformats.org/officeDocument/2006/relationships/hyperlink" Target="https://www.phrandrade.com/pt-br/resource/latex/aula-09-resultados-tabelas-ibge-vs-quadros-abnt" TargetMode="External"/><Relationship Id="rId5" Type="http://schemas.openxmlformats.org/officeDocument/2006/relationships/hyperlink" Target="mailto:pedroiff0@gmail.com" TargetMode="External"/><Relationship Id="rId6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554" y="640080"/>
            <a:ext cx="3986891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011680"/>
            <a:ext cx="11277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1277599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DCB437"/>
                </a:solidFill>
              </a:rPr>
              <a:t>Aula 09: Resultados: Tabelas IBGE vs. Quadros ABNT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1127759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37760"/>
            <a:ext cx="1127759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B4B4B4"/>
                </a:solidFill>
              </a:rPr>
              <a:t>Instituto Federal Fluminense --- Campus Bom Jesus do Itabapoana
Semestre Letivo 2026 | Bom Jesus do Itabapoana - RJ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Sumário da Aula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09: Resultados: Tabelas IBGE vs. Quadros ABNT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2A0A0A0-1111-2222-3333-444444444444}" type="slidenum">
              <a:rPr lang="pt-BR" b="1" sz="1400">
                <a:solidFill>
                  <a:srgbClr val="DCB437"/>
                </a:solidFill>
              </a:rPr>
              <p:t>2</p:t>
            </p:fld>
            <a:r>
              <a:rPr sz="1400" b="1">
                <a:solidFill>
                  <a:srgbClr val="DCB437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1. O Capítulo de Resultados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2. A Confusão Histórica: Tabelas vs. Quadros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3. Implementação Prática no LaTeX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4. Diagrama Comparativo (Mermaid)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5. Estudo de Caso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6. Exercício Prático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1. O Capítulo de Resultados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09: Resultados: Tabelas IBGE vs. Quadros ABNT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3A0A0A0-1111-2222-3333-444444444444}" type="slidenum">
              <a:rPr lang="pt-BR" b="1" sz="1400">
                <a:solidFill>
                  <a:srgbClr val="DCB437"/>
                </a:solidFill>
              </a:rPr>
              <p:t>3</p:t>
            </p:fld>
            <a:r>
              <a:rPr sz="1400" b="1">
                <a:solidFill>
                  <a:srgbClr val="DCB437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O capítulo de "Resultados" (frequentemente agrupado como "Resultados e Discussão", embora a divisão seja a preferida em pesquisas experimentais exatas) é o destino final e razão de existir de toda a argumentação da pesquisa.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Para que os resultados possuam clareza e credibilidade, os dados devem ser apresentados em um formato visual estruturado e padronizado. Na escrita acadêmica brasileira (e exigido pelo `ifftese` no LaTeX), há uma forte distinção formal entre a exibição de dados estatísticos/numéricos e a exibição de conteúdos qualitativos e textuais. Esta separação é baseada conjuntamente na NBR 14724 da ABNT e nas normas de apresentação tabular do IBGE.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2. A Confusão Histórica: Tabelas vs. Quadros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09: Resultados: Tabelas IBGE vs. Quadros ABNT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4A0A0A0-1111-2222-3333-444444444444}" type="slidenum">
              <a:rPr lang="pt-BR" b="1" sz="1400">
                <a:solidFill>
                  <a:srgbClr val="DCB437"/>
                </a:solidFill>
              </a:rPr>
              <p:t>4</p:t>
            </p:fld>
            <a:r>
              <a:rPr sz="1400" b="1">
                <a:solidFill>
                  <a:srgbClr val="DCB437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Muitos alunos iniciantes cometem um erro crasso e frequente nas dissertações: chamam qualquer arranjo de linhas e colunas de "Tabela". Para a norma técnica no Brasil, existem duas classes fundamentais e distintas, com formatações visuais rigorosamente diferentes: as Tabelas (Norma IBGE) e os Quadros (ABNT).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2.1 Tabela (Segundo as Normas de Apresentação Tabular do IBGE, 1993)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Propósito: Exibir dados numéricos, estatísticos e matemáticos sujeitos a análise quantitativa. O foco absoluto da tabela é evidenciar as variáveis métricas em suas colunas, facilitando a leitura de séries numéricas contínuas e permitindo comparações rápidas de ordens de grandeza.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Regras de Formatação Estritas (IBGE 1993):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1.  Sem Bordas Laterais: A característica visual mais marcante da Tabela do IBGE é que ela não possui traços verticais delimitando suas bordas direita e esquerda externas.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3. Implementação Prática no LaTeX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09: Resultados: Tabelas IBGE vs. Quadros ABNT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5A0A0A0-1111-2222-3333-444444444444}" type="slidenum">
              <a:rPr lang="pt-BR" b="1" sz="1400">
                <a:solidFill>
                  <a:srgbClr val="DCB437"/>
                </a:solidFill>
              </a:rPr>
              <p:t>5</p:t>
            </p:fld>
            <a:r>
              <a:rPr sz="1400" b="1">
                <a:solidFill>
                  <a:srgbClr val="DCB437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 classe `ifftese` e pacotes como o `booktabs` (para tabelas de alta qualidade) tratam dessas diferenças estruturais de forma nativa e profissional.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Para criar Tabelas visualmente belas, sem bordas laterais e com espaçamento elegante, utiliza-se quase sempre o pacote `booktabs` com os comandos `\toprule`, `\midrule` e `\bottomrule`, evitando os traços verticais `|` no ambiente `tabular`.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Para criar Quadros, o LaTeX precisa fechar todas as grades. Geralmente usa-se a própria estrutura nativa do `tabular` (ex: `\begin{tabular}{|c|c|c|}`) junto com um ambiente flutuante específico como `\begin{quadro}` (criado no preâmbulo por meio de pacotes de customização ou pela classe da universidade).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4. Diagrama Comparativo (Mermaid)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09: Resultados: Tabelas IBGE vs. Quadros ABNT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6A0A0A0-1111-2222-3333-444444444444}" type="slidenum">
              <a:rPr lang="pt-BR" b="1" sz="1400">
                <a:solidFill>
                  <a:srgbClr val="DCB437"/>
                </a:solidFill>
              </a:rPr>
              <p:t>6</p:t>
            </p:fld>
            <a:r>
              <a:rPr sz="1400" b="1">
                <a:solidFill>
                  <a:srgbClr val="DCB437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graph LR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D[Dado a Apresentar] --&gt; E{Numérico/Estatístico?};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E -- Sim (Valores métricos) --&gt; T[Usar TABELA - Norma IBGE];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E -- Não (Textos, Conceitos) --&gt; Q[Usar QUADRO - Norma ABNT];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T --&gt; T1[Laterais ABERTAS \n Sem traços verticais nas bordas];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5. Estudo de Caso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09: Resultados: Tabelas IBGE vs. Quadros ABNT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7A0A0A0-1111-2222-3333-444444444444}" type="slidenum">
              <a:rPr lang="pt-BR" b="1" sz="1400">
                <a:solidFill>
                  <a:srgbClr val="DCB437"/>
                </a:solidFill>
              </a:rPr>
              <p:t>7</p:t>
            </p:fld>
            <a:r>
              <a:rPr sz="1400" b="1">
                <a:solidFill>
                  <a:srgbClr val="DCB437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O Cenário: O mestrando João avaliou 3 linguagens de programação diferentes (C, Python e Java) para criptografia embarcada num chip IoT. Ele quer mostrar as vantagens teóricas de cada uma, e também mostrar os resultados medidos de uso de CPU e tempo gasto para criptografar.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Solução Híbrida e Correta: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1.  Para exibir os parâmetros conceituais e características operacionais de cada linguagem, João cria o Quadro 1 - Comparativo qualitativo das linguagens estudadas. O quadro terá linhas verticais e horizontais fechadas. Nas colunas: "Linguagem", "Tipagem", "Paradigma", "Vantagem no IoT". O conteúdo das células será textual (ex: "Fortemente tipada", "Orientação a objetos").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2.  Para exibir os resultados finais experimentais recolhidos de seus sensores na bancada, ele cria a Tabela 1 - Desempenho computacional dos algoritmos criptográficos em IoT. A tabela não terá bordas laterais. As colunas serão: "Linguagem", "Tempo de Execução (ms)", "Uso de CPU (%)", "Consumo Estimado (mW)". O interior será preenchido com números de ponto flutuante, médias e desvio-padrão obtidos do experimento.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6. Exercício Prático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09: Resultados: Tabelas IBGE vs. Quadros ABNT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8A0A0A0-1111-2222-3333-444444444444}" type="slidenum">
              <a:rPr lang="pt-BR" b="1" sz="1400">
                <a:solidFill>
                  <a:srgbClr val="DCB437"/>
                </a:solidFill>
              </a:rPr>
              <p:t>8</p:t>
            </p:fld>
            <a:r>
              <a:rPr sz="1400" b="1">
                <a:solidFill>
                  <a:srgbClr val="DCB437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1.  Considere os seguintes dados: O Brasil foi pentacampeão do mundo nos anos de 1958, 1962, 1970, 1994 e 2002. A Itália foi tetracampeã em 1934, 1938, 1982, 2006. A Alemanha tetracampeã em 1954, 1974, 1990, 2014. Você classificaria essa informação visualmente num Quadro ou numa Tabela? Por quê?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2.  No ambiente LaTeX `tabular`, como você declararia as colunas para uma Tabela (IBGE) de 3 colunas centralizadas, respeitando a ausência de bordas externas verticais?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3.  E como faria a declaração do mesmo ambiente `tabular` para o Quadro (ABNT) com as mesmas 3 colunas centralizadas, de forma que houvesse traços verticais delimitando todas as colunas e bordas externas?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7. Referências Bibliográficas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09: Resultados: Tabelas IBGE vs. Quadros ABNT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9A0A0A0-1111-2222-3333-444444444444}" type="slidenum">
              <a:rPr lang="pt-BR" b="1" sz="1400">
                <a:solidFill>
                  <a:srgbClr val="DCB437"/>
                </a:solidFill>
              </a:rPr>
              <p:t>9</p:t>
            </p:fld>
            <a:r>
              <a:rPr sz="1400" b="1">
                <a:solidFill>
                  <a:srgbClr val="DCB437"/>
                </a:solidFill>
              </a:rPr>
              <a:t>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ASSOCIAÇÃO BRASILEIRA DE NORMAS TÉCNICAS. NBR 14724: Informação e documentação: trabalhos acadêmicos: apresentação. Rio de Janeiro: ABNT, 2011.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INSTITUTO BRASILEIRO DE GEOGRAFIA E ESTATÍSTICA (IBGE). Normas de apresentação tabular. 3. ed. Rio de Janeiro: IBGE, 1993.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KOPKA, H.; DALY, P. W. Guide to LaTeX. 4. ed. Boston: Addison-Wesley, 2004.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ite_estrelada_soft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logo_iff_cro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4"/>
              </a:rPr>
              <a:t>[DISCIPLINA]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5"/>
              </a:rPr>
              <a:t>Prof. Pedro Henrique Rocha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09: Resultados: Tabelas IBGE vs. Quadros ABNT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10A0A0A0-1111-2222-3333-444444444444}" type="slidenum">
              <a:rPr lang="pt-BR" b="1" sz="1400">
                <a:solidFill>
                  <a:srgbClr val="DCB437"/>
                </a:solidFill>
              </a:rPr>
              <p:t>10</p:t>
            </p:fld>
            <a:r>
              <a:rPr sz="1400" b="1">
                <a:solidFill>
                  <a:srgbClr val="DCB437"/>
                </a:solidFill>
              </a:rPr>
              <a:t>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459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DCB437"/>
                </a:solidFill>
              </a:defRPr>
            </a:pPr>
            <a:r>
              <a:t>Obrigado!</a:t>
            </a:r>
          </a:p>
          <a:p>
            <a:br/>
            <a:pPr>
              <a:defRPr sz="3200" b="1">
                <a:solidFill>
                  <a:srgbClr val="F0F0F0"/>
                </a:solidFill>
              </a:defRPr>
            </a:pPr>
            <a:r>
              <a:t>Perguntas?</a:t>
            </a:r>
          </a:p>
          <a:p>
            <a:r>
              <a:rPr sz="2200">
                <a:solidFill>
                  <a:srgbClr val="DCB437"/>
                </a:solidFill>
                <a:hlinkClick r:id="rId5"/>
              </a:rPr>
              <a:t>
Contato: pedroiff0@gmail.com</a:t>
            </a:r>
          </a:p>
        </p:txBody>
      </p:sp>
      <p:pic>
        <p:nvPicPr>
          <p:cNvPr id="11" name="Picture 10" descr="qrcode_aula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868680"/>
            <a:ext cx="4937760" cy="4937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69280" y="5897880"/>
            <a:ext cx="6035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DCB437"/>
                </a:solidFill>
                <a:hlinkClick r:id="rId4"/>
              </a:rPr>
              <a:t>https://www.phrandrade.com/pt-br/resource/latex/aula-09-resultados-tabelas-ibge-vs-quadros-abnt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DCB437"/>
      </a:dk2>
      <a:lt2>
        <a:srgbClr val="EEECE1"/>
      </a:lt2>
      <a:accent1>
        <a:srgbClr val="DCB437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DCB437"/>
      </a:hlink>
      <a:folHlink>
        <a:srgbClr val="DCB43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