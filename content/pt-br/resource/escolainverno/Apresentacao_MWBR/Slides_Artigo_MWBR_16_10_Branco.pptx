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firstSlideNum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09728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mailto:pedroiff0@gmail.com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mailto:pedroiff0@gmail.com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mailto:pedroiff0@gmail.com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mailto:pedroiff0@gmail.com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mailto:pedroiff0@gmail.com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mailto:pedroiff0@gmail.com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mailto:pedroiff0@gmail.com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mailto:pedroiff0@gmail.com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mailto:pedroiff0@gmail.com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mailto:pedroiff0@gmail.com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mailto:pedroiff0@gmail.com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hyperlink" Target="https://www.phrandrade.com" TargetMode="External"/><Relationship Id="rId5" Type="http://schemas.openxmlformats.org/officeDocument/2006/relationships/hyperlink" Target="mailto:pedroiff0@gmail.com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smic_bg_vivid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972800" cy="6858000"/>
          </a:xfrm>
          <a:prstGeom prst="rect">
            <a:avLst/>
          </a:prstGeom>
        </p:spPr>
      </p:pic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84" y="457200"/>
            <a:ext cx="2316480" cy="868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58384" y="1645920"/>
            <a:ext cx="9656031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0F172A"/>
                </a:solidFill>
                <a:latin typeface="Arial"/>
              </a:defRPr>
            </a:pPr>
            <a:r>
              <a:t>Reconciliação Química no Disco Galáctico</a:t>
            </a:r>
          </a:p>
          <a:p>
            <a:pPr>
              <a:spcBef>
                <a:spcPts val="1400"/>
              </a:spcBef>
              <a:defRPr sz="1800">
                <a:solidFill>
                  <a:srgbClr val="1E293B"/>
                </a:solidFill>
                <a:latin typeface="Arial"/>
              </a:defRPr>
            </a:pPr>
            <a:r>
              <a:t>Abundâncias Estelares de Anãs M e Estrelas FGK face à Evolução Química Galáctica (GCE)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84" y="4389120"/>
            <a:ext cx="9656031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293B"/>
                </a:solidFill>
                <a:latin typeface="Arial"/>
              </a:defRPr>
            </a:pPr>
            <a:r>
              <a:t>Apresentador: Pedro H. R. de Andrade</a:t>
            </a:r>
          </a:p>
          <a:p>
            <a:pPr>
              <a:defRPr sz="1400">
                <a:solidFill>
                  <a:srgbClr val="00923F"/>
                </a:solidFill>
                <a:latin typeface="Arial"/>
              </a:defRPr>
            </a:pPr>
            <a:r>
              <a:t>Contato: pedroiff0@gmail.com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  <a:latin typeface="Arial"/>
              </a:defRPr>
            </a:pPr>
            <a:r>
              <a:t>Artigo: Reconciliation of M Dwarf and FGK Stellar Abundances with Galactic Chemical Evolution (ApJ, 2026)</a:t>
            </a:r>
            <a:br/>
            <a:r>
              <a:t>Autores: T. C. L. Trueman, H. S. Wang, S. J. Mojzsis, D. Turrini, K. Heng, M. Pignatari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0972800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84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126378" y="182880"/>
            <a:ext cx="4114902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Milky Way Brazil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84" y="777240"/>
            <a:ext cx="9656031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Sumário da Apresentação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84" y="1737360"/>
            <a:ext cx="9656031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1. Introdução e Contexto: </a:t>
            </a:r>
            <a:r>
              <a:rPr sz="1400">
                <a:solidFill>
                  <a:srgbClr val="1E293B"/>
                </a:solidFill>
                <a:latin typeface="Arial"/>
              </a:rPr>
              <a:t>O conflito histórico de abundâncias químicas no disco local.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84" y="2423160"/>
            <a:ext cx="9656031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2. Desafios Espectroscópicos: </a:t>
            </a:r>
            <a:r>
              <a:rPr sz="1400">
                <a:solidFill>
                  <a:srgbClr val="1E293B"/>
                </a:solidFill>
                <a:latin typeface="Arial"/>
              </a:rPr>
              <a:t>A complexidade das atmosferas frias e bandas de TiO.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84" y="3108960"/>
            <a:ext cx="9656031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3. Metodologia Observacional e Teórica: </a:t>
            </a:r>
            <a:r>
              <a:rPr sz="1400">
                <a:solidFill>
                  <a:srgbClr val="1E293B"/>
                </a:solidFill>
                <a:latin typeface="Arial"/>
              </a:rPr>
              <a:t>Estudos benchmark 3D NLTE e modelos GCE (OMEGA+).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84" y="3794760"/>
            <a:ext cx="9656031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4. Reconciliação Química: </a:t>
            </a:r>
            <a:r>
              <a:rPr sz="1400">
                <a:solidFill>
                  <a:srgbClr val="1E293B"/>
                </a:solidFill>
                <a:latin typeface="Arial"/>
              </a:rPr>
              <a:t>Resultados de C, O, Na e Ni e o enigma persistente do Titânio.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84" y="4480560"/>
            <a:ext cx="9656031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5. Conexão Exoplanetária e Conclusões: </a:t>
            </a:r>
            <a:r>
              <a:rPr sz="1400">
                <a:solidFill>
                  <a:srgbClr val="1E293B"/>
                </a:solidFill>
                <a:latin typeface="Arial"/>
              </a:rPr>
              <a:t>Impacto na geofísica de planetas rochosos e a missão Ariel.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84" y="5166360"/>
            <a:ext cx="9656031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6. Referências Bibliográficas: </a:t>
            </a:r>
            <a:r>
              <a:rPr sz="1400">
                <a:solidFill>
                  <a:srgbClr val="1E293B"/>
                </a:solidFill>
                <a:latin typeface="Arial"/>
              </a:rPr>
              <a:t>Literatura fundamental utilizada no trabalho.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0972800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84" y="6620256"/>
            <a:ext cx="329192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8949" y="6620256"/>
            <a:ext cx="411490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Reconciliação Química Estelar • MWBR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6949358" y="6620256"/>
            <a:ext cx="329192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1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6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6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6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0972800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84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126378" y="182880"/>
            <a:ext cx="4114902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Milky Way Brazil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84" y="777240"/>
            <a:ext cx="9656031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1. Introdução e Contexto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84" y="1737360"/>
            <a:ext cx="4608691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Anãs M na Galáxia: </a:t>
            </a:r>
            <a:r>
              <a:rPr sz="1400">
                <a:solidFill>
                  <a:srgbClr val="1E293B"/>
                </a:solidFill>
                <a:latin typeface="Arial"/>
              </a:rPr>
              <a:t>Constituem cerca de 70% da população estelar da Via Láctea, alvos principais para buscas de exoplanetas.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84" y="2926080"/>
            <a:ext cx="4608691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Preservação Química: </a:t>
            </a:r>
            <a:r>
              <a:rPr sz="1400">
                <a:solidFill>
                  <a:srgbClr val="1E293B"/>
                </a:solidFill>
                <a:latin typeface="Arial"/>
              </a:rPr>
              <a:t>Sua evolução ultra lenta preserva na fotosfera a assinatura intacta da nuvem molecular original.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84" y="4114800"/>
            <a:ext cx="4608691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Problema Científico: </a:t>
            </a:r>
            <a:r>
              <a:rPr sz="1400">
                <a:solidFill>
                  <a:srgbClr val="1E293B"/>
                </a:solidFill>
                <a:latin typeface="Arial"/>
              </a:rPr>
              <a:t>Estudos anteriores encontravam discrepâncias químicas severas entre anãs M e FGK no disco local.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5596267" y="1737360"/>
            <a:ext cx="4690989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400"/>
              </a:spcAft>
              <a:defRPr sz="2000" b="1">
                <a:solidFill>
                  <a:srgbClr val="00923F"/>
                </a:solidFill>
                <a:latin typeface="Arial"/>
              </a:defRPr>
            </a:pPr>
            <a:r>
              <a:t>A Controvérsia Química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923F"/>
                </a:solidFill>
                <a:latin typeface="Arial"/>
              </a:rPr>
              <a:t>Modelagem Física: </a:t>
            </a:r>
            <a:r>
              <a:rPr sz="1400">
                <a:solidFill>
                  <a:srgbClr val="1E293B"/>
                </a:solidFill>
                <a:latin typeface="Arial"/>
              </a:rPr>
              <a:t>Vieses sistemáticos de 1D LTE distorciam a análise espectral nas anãs M.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923F"/>
                </a:solidFill>
                <a:latin typeface="Arial"/>
              </a:rPr>
              <a:t>Questão-Chave: </a:t>
            </a:r>
            <a:r>
              <a:rPr sz="1400">
                <a:solidFill>
                  <a:srgbClr val="1E293B"/>
                </a:solidFill>
                <a:latin typeface="Arial"/>
              </a:rPr>
              <a:t>Isso indica enriquecimento anômalo ou falhas de espectroscopia?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0972800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84" y="6620256"/>
            <a:ext cx="329192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8949" y="6620256"/>
            <a:ext cx="411490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Reconciliação Química Estelar • MWBR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6949358" y="6620256"/>
            <a:ext cx="329192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2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0972800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84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126378" y="182880"/>
            <a:ext cx="4114902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Milky Way Brazil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84" y="777240"/>
            <a:ext cx="9656031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2. Desafios Espectroscópicos em Estrelas Frias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84" y="1737360"/>
            <a:ext cx="9656031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Temperaturas Baixas (&lt; 4000 K): </a:t>
            </a:r>
            <a:r>
              <a:rPr sz="1400">
                <a:solidFill>
                  <a:srgbClr val="1E293B"/>
                </a:solidFill>
                <a:latin typeface="Arial"/>
              </a:rPr>
              <a:t>Permitem condensação molecular na fotosfera, saturando o espectro.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84" y="2697480"/>
            <a:ext cx="9656031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Bandas de TiO: </a:t>
            </a:r>
            <a:r>
              <a:rPr sz="1400">
                <a:solidFill>
                  <a:srgbClr val="1E293B"/>
                </a:solidFill>
                <a:latin typeface="Arial"/>
              </a:rPr>
              <a:t>Óxido de Titânio polui e bloqueia o contínuo óptico, cobrindo linhas atômicas livres.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84" y="3657600"/>
            <a:ext cx="9656031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Vieses de 1D LTE: </a:t>
            </a:r>
            <a:r>
              <a:rPr sz="1400">
                <a:solidFill>
                  <a:srgbClr val="1E293B"/>
                </a:solidFill>
                <a:latin typeface="Arial"/>
              </a:rPr>
              <a:t>Suposição clássica de LTE unidimensional distorce abundâncias obtidas de linhas de ressonância.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84" y="4617720"/>
            <a:ext cx="9656031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Importância de NLTE 3D: </a:t>
            </a:r>
            <a:r>
              <a:rPr sz="1400">
                <a:solidFill>
                  <a:srgbClr val="1E293B"/>
                </a:solidFill>
                <a:latin typeface="Arial"/>
              </a:rPr>
              <a:t>Modelos avançados são cruciais para isolar metalicidades e elementos refratários como Na e 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84" y="6035040"/>
            <a:ext cx="9656031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1E293B"/>
                </a:solidFill>
                <a:latin typeface="Arial"/>
              </a:defRPr>
            </a:pPr>
            <a:r>
              <a:t>Ref: Amarsi et al. (2019), Bergemann et al. (2017)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0972800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84" y="6620256"/>
            <a:ext cx="329192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8949" y="6620256"/>
            <a:ext cx="411490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Reconciliação Química Estelar • MWBR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6949358" y="6620256"/>
            <a:ext cx="329192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3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0972800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84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126378" y="182880"/>
            <a:ext cx="4114902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Milky Way Brazil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84" y="777240"/>
            <a:ext cx="9656031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3. Metodologia Observacional: Amostra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84" y="1737360"/>
            <a:ext cx="4773287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Amostra Benchmark: </a:t>
            </a:r>
            <a:r>
              <a:rPr sz="1400">
                <a:solidFill>
                  <a:srgbClr val="1E293B"/>
                </a:solidFill>
                <a:latin typeface="Arial"/>
              </a:rPr>
              <a:t>47 estrelas anãs M selecionadas dos catálogos APOGEE, CARMENES e Subaru/IRD.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84" y="2697480"/>
            <a:ext cx="4773287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Homogeneidade: </a:t>
            </a:r>
            <a:r>
              <a:rPr sz="1400">
                <a:solidFill>
                  <a:srgbClr val="1E293B"/>
                </a:solidFill>
                <a:latin typeface="Arial"/>
              </a:rPr>
              <a:t>Uso exclusivo de atmosferas modelo MARCS para calibração espectral.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84" y="3657600"/>
            <a:ext cx="4773287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FGK de Referência: </a:t>
            </a:r>
            <a:r>
              <a:rPr sz="1400">
                <a:solidFill>
                  <a:srgbClr val="1E293B"/>
                </a:solidFill>
                <a:latin typeface="Arial"/>
              </a:rPr>
              <a:t>Dados compilados e corrigidos para efeitos tridimensionais Não-LTE no disco local.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84" y="4617720"/>
            <a:ext cx="4773287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Faixa de Metalicidade: </a:t>
            </a:r>
            <a:r>
              <a:rPr sz="1400">
                <a:solidFill>
                  <a:srgbClr val="1E293B"/>
                </a:solidFill>
                <a:latin typeface="Arial"/>
              </a:rPr>
              <a:t>Foco no disco fino galáctico cobrindo -0.5 &lt;= [Fe/H] &lt;= +0.4.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84" y="6035040"/>
            <a:ext cx="9656031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1E293B"/>
                </a:solidFill>
                <a:latin typeface="Arial"/>
              </a:defRPr>
            </a:pPr>
            <a:r>
              <a:t>Ref: Gustafsson et al. (2008), Trueman et al. (2026)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60864" y="1737360"/>
            <a:ext cx="4526393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923F"/>
                </a:solidFill>
                <a:latin typeface="Arial"/>
              </a:defRPr>
            </a:pPr>
            <a:br/>
            <a:br/>
            <a:br/>
            <a:br/>
            <a:r>
              <a:t>[ Espaço Reservado para Figura: Espectros / Diagrama HR 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0972800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84" y="6620256"/>
            <a:ext cx="329192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8949" y="6620256"/>
            <a:ext cx="411490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Reconciliação Química Estelar • MWBR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6949358" y="6620256"/>
            <a:ext cx="329192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4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0972800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84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126378" y="182880"/>
            <a:ext cx="4114902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Milky Way Brazil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84" y="777240"/>
            <a:ext cx="9656031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4. Metodologia Teórica: Modelos GCE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84" y="1737360"/>
            <a:ext cx="9656031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Código OMEGA+: </a:t>
            </a:r>
            <a:r>
              <a:rPr sz="1400">
                <a:solidFill>
                  <a:srgbClr val="1E293B"/>
                </a:solidFill>
                <a:latin typeface="Arial"/>
              </a:rPr>
              <a:t>Simulações de enriquecimento químico baseadas em modelo de duas zonas (galáxia e meio circumgaláctico).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84" y="2697480"/>
            <a:ext cx="9656031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Rendimentos de Nucleossíntese: </a:t>
            </a:r>
            <a:r>
              <a:rPr sz="1400">
                <a:solidFill>
                  <a:srgbClr val="1E293B"/>
                </a:solidFill>
                <a:latin typeface="Arial"/>
              </a:rPr>
              <a:t>Modelos comparativos de supernovas core-collapse (CCSN) de Nomoto (2013) e Limongi &amp; Chieffi (2018).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84" y="3657600"/>
            <a:ext cx="9656031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Supernovas Tipo Ia: </a:t>
            </a:r>
            <a:r>
              <a:rPr sz="1400">
                <a:solidFill>
                  <a:srgbClr val="1E293B"/>
                </a:solidFill>
                <a:latin typeface="Arial"/>
              </a:rPr>
              <a:t>Delay-Time Distribution (DTD) calibrado com platô de 1 Gyr para ajuste dos elementos do grupo do ferro.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84" y="4617720"/>
            <a:ext cx="9656031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Dispersão no Disco: </a:t>
            </a:r>
            <a:r>
              <a:rPr sz="1400">
                <a:solidFill>
                  <a:srgbClr val="1E293B"/>
                </a:solidFill>
                <a:latin typeface="Arial"/>
              </a:rPr>
              <a:t>Simulação de 6 trilhas independentes mapeando o espalhamento de metalicidade solar local.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84" y="6035040"/>
            <a:ext cx="9656031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1E293B"/>
                </a:solidFill>
                <a:latin typeface="Arial"/>
              </a:defRPr>
            </a:pPr>
            <a:r>
              <a:t>Ref: Nomoto et al. (2013), Limongi &amp; Chieffi (2018)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0972800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84" y="6620256"/>
            <a:ext cx="329192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8949" y="6620256"/>
            <a:ext cx="411490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Reconciliação Química Estelar • MWBR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6949358" y="6620256"/>
            <a:ext cx="329192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5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0972800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84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126378" y="182880"/>
            <a:ext cx="4114902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Milky Way Brazil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84" y="777240"/>
            <a:ext cx="9656031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5. Resultados: Reconciliação Química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84" y="1737360"/>
            <a:ext cx="4773287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Slopes Equivalentes: </a:t>
            </a:r>
            <a:r>
              <a:rPr sz="1400">
                <a:solidFill>
                  <a:srgbClr val="1E293B"/>
                </a:solidFill>
                <a:latin typeface="Arial"/>
              </a:rPr>
              <a:t>Abundâncias de [C/H], [O/H], [Na/Fe] e [Ni/Fe] nas anãs M e FGK apresentam a mesma inclinação.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84" y="2697480"/>
            <a:ext cx="4773287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Ajuste por Regressão ODR: </a:t>
            </a:r>
            <a:r>
              <a:rPr sz="1400">
                <a:solidFill>
                  <a:srgbClr val="1E293B"/>
                </a:solidFill>
                <a:latin typeface="Arial"/>
              </a:rPr>
              <a:t>Sobreposição completa de 1-sigma nas bandas de confiança estatística.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84" y="3657600"/>
            <a:ext cx="4773287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Resolução de Divergências: </a:t>
            </a:r>
            <a:r>
              <a:rPr sz="1400">
                <a:solidFill>
                  <a:srgbClr val="1E293B"/>
                </a:solidFill>
                <a:latin typeface="Arial"/>
              </a:rPr>
              <a:t>Estudos anteriores divergiam porque não corrigiam os dados de FGK com modelos 3D NLTE.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84" y="4617720"/>
            <a:ext cx="4773287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Sucesso do OMEGA+: </a:t>
            </a:r>
            <a:r>
              <a:rPr sz="1400">
                <a:solidFill>
                  <a:srgbClr val="1E293B"/>
                </a:solidFill>
                <a:latin typeface="Arial"/>
              </a:rPr>
              <a:t>Excelente acordo entre previsões dos modelos GCE e observações estelares.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864" y="1737360"/>
            <a:ext cx="4526393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923F"/>
                </a:solidFill>
                <a:latin typeface="Arial"/>
              </a:defRPr>
            </a:pPr>
            <a:br/>
            <a:br/>
            <a:br/>
            <a:br/>
            <a:r>
              <a:t>[ Espaço Reservado para Figura: Regressão ODR / Abundâncias 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0972800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84" y="6620256"/>
            <a:ext cx="329192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8949" y="6620256"/>
            <a:ext cx="411490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Reconciliação Química Estelar • MWBR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6949358" y="6620256"/>
            <a:ext cx="329192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6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0972800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84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126378" y="182880"/>
            <a:ext cx="4114902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Milky Way Brazil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84" y="777240"/>
            <a:ext cx="9656031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6. A Exceção Singular do Titânio ([Ti/H])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84" y="1737360"/>
            <a:ext cx="9656031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Incompatibilidade Estatística (p ~ 0.00): </a:t>
            </a:r>
            <a:r>
              <a:rPr sz="1400">
                <a:solidFill>
                  <a:srgbClr val="1E293B"/>
                </a:solidFill>
                <a:latin typeface="Arial"/>
              </a:rPr>
              <a:t>O slope obtido para [Ti/H] em anãs M diverge severamente em relação às estrelas FGK.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84" y="2697480"/>
            <a:ext cx="9656031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Gargalo de Condensação: </a:t>
            </a:r>
            <a:r>
              <a:rPr sz="1400">
                <a:solidFill>
                  <a:srgbClr val="1E293B"/>
                </a:solidFill>
                <a:latin typeface="Arial"/>
              </a:rPr>
              <a:t>Em atmosferas frias de anãs M, o Ti é incorporado na formação de TiO, reduzindo as linhas atômicas livres.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84" y="3657600"/>
            <a:ext cx="9656031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Vieses em Espectros: </a:t>
            </a:r>
            <a:r>
              <a:rPr sz="1400">
                <a:solidFill>
                  <a:srgbClr val="1E293B"/>
                </a:solidFill>
                <a:latin typeface="Arial"/>
              </a:rPr>
              <a:t>Uso de linhas de Ti I atômico sem devidas correções de Não-LTE causa subestimação sistemática de abundâncias.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84" y="4617720"/>
            <a:ext cx="9656031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Causa Identificada: </a:t>
            </a:r>
            <a:r>
              <a:rPr sz="1400">
                <a:solidFill>
                  <a:srgbClr val="1E293B"/>
                </a:solidFill>
                <a:latin typeface="Arial"/>
              </a:rPr>
              <a:t>A discrepância é de natureza metodológica observacional, e não reflete uma anomalia química real galáctica.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0972800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84" y="6620256"/>
            <a:ext cx="329192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8949" y="6620256"/>
            <a:ext cx="411490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Reconciliação Química Estelar • MWBR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6949358" y="6620256"/>
            <a:ext cx="329192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7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0972800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84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126378" y="182880"/>
            <a:ext cx="4114902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Milky Way Brazil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84" y="777240"/>
            <a:ext cx="9656031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7. Implicações na Caracterização Exoplanetária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84" y="1737360"/>
            <a:ext cx="9656031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Composição do Disco: </a:t>
            </a:r>
            <a:r>
              <a:rPr sz="1400">
                <a:solidFill>
                  <a:srgbClr val="1E293B"/>
                </a:solidFill>
                <a:latin typeface="Arial"/>
              </a:rPr>
              <a:t>As abundâncias estelares regulam as frações de refratários e voláteis no disco protoestelar.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84" y="2697480"/>
            <a:ext cx="9656031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Geofísica de Mundos Rochosos: </a:t>
            </a:r>
            <a:r>
              <a:rPr sz="1400">
                <a:solidFill>
                  <a:srgbClr val="1E293B"/>
                </a:solidFill>
                <a:latin typeface="Arial"/>
              </a:rPr>
              <a:t>Razões chaves como [Mg/Si] e [C/O] determinam mineralogia do manto e tamanho de núcleos de ferro planetários.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84" y="3657600"/>
            <a:ext cx="9656031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Parâmetro Ariel: </a:t>
            </a:r>
            <a:r>
              <a:rPr sz="1400">
                <a:solidFill>
                  <a:srgbClr val="1E293B"/>
                </a:solidFill>
                <a:latin typeface="Arial"/>
              </a:rPr>
              <a:t>A missão espacial Ariel usará a composição química estelar para estimar a geodinâmica e a atmosfera dos exoplanetas.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84" y="4617720"/>
            <a:ext cx="9656031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GCE como Benchmark: </a:t>
            </a:r>
            <a:r>
              <a:rPr sz="1400">
                <a:solidFill>
                  <a:srgbClr val="1E293B"/>
                </a:solidFill>
                <a:latin typeface="Arial"/>
              </a:rPr>
              <a:t>A consistência valida o uso de modelos galácticos para normalizar composições em surveys exoplanetários amplos.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84" y="6035040"/>
            <a:ext cx="9656031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1E293B"/>
                </a:solidFill>
                <a:latin typeface="Arial"/>
              </a:defRPr>
            </a:pPr>
            <a:r>
              <a:t>Ref: Ariel White Paper (2021)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0972800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84" y="6620256"/>
            <a:ext cx="329192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8949" y="6620256"/>
            <a:ext cx="411490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Reconciliação Química Estelar • MWBR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6949358" y="6620256"/>
            <a:ext cx="329192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8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0972800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84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126378" y="182880"/>
            <a:ext cx="4114902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Milky Way Brazil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84" y="777240"/>
            <a:ext cx="9656031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8. Conclusões e Perspectivas Futuras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84" y="1737360"/>
            <a:ext cx="9656031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Coerência Química: </a:t>
            </a:r>
            <a:r>
              <a:rPr sz="1400">
                <a:solidFill>
                  <a:srgbClr val="1E293B"/>
                </a:solidFill>
                <a:latin typeface="Arial"/>
              </a:rPr>
              <a:t>Anãs M e estrelas FGK na vizinhança solar compartilham da mesma história de enriquecimento químico galáctico.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84" y="2697480"/>
            <a:ext cx="9656031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Superação de Vieses: </a:t>
            </a:r>
            <a:r>
              <a:rPr sz="1400">
                <a:solidFill>
                  <a:srgbClr val="1E293B"/>
                </a:solidFill>
                <a:latin typeface="Arial"/>
              </a:rPr>
              <a:t>Modelos tridimensionais fora de LTE são cruciais para reestabelecer concordâncias espectroscópicas.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84" y="3657600"/>
            <a:ext cx="9656031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Calibração Teórica: </a:t>
            </a:r>
            <a:r>
              <a:rPr sz="1400">
                <a:solidFill>
                  <a:srgbClr val="1E293B"/>
                </a:solidFill>
                <a:latin typeface="Arial"/>
              </a:rPr>
              <a:t>Códigos de evolução química como o OMEGA+ servem como verificação independente de discrepâncias espectrais.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84" y="4617720"/>
            <a:ext cx="9656031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Apoio a Exoplanetas: </a:t>
            </a:r>
            <a:r>
              <a:rPr sz="1400">
                <a:solidFill>
                  <a:srgbClr val="1E293B"/>
                </a:solidFill>
                <a:latin typeface="Arial"/>
              </a:rPr>
              <a:t>A determinação refinada das abundâncias estelares garante inferências precisas sobre interiores de exoplanetas.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0972800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84" y="6620256"/>
            <a:ext cx="329192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8949" y="6620256"/>
            <a:ext cx="411490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Reconciliação Química Estelar • MWBR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6949358" y="6620256"/>
            <a:ext cx="329192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9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0972800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84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126378" y="182880"/>
            <a:ext cx="4114902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Milky Way Brazil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84" y="777240"/>
            <a:ext cx="9656031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9. Síntese do Conteúdo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84" y="1737360"/>
            <a:ext cx="9656031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Modelagem 3D NLTE: </a:t>
            </a:r>
            <a:r>
              <a:rPr sz="1400">
                <a:solidFill>
                  <a:srgbClr val="1E293B"/>
                </a:solidFill>
                <a:latin typeface="Arial"/>
              </a:rPr>
              <a:t>Fundamental para eliminar discrepâncias artificiais nas anãs 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84" y="2697480"/>
            <a:ext cx="9656031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Harmonia Química Local: </a:t>
            </a:r>
            <a:r>
              <a:rPr sz="1400">
                <a:solidFill>
                  <a:srgbClr val="1E293B"/>
                </a:solidFill>
                <a:latin typeface="Arial"/>
              </a:rPr>
              <a:t>Abundâncias de C, O, Na e Ni no disco local são homogêneas.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84" y="3657600"/>
            <a:ext cx="9656031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Desvio Metodológico: </a:t>
            </a:r>
            <a:r>
              <a:rPr sz="1400">
                <a:solidFill>
                  <a:srgbClr val="1E293B"/>
                </a:solidFill>
                <a:latin typeface="Arial"/>
              </a:rPr>
              <a:t>O desvio de [Ti/H] é físico-químico (TiO e LTE), não nucleossintético.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84" y="4617720"/>
            <a:ext cx="9656031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Base para Exoplanetas: </a:t>
            </a:r>
            <a:r>
              <a:rPr sz="1400">
                <a:solidFill>
                  <a:srgbClr val="1E293B"/>
                </a:solidFill>
                <a:latin typeface="Arial"/>
              </a:rPr>
              <a:t>Validação dos modelos GCE como referência para caracterizar outros mundos.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0972800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84" y="6620256"/>
            <a:ext cx="329192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8949" y="6620256"/>
            <a:ext cx="411490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Reconciliação Química Estelar • MWBR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6949358" y="6620256"/>
            <a:ext cx="329192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10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0972800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84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126378" y="182880"/>
            <a:ext cx="4114902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Milky Way Brazil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84" y="777240"/>
            <a:ext cx="9656031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Referências Bibliográficas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84" y="1737360"/>
            <a:ext cx="9656031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Trueman, T. C. L., et al. 2026, </a:t>
            </a:r>
            <a:r>
              <a:rPr sz="1300">
                <a:solidFill>
                  <a:srgbClr val="1E293B"/>
                </a:solidFill>
                <a:latin typeface="Arial"/>
              </a:rPr>
              <a:t>ApJ, 1024, L15 (Paper base do MWBR)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84" y="2423160"/>
            <a:ext cx="9656031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Amarsi, A. M., et al. 2019, </a:t>
            </a:r>
            <a:r>
              <a:rPr sz="1300">
                <a:solidFill>
                  <a:srgbClr val="1E293B"/>
                </a:solidFill>
                <a:latin typeface="Arial"/>
              </a:rPr>
              <a:t>A&amp;A, 624, A111 (Correções Não-LTE 3D para estrelas FGK)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84" y="3108960"/>
            <a:ext cx="9656031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Bergemann, M., et al. 2017, </a:t>
            </a:r>
            <a:r>
              <a:rPr sz="1300">
                <a:solidFill>
                  <a:srgbClr val="1E293B"/>
                </a:solidFill>
                <a:latin typeface="Arial"/>
              </a:rPr>
              <a:t>MNRAS, 471, 331 (Modelos de atmosferas estelares em NLTE)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84" y="3794760"/>
            <a:ext cx="9656031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Nomoto, K., et al. 2013, </a:t>
            </a:r>
            <a:r>
              <a:rPr sz="1300">
                <a:solidFill>
                  <a:srgbClr val="1E293B"/>
                </a:solidFill>
                <a:latin typeface="Arial"/>
              </a:rPr>
              <a:t>ARA&amp;A, 51, 457 (Rendimentos químicos galácticos para CCSN)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84" y="4480560"/>
            <a:ext cx="9656031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Limongi, M., &amp; Chieffi, A. 2018, </a:t>
            </a:r>
            <a:r>
              <a:rPr sz="1300">
                <a:solidFill>
                  <a:srgbClr val="1E293B"/>
                </a:solidFill>
                <a:latin typeface="Arial"/>
              </a:rPr>
              <a:t>ApJS, 237, 13 (Nucleossíntese em estrelas massivas rotativas)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84" y="5166360"/>
            <a:ext cx="9656031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Gustafsson, B., et al. 2008, </a:t>
            </a:r>
            <a:r>
              <a:rPr sz="1300">
                <a:solidFill>
                  <a:srgbClr val="1E293B"/>
                </a:solidFill>
                <a:latin typeface="Arial"/>
              </a:rPr>
              <a:t>A&amp;A, 486, 951 (Grade de atmosferas modelo MARCS)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0972800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84" y="6620256"/>
            <a:ext cx="329192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8949" y="6620256"/>
            <a:ext cx="411490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Reconciliação Química Estelar • MWBR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6949358" y="6620256"/>
            <a:ext cx="329192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11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6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6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6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smic_bg_vivid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9728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67512" y="594360"/>
            <a:ext cx="3749039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0F172A"/>
                </a:solidFill>
                <a:latin typeface="Arial"/>
              </a:defRPr>
            </a:pPr>
            <a:r>
              <a:t>Obrigado!</a:t>
            </a:r>
          </a:p>
          <a:p>
            <a:pPr>
              <a:defRPr sz="3200" b="1">
                <a:solidFill>
                  <a:srgbClr val="1E293B"/>
                </a:solidFill>
                <a:latin typeface="Arial"/>
              </a:defRPr>
            </a:pPr>
            <a:r>
              <a:t>Dúvidas?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852928"/>
            <a:ext cx="493776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1E293B"/>
                </a:solidFill>
                <a:latin typeface="Arial"/>
              </a:defRPr>
            </a:pPr>
            <a:r>
              <a:t>Pedro H. R. de Andrade</a:t>
            </a:r>
          </a:p>
          <a:p>
            <a:pPr>
              <a:defRPr sz="1600">
                <a:solidFill>
                  <a:srgbClr val="00923F"/>
                </a:solidFill>
                <a:latin typeface="Arial"/>
              </a:defRPr>
            </a:pPr>
            <a:r>
              <a:t>E-mail: pedroiff0@gmail.com</a:t>
            </a:r>
          </a:p>
        </p:txBody>
      </p:sp>
      <p:pic>
        <p:nvPicPr>
          <p:cNvPr id="5" name="Picture 4" descr="cosmic_qrcode_transparente_pre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2704" y="0"/>
            <a:ext cx="6583680" cy="6583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18504" y="6126480"/>
            <a:ext cx="521208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i="1">
                <a:solidFill>
                  <a:srgbClr val="0F172A"/>
                </a:solidFill>
                <a:latin typeface="Arial"/>
                <a:hlinkClick r:id="rId4"/>
              </a:rPr>
              <a:t>www.phrandrade.com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0972800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84" y="6620256"/>
            <a:ext cx="329192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5"/>
              </a:rPr>
              <a:t>Pedro H. R. de Andrade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8949" y="6620256"/>
            <a:ext cx="411490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Reconciliação Química Estelar • MWBR</a:t>
            </a:r>
          </a:p>
        </p:txBody>
      </p:sp>
      <p:sp>
        <p:nvSpPr>
          <p:cNvPr id="10" name="TextBox 9"/>
          <p:cNvSpPr txBox="1"/>
          <p:nvPr>
            <p:ph type="sldNum" sz="quarter"/>
          </p:nvPr>
        </p:nvSpPr>
        <p:spPr>
          <a:xfrm>
            <a:off x="6949358" y="6620256"/>
            <a:ext cx="329192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12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3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4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5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smic_bg_original_cropp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2900"/>
            <a:ext cx="10972800" cy="61722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F766E"/>
      </a:hlink>
      <a:folHlink>
        <a:srgbClr val="0F766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