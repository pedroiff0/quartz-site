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becalho.jp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becalho.jp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becalho.jp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becalho.jp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becalho.jp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becalho.jp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becalho.jp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becalho.jp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becalho.jp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becalho.jp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becalho.jp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becalho.jp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becalho.jp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becalho.jp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vialactea.jpg"/>
  <Relationship Id="rId3" Type="http://schemas.openxmlformats.org/officeDocument/2006/relationships/image" Target="../media/qrcode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50000"/>
          </a:xfrm>
          <a:prstGeom prst="rect">
            <a:avLst/>
          </a:prstGeom>
        </p:spPr>
      </p:pic>
      <p:sp>
        <p:nvSpPr>
          <p:cNvPr id="3" name="Card3"/>
          <p:cNvSpPr/>
          <p:nvPr/>
        </p:nvSpPr>
        <p:spPr>
          <a:xfrm>
            <a:off x="750000" y="1500000"/>
            <a:ext cx="10692000" cy="4850000"/>
          </a:xfrm>
          <a:prstGeom prst="roundRect">
            <a:avLst>
              <a:gd name="adj" fmla="val 3000"/>
            </a:avLst>
          </a:prstGeom>
          <a:solidFill>
            <a:srgbClr val="F9FBF9"/>
          </a:solidFill>
          <a:ln w="20000">
            <a:solidFill>
              <a:srgbClr val="006633"/>
            </a:solidFill>
          </a:ln>
        </p:spPr>
        <p:txBody>
          <a:bodyPr lIns="200000" rIns="200000" tIns="180000" bIns="180000"/>
          <a:lstStyle/>
          <a:p>
            <a:pPr algn="ctr">
              <a:spcAft>
                <a:spcPts val="60000"/>
              </a:spcAft>
            </a:pPr>
            <a:r>
              <a:rPr lang="pt-BR" sz="1400" b="1">
                <a:solidFill>
                  <a:srgbClr val="2B7283"/>
                </a:solidFill>
              </a:rPr>
              <a:t>CONEPE 2026 — XIII Congresso de Ensino, Pesquisa e Extensão</a:t>
            </a:r>
          </a:p>
          <a:p>
            <a:pPr algn="ctr">
              <a:spcAft>
                <a:spcPts val="60000"/>
              </a:spcAft>
            </a:pPr>
            <a:r>
              <a:rPr lang="pt-BR" sz="2800" b="1">
                <a:solidFill>
                  <a:srgbClr val="006633"/>
                </a:solidFill>
              </a:rPr>
              <a:t>Classe LaTeX: Otimização da Formatação de Trabalhos Acadêmicos</a:t>
            </a:r>
          </a:p>
          <a:p>
            <a:pPr algn="ctr">
              <a:spcAft>
                <a:spcPts val="120000"/>
              </a:spcAft>
            </a:pPr>
            <a:r>
              <a:rPr lang="pt-BR" sz="1600" i="1">
                <a:solidFill>
                  <a:srgbClr val="444444"/>
                </a:solidFill>
              </a:rPr>
              <a:t>Automação Normativa da ABNT e Abstração Estrutural com ifftese.cls e macros.sty</a:t>
            </a:r>
          </a:p>
          <a:p>
            <a:pPr algn="ctr">
              <a:spcAft>
                <a:spcPts val="40000"/>
              </a:spcAft>
            </a:pPr>
            <a:r>
              <a:rPr lang="pt-BR" sz="1600" b="1">
                <a:solidFill>
                  <a:srgbClr val="111111"/>
                </a:solidFill>
              </a:rPr>
              <a:t>P. H. R. De Andrade¹*, A. C. Soja¹, M. L. L. Dantas², A. M. O. Figueiredo¹</a:t>
            </a:r>
          </a:p>
          <a:p>
            <a:pPr algn="ctr">
              <a:spcAft>
                <a:spcPts val="30000"/>
              </a:spcAft>
            </a:pPr>
            <a:r>
              <a:rPr lang="pt-BR" sz="1300">
                <a:solidFill>
                  <a:srgbClr val="555555"/>
                </a:solidFill>
              </a:rPr>
              <a:t>¹Instituto Federal Fluminense (Campus Bom Jesus do Itabapoana)  |  ²PUC-Chile</a:t>
            </a:r>
          </a:p>
          <a:p>
            <a:pPr algn="ctr">
              <a:spcAft>
                <a:spcPts val="120000"/>
              </a:spcAft>
            </a:pPr>
            <a:r>
              <a:rPr lang="pt-BR" sz="1300">
                <a:solidFill>
                  <a:srgbClr val="006633"/>
                </a:solidFill>
              </a:rPr>
              <a:t>*pedroiff0@gmail.com</a:t>
            </a:r>
          </a:p>
          <a:p>
            <a:pPr algn="ctr">
              <a:spcAft>
                <a:spcPts val="20000"/>
              </a:spcAft>
            </a:pPr>
            <a:r>
              <a:rPr lang="pt-BR" sz="1300" b="1">
                <a:solidFill>
                  <a:srgbClr val="333333"/>
                </a:solidFill>
              </a:rPr>
              <a:t>Apoio Institucional e Financeiro:</a:t>
            </a:r>
          </a:p>
          <a:p>
            <a:pPr algn="ctr">
              <a:spcAft>
                <a:spcPts val="100000"/>
              </a:spcAft>
            </a:pPr>
            <a:r>
              <a:rPr lang="pt-BR" sz="1400" b="1">
                <a:solidFill>
                  <a:srgbClr val="006633"/>
                </a:solidFill>
              </a:rPr>
              <a:t>CNPq — Projeto nº 129985/2025-2   |   Instituto Federal Fluminense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5000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/>
        </p:nvSpPr>
        <p:spPr>
          <a:xfrm>
            <a:off x="750000" y="1280000"/>
            <a:ext cx="10700000" cy="7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30000"/>
              </a:spcAft>
            </a:pPr>
            <a:r>
              <a:rPr lang="pt-BR" sz="2600" b="1">
                <a:solidFill>
                  <a:srgbClr val="006633"/>
                </a:solidFill>
              </a:rPr>
              <a:t>O Pesadelo da Madrugada: A Odisseia no Word</a:t>
            </a:r>
          </a:p>
          <a:p>
            <a:pPr>
              <a:spcAft>
                <a:spcPts val="20000"/>
              </a:spcAft>
            </a:pPr>
            <a:r>
              <a:rPr lang="pt-BR" sz="1400">
                <a:solidFill>
                  <a:srgbClr val="555555"/>
                </a:solidFill>
              </a:rPr>
              <a:t>A experiência universal da perda de controle sobre a formatação visual</a:t>
            </a:r>
          </a:p>
        </p:txBody>
      </p:sp>
      <p:sp>
        <p:nvSpPr>
          <p:cNvPr id="4" name="Card4"/>
          <p:cNvSpPr/>
          <p:nvPr/>
        </p:nvSpPr>
        <p:spPr>
          <a:xfrm>
            <a:off x="750000" y="2100000"/>
            <a:ext cx="5150000" cy="43000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20000">
            <a:solidFill>
              <a:srgbClr val="D0D5DD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111111"/>
                </a:solidFill>
              </a:rPr>
              <a:t>O Cenário Crítico (23h59)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Véspera da entrega final de um TCC, dissertação ou artigo para o CONEPE.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O orientador solicita incluir apenas um pequeno parágrafo de 3 linhas na Introdução.</a:t>
            </a:r>
          </a:p>
          <a:p>
            <a:pPr>
              <a:spcAft>
                <a:spcPts val="80000"/>
              </a:spcAft>
              <a:buClr>
                <a:srgbClr val="006633"/>
              </a:buClr>
              <a:buChar char="•"/>
            </a:pPr>
            <a:r>
              <a:rPr lang="pt-BR" sz="1400" b="1">
                <a:solidFill>
                  <a:srgbClr val="CC0000"/>
                </a:solidFill>
              </a:rPr>
              <a:t>Você digita as 3 linhas e pressiona [Enter]...</a:t>
            </a:r>
          </a:p>
          <a:p>
            <a:pPr>
              <a:spcAft>
                <a:spcPts val="50000"/>
              </a:spcAft>
            </a:pPr>
            <a:r>
              <a:rPr lang="pt-BR" sz="1400">
                <a:solidFill>
                  <a:srgbClr val="000000"/>
                </a:solidFill>
              </a:rPr>
              <a:t>O que acontece a seguir é um colapso em cadeia de todo o layout do documento.</a:t>
            </a:r>
          </a:p>
        </p:txBody>
      </p:sp>
      <p:sp>
        <p:nvSpPr>
          <p:cNvPr id="5" name="Card5"/>
          <p:cNvSpPr/>
          <p:nvPr/>
        </p:nvSpPr>
        <p:spPr>
          <a:xfrm>
            <a:off x="6200000" y="2100000"/>
            <a:ext cx="5242000" cy="4300000"/>
          </a:xfrm>
          <a:prstGeom prst="roundRect">
            <a:avLst>
              <a:gd name="adj" fmla="val 3000"/>
            </a:avLst>
          </a:prstGeom>
          <a:solidFill>
            <a:srgbClr val="FDF2F2"/>
          </a:solidFill>
          <a:ln w="20000">
            <a:solidFill>
              <a:srgbClr val="CC0000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CC0000"/>
                </a:solidFill>
              </a:rPr>
              <a:t>O Efeito Dominó Catastrófico no Word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350">
                <a:solidFill>
                  <a:srgbClr val="000000"/>
                </a:solidFill>
              </a:rPr>
              <a:t>Figura 4 na pág. 8 salta misteriosamente para a pág. 11, deixando um enorme vazio branco.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350">
                <a:solidFill>
                  <a:srgbClr val="000000"/>
                </a:solidFill>
              </a:rPr>
              <a:t>A legenda se desprende da figura e vai parar órfã no topo da folha seguinte.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400" b="1">
                <a:solidFill>
                  <a:srgbClr val="CC0000"/>
                </a:solidFill>
              </a:rPr>
              <a:t>O erro fatídico no texto: 'Erro! Indicador não definido.'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350">
                <a:solidFill>
                  <a:srgbClr val="000000"/>
                </a:solidFill>
              </a:rPr>
              <a:t>Citações numéricas perdem a ordem: '...conforme [14, 2, 8, 1]...'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350">
                <a:solidFill>
                  <a:srgbClr val="000000"/>
                </a:solidFill>
              </a:rPr>
              <a:t>Sumário desalinha os números de página dos pontilhados (.....)</a:t>
            </a:r>
          </a:p>
          <a:p>
            <a:pPr>
              <a:spcAft>
                <a:spcPts val="20000"/>
              </a:spcAft>
            </a:pPr>
            <a:r>
              <a:rPr lang="pt-BR" sz="1400" b="1">
                <a:solidFill>
                  <a:srgbClr val="CC0000"/>
                </a:solidFill>
              </a:rPr>
              <a:t>Resultado: 70% do tempo gasto brigando com o Word!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5000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/>
        </p:nvSpPr>
        <p:spPr>
          <a:xfrm>
            <a:off x="750000" y="1280000"/>
            <a:ext cx="10700000" cy="7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30000"/>
              </a:spcAft>
            </a:pPr>
            <a:r>
              <a:rPr lang="pt-BR" sz="2600" b="1">
                <a:solidFill>
                  <a:srgbClr val="006633"/>
                </a:solidFill>
              </a:rPr>
              <a:t>O Paradoxo do Pesquisador: Ciência vs. Diagramação</a:t>
            </a:r>
          </a:p>
          <a:p>
            <a:pPr>
              <a:spcAft>
                <a:spcPts val="20000"/>
              </a:spcAft>
            </a:pPr>
            <a:r>
              <a:rPr lang="pt-BR" sz="1400">
                <a:solidFill>
                  <a:srgbClr val="555555"/>
                </a:solidFill>
              </a:rPr>
              <a:t>O atrito operacional que reduz a produtividade acadêmica nacional</a:t>
            </a:r>
          </a:p>
        </p:txBody>
      </p:sp>
      <p:sp>
        <p:nvSpPr>
          <p:cNvPr id="4" name="Card4"/>
          <p:cNvSpPr/>
          <p:nvPr/>
        </p:nvSpPr>
        <p:spPr>
          <a:xfrm>
            <a:off x="750000" y="2100000"/>
            <a:ext cx="5150000" cy="310000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20000">
            <a:solidFill>
              <a:srgbClr val="2B7283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2B7283"/>
                </a:solidFill>
              </a:rPr>
              <a:t>O Objetivo Central do Pesquisador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Formulação e teste de hipóteses científicas;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Coleta metódica e análise estatística de dados;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Redação lógica, clara e fundamentada;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Contribuição real para o avanço da sociedade e da ciência.</a:t>
            </a:r>
          </a:p>
        </p:txBody>
      </p:sp>
      <p:sp>
        <p:nvSpPr>
          <p:cNvPr id="5" name="Card5"/>
          <p:cNvSpPr/>
          <p:nvPr/>
        </p:nvSpPr>
        <p:spPr>
          <a:xfrm>
            <a:off x="6200000" y="2100000"/>
            <a:ext cx="5242000" cy="3100000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20000">
            <a:solidFill>
              <a:srgbClr val="D97706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D97706"/>
                </a:solidFill>
              </a:rPr>
              <a:t>A Realidade Operacional Burocrática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Medir na régua do Word: margens de 3 cm e 2 cm;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Brigar para contar páginas sem imprimir número na folha de rosto;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Criar quebras de seção delicadas e desvincular cabeçalhos;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Repadronizar títulos após o processador visual corromper fontes.</a:t>
            </a:r>
          </a:p>
        </p:txBody>
      </p:sp>
      <p:sp>
        <p:nvSpPr>
          <p:cNvPr id="6" name="Card6"/>
          <p:cNvSpPr/>
          <p:nvPr/>
        </p:nvSpPr>
        <p:spPr>
          <a:xfrm>
            <a:off x="750000" y="5400000"/>
            <a:ext cx="10692000" cy="1100000"/>
          </a:xfrm>
          <a:prstGeom prst="roundRect">
            <a:avLst>
              <a:gd name="adj" fmla="val 3000"/>
            </a:avLst>
          </a:prstGeom>
          <a:solidFill>
            <a:srgbClr val="EBF7EE"/>
          </a:solidFill>
          <a:ln w="20000">
            <a:solidFill>
              <a:srgbClr val="006633"/>
            </a:solidFill>
          </a:ln>
        </p:spPr>
        <p:txBody>
          <a:bodyPr lIns="200000" rIns="200000" tIns="180000" bIns="180000"/>
          <a:lstStyle/>
          <a:p>
            <a:pPr algn="ctr">
              <a:spcAft>
                <a:spcPts val="30000"/>
              </a:spcAft>
            </a:pPr>
            <a:r>
              <a:rPr lang="pt-BR" sz="1500" b="1">
                <a:solidFill>
                  <a:srgbClr val="006633"/>
                </a:solidFill>
              </a:rPr>
              <a:t>Pergunta Norteadora do Projeto:</a:t>
            </a:r>
          </a:p>
          <a:p>
            <a:pPr algn="ctr">
              <a:spcAft>
                <a:spcPts val="100000"/>
              </a:spcAft>
            </a:pPr>
            <a:r>
              <a:rPr lang="pt-BR" sz="1600" i="1">
                <a:solidFill>
                  <a:srgbClr val="111111"/>
                </a:solidFill>
              </a:rPr>
              <a:t>Como blindar o pesquisador contra falhas normativas sem exigir dele conhecimentos avançados de programação?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5000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/>
        </p:nvSpPr>
        <p:spPr>
          <a:xfrm>
            <a:off x="750000" y="1280000"/>
            <a:ext cx="10700000" cy="7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30000"/>
              </a:spcAft>
            </a:pPr>
            <a:r>
              <a:rPr lang="pt-BR" sz="2600" b="1">
                <a:solidFill>
                  <a:srgbClr val="006633"/>
                </a:solidFill>
              </a:rPr>
              <a:t>Normas Regentes I: ABNT NBR 14724 (Trabalhos Acadêmicos)</a:t>
            </a:r>
          </a:p>
          <a:p>
            <a:pPr>
              <a:spcAft>
                <a:spcPts val="20000"/>
              </a:spcAft>
            </a:pPr>
            <a:r>
              <a:rPr lang="pt-BR" sz="1400">
                <a:solidFill>
                  <a:srgbClr val="555555"/>
                </a:solidFill>
              </a:rPr>
              <a:t>Estrutura formal, margens e armadilhas da paginação pré-textual</a:t>
            </a:r>
          </a:p>
        </p:txBody>
      </p:sp>
      <p:sp>
        <p:nvSpPr>
          <p:cNvPr id="4" name="Card4"/>
          <p:cNvSpPr/>
          <p:nvPr/>
        </p:nvSpPr>
        <p:spPr>
          <a:xfrm>
            <a:off x="750000" y="2100000"/>
            <a:ext cx="5150000" cy="4300000"/>
          </a:xfrm>
          <a:prstGeom prst="roundRect">
            <a:avLst>
              <a:gd name="adj" fmla="val 3000"/>
            </a:avLst>
          </a:prstGeom>
          <a:solidFill>
            <a:srgbClr val="F9FBF9"/>
          </a:solidFill>
          <a:ln w="20000">
            <a:solidFill>
              <a:srgbClr val="006633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006633"/>
                </a:solidFill>
              </a:rPr>
              <a:t>Geometria e Tipografia Rígidas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Margens Anverso: Superior e Esquerda: 3 cm; Inferior e Direita: 2 cm.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Margens Verso: Espelhamento obrigatório das margens laterais.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Corpo do Texto: Fonte tamanho 12, entrelinhas 1,5.</a:t>
            </a:r>
          </a:p>
          <a:p>
            <a:pPr>
              <a:spcAft>
                <a:spcPts val="40000"/>
              </a:spcAft>
              <a:buClr>
                <a:srgbClr val="006633"/>
              </a:buClr>
              <a:buChar char="•"/>
            </a:pPr>
            <a:r>
              <a:rPr lang="pt-BR" sz="1400" b="1">
                <a:solidFill>
                  <a:srgbClr val="006633"/>
                </a:solidFill>
              </a:rPr>
              <a:t>Citações Longas (&gt; 3 linhas): Recuo de 4 cm da margem esquerda, fonte tamanho 10 e espaçamento simples.</a:t>
            </a:r>
          </a:p>
        </p:txBody>
      </p:sp>
      <p:sp>
        <p:nvSpPr>
          <p:cNvPr id="5" name="Card5"/>
          <p:cNvSpPr/>
          <p:nvPr/>
        </p:nvSpPr>
        <p:spPr>
          <a:xfrm>
            <a:off x="6200000" y="2100000"/>
            <a:ext cx="5242000" cy="4300000"/>
          </a:xfrm>
          <a:prstGeom prst="roundRect">
            <a:avLst>
              <a:gd name="adj" fmla="val 3000"/>
            </a:avLst>
          </a:prstGeom>
          <a:solidFill>
            <a:srgbClr val="FDF2F2"/>
          </a:solidFill>
          <a:ln w="20000">
            <a:solidFill>
              <a:srgbClr val="CC0000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CC0000"/>
                </a:solidFill>
              </a:rPr>
              <a:t>A Pegadinha Cruel da Paginação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Contagem: Todas as folhas pré-textuais a partir da folha de rosto são CONTADAS.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 b="1">
                <a:solidFill>
                  <a:srgbClr val="CC0000"/>
                </a:solidFill>
              </a:rPr>
              <a:t>Impressão: O número da página só é IMPRESSO a partir da Introdução, no canto superior direito.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No Word: Exige quebras de seção delicadas; 90% dos estudantes erram e desvinculam errado.</a:t>
            </a:r>
          </a:p>
          <a:p>
            <a:pPr>
              <a:spcAft>
                <a:spcPts val="40000"/>
              </a:spcAft>
              <a:buClr>
                <a:srgbClr val="006633"/>
              </a:buClr>
              <a:buChar char="•"/>
            </a:pPr>
            <a:r>
              <a:rPr lang="pt-BR" sz="1400" b="1">
                <a:solidFill>
                  <a:srgbClr val="006633"/>
                </a:solidFill>
              </a:rPr>
              <a:t>Na ifftese.cls: Processamento autônomo e transparente pelo compilador.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5000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/>
        </p:nvSpPr>
        <p:spPr>
          <a:xfrm>
            <a:off x="750000" y="1280000"/>
            <a:ext cx="10700000" cy="7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30000"/>
              </a:spcAft>
            </a:pPr>
            <a:r>
              <a:rPr lang="pt-BR" sz="2600" b="1">
                <a:solidFill>
                  <a:srgbClr val="006633"/>
                </a:solidFill>
              </a:rPr>
              <a:t>Normas Regentes II: NBR 6023 (Referências) e NBR 6027 (Sumário)</a:t>
            </a:r>
          </a:p>
          <a:p>
            <a:pPr>
              <a:spcAft>
                <a:spcPts val="20000"/>
              </a:spcAft>
            </a:pPr>
            <a:r>
              <a:rPr lang="pt-BR" sz="1400">
                <a:solidFill>
                  <a:srgbClr val="555555"/>
                </a:solidFill>
              </a:rPr>
              <a:t>Rigor na padronização bibliográfica e hierarquia visual de títulos</a:t>
            </a:r>
          </a:p>
        </p:txBody>
      </p:sp>
      <p:sp>
        <p:nvSpPr>
          <p:cNvPr id="4" name="Card4"/>
          <p:cNvSpPr/>
          <p:nvPr/>
        </p:nvSpPr>
        <p:spPr>
          <a:xfrm>
            <a:off x="750000" y="2100000"/>
            <a:ext cx="5150000" cy="430000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20000">
            <a:solidFill>
              <a:srgbClr val="2B7283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2B7283"/>
                </a:solidFill>
              </a:rPr>
              <a:t>ABNT NBR 6023 (Referências)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Alinhamento: Estritamente à margem esquerda (nunca justificado!).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Espaçamento: Entrelinhas simples, separadas entre si por 1 espaço simples em branco.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Destaque Tipográfico: Uniforme (negrito ou itálico) estritamente no título da obra.</a:t>
            </a:r>
          </a:p>
          <a:p>
            <a:pPr>
              <a:spcAft>
                <a:spcPts val="4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Consistência: Sistema autor-data ou numérico sem misturar.</a:t>
            </a:r>
          </a:p>
        </p:txBody>
      </p:sp>
      <p:sp>
        <p:nvSpPr>
          <p:cNvPr id="5" name="Card5"/>
          <p:cNvSpPr/>
          <p:nvPr/>
        </p:nvSpPr>
        <p:spPr>
          <a:xfrm>
            <a:off x="6200000" y="2100000"/>
            <a:ext cx="5242000" cy="4300000"/>
          </a:xfrm>
          <a:prstGeom prst="roundRect">
            <a:avLst>
              <a:gd name="adj" fmla="val 3000"/>
            </a:avLst>
          </a:prstGeom>
          <a:solidFill>
            <a:srgbClr val="F9FBF9"/>
          </a:solidFill>
          <a:ln w="20000">
            <a:solidFill>
              <a:srgbClr val="006633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006633"/>
                </a:solidFill>
              </a:rPr>
              <a:t>ABNT NBR 6027 (Sumário)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Identidade Tipográfica: A grafia das seções no sumário deve ser idêntica à do texto:</a:t>
            </a:r>
          </a:p>
          <a:p>
            <a:pPr>
              <a:spcAft>
                <a:spcPts val="30000"/>
              </a:spcAft>
            </a:pPr>
            <a:r>
              <a:rPr lang="pt-BR" sz="1300" b="1">
                <a:solidFill>
                  <a:srgbClr val="111111"/>
                </a:solidFill>
              </a:rPr>
              <a:t>1 SEÇÃO PRIMÁRIA (CAIXA ALTA E NEGRITO)</a:t>
            </a:r>
          </a:p>
          <a:p>
            <a:pPr>
              <a:spcAft>
                <a:spcPts val="50000"/>
              </a:spcAft>
            </a:pPr>
            <a:r>
              <a:rPr lang="pt-BR" sz="1300">
                <a:solidFill>
                  <a:srgbClr val="333333"/>
                </a:solidFill>
              </a:rPr>
              <a:t>1.1 Seção Secundária (Caixa Baixa Normal)</a:t>
            </a:r>
          </a:p>
          <a:p>
            <a:pPr>
              <a:spcAft>
                <a:spcPts val="4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Alinhamento: Números de página alinhados à direita, interligados por reticências contínuas (.....).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5000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/>
        </p:nvSpPr>
        <p:spPr>
          <a:xfrm>
            <a:off x="750000" y="1280000"/>
            <a:ext cx="10700000" cy="7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30000"/>
              </a:spcAft>
            </a:pPr>
            <a:r>
              <a:rPr lang="pt-BR" sz="2600" b="1">
                <a:solidFill>
                  <a:srgbClr val="006633"/>
                </a:solidFill>
              </a:rPr>
              <a:t>Diferenciação Normativa: Tabelas (IBGE) vs. Quadros (ABNT)</a:t>
            </a:r>
          </a:p>
          <a:p>
            <a:pPr>
              <a:spcAft>
                <a:spcPts val="20000"/>
              </a:spcAft>
            </a:pPr>
            <a:r>
              <a:rPr lang="pt-BR" sz="1400">
                <a:solidFill>
                  <a:srgbClr val="555555"/>
                </a:solidFill>
              </a:rPr>
              <a:t>O erro recorrente que reprova formatações em bancas examinadoras</a:t>
            </a:r>
          </a:p>
        </p:txBody>
      </p:sp>
      <p:sp>
        <p:nvSpPr>
          <p:cNvPr id="4" name="Card4"/>
          <p:cNvSpPr/>
          <p:nvPr/>
        </p:nvSpPr>
        <p:spPr>
          <a:xfrm>
            <a:off x="750000" y="2100000"/>
            <a:ext cx="5150000" cy="4300000"/>
          </a:xfrm>
          <a:prstGeom prst="roundRect">
            <a:avLst>
              <a:gd name="adj" fmla="val 3000"/>
            </a:avLst>
          </a:prstGeom>
          <a:solidFill>
            <a:srgbClr val="F9FBF9"/>
          </a:solidFill>
          <a:ln w="20000">
            <a:solidFill>
              <a:srgbClr val="006633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006633"/>
                </a:solidFill>
              </a:rPr>
              <a:t>Tabelas (Normas do IBGE)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 b="1">
                <a:solidFill>
                  <a:srgbClr val="006633"/>
                </a:solidFill>
              </a:rPr>
              <a:t>Conteúdo: Predominância de DADOS NUMÉRICOS.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Laterais: ABERTAS (sem traços verticais externos de fechamento).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Delimitação: Linha horizontal no topo, cabeçalho e base.</a:t>
            </a:r>
          </a:p>
          <a:p>
            <a:pPr>
              <a:spcAft>
                <a:spcPts val="4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Destino: Encaminha metadados para a Lista de Tabelas.</a:t>
            </a:r>
          </a:p>
        </p:txBody>
      </p:sp>
      <p:sp>
        <p:nvSpPr>
          <p:cNvPr id="5" name="Card5"/>
          <p:cNvSpPr/>
          <p:nvPr/>
        </p:nvSpPr>
        <p:spPr>
          <a:xfrm>
            <a:off x="6200000" y="2100000"/>
            <a:ext cx="5242000" cy="4300000"/>
          </a:xfrm>
          <a:prstGeom prst="roundRect">
            <a:avLst>
              <a:gd name="adj" fmla="val 3000"/>
            </a:avLst>
          </a:prstGeom>
          <a:solidFill>
            <a:srgbClr val="FDF2F2"/>
          </a:solidFill>
          <a:ln w="20000">
            <a:solidFill>
              <a:srgbClr val="CC0000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CC0000"/>
                </a:solidFill>
              </a:rPr>
              <a:t>Quadros (Norma ABNT)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 b="1">
                <a:solidFill>
                  <a:srgbClr val="CC0000"/>
                </a:solidFill>
              </a:rPr>
              <a:t>Conteúdo: Dados QUALITATIVOS, ESQUEMAS ou TEXTUAIS.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Laterais: TOTALMENTE FECHADAS com moldura nos quatro lados.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Divisórias: Linhas horizontais e verticais em todas as células.</a:t>
            </a:r>
          </a:p>
          <a:p>
            <a:pPr>
              <a:spcAft>
                <a:spcPts val="4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Destino: Exige obrigatoriamente a Lista de Quadros separada.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5000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/>
        </p:nvSpPr>
        <p:spPr>
          <a:xfrm>
            <a:off x="750000" y="1280000"/>
            <a:ext cx="10700000" cy="7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30000"/>
              </a:spcAft>
            </a:pPr>
            <a:r>
              <a:rPr lang="pt-BR" sz="2600" b="1">
                <a:solidFill>
                  <a:srgbClr val="006633"/>
                </a:solidFill>
              </a:rPr>
              <a:t>O Princípio dos Paradigmas: WYSIWYG vs. WYSIWYM</a:t>
            </a:r>
          </a:p>
          <a:p>
            <a:pPr>
              <a:spcAft>
                <a:spcPts val="20000"/>
              </a:spcAft>
            </a:pPr>
            <a:r>
              <a:rPr lang="pt-BR" sz="1400">
                <a:solidFill>
                  <a:srgbClr val="555555"/>
                </a:solidFill>
              </a:rPr>
              <a:t>Por que o Word falha por arquitetura e por que o LaTeX é matematicamente estável</a:t>
            </a:r>
          </a:p>
        </p:txBody>
      </p:sp>
      <p:sp>
        <p:nvSpPr>
          <p:cNvPr id="4" name="Card4"/>
          <p:cNvSpPr/>
          <p:nvPr/>
        </p:nvSpPr>
        <p:spPr>
          <a:xfrm>
            <a:off x="750000" y="2100000"/>
            <a:ext cx="5150000" cy="4300000"/>
          </a:xfrm>
          <a:prstGeom prst="roundRect">
            <a:avLst>
              <a:gd name="adj" fmla="val 3000"/>
            </a:avLst>
          </a:prstGeom>
          <a:solidFill>
            <a:srgbClr val="FDF2F2"/>
          </a:solidFill>
          <a:ln w="20000">
            <a:solidFill>
              <a:srgbClr val="CC0000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CC0000"/>
                </a:solidFill>
              </a:rPr>
              <a:t>WYSIWYG: O Paradigma Visual (Word)</a:t>
            </a:r>
          </a:p>
          <a:p>
            <a:pPr>
              <a:spcAft>
                <a:spcPts val="60000"/>
              </a:spcAft>
            </a:pPr>
            <a:r>
              <a:rPr lang="pt-BR" sz="1400" i="1">
                <a:solidFill>
                  <a:srgbClr val="666666"/>
                </a:solidFill>
              </a:rPr>
              <a:t>'What You See Is What You Get'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Acoplamento em tempo real entre texto, renderização gráfica e margens.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Algoritmo local ('guloso'): cada linha altera o fluxo do arquivo todo sem otimização global.</a:t>
            </a:r>
          </a:p>
          <a:p>
            <a:pPr>
              <a:spcAft>
                <a:spcPts val="40000"/>
              </a:spcAft>
              <a:buClr>
                <a:srgbClr val="006633"/>
              </a:buClr>
              <a:buChar char="•"/>
            </a:pPr>
            <a:r>
              <a:rPr lang="pt-BR" sz="1400" b="1">
                <a:solidFill>
                  <a:srgbClr val="CC0000"/>
                </a:solidFill>
              </a:rPr>
              <a:t>Fácil de começar a escrever, mas extremamente custoso de diagramar.</a:t>
            </a:r>
          </a:p>
        </p:txBody>
      </p:sp>
      <p:sp>
        <p:nvSpPr>
          <p:cNvPr id="5" name="Card5"/>
          <p:cNvSpPr/>
          <p:nvPr/>
        </p:nvSpPr>
        <p:spPr>
          <a:xfrm>
            <a:off x="6200000" y="2100000"/>
            <a:ext cx="5242000" cy="4300000"/>
          </a:xfrm>
          <a:prstGeom prst="roundRect">
            <a:avLst>
              <a:gd name="adj" fmla="val 3000"/>
            </a:avLst>
          </a:prstGeom>
          <a:solidFill>
            <a:srgbClr val="F9FBF9"/>
          </a:solidFill>
          <a:ln w="20000">
            <a:solidFill>
              <a:srgbClr val="006633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006633"/>
                </a:solidFill>
              </a:rPr>
              <a:t>WYSIWYM: O Paradigma Semântico (LaTeX)</a:t>
            </a:r>
          </a:p>
          <a:p>
            <a:pPr>
              <a:spcAft>
                <a:spcPts val="60000"/>
              </a:spcAft>
            </a:pPr>
            <a:r>
              <a:rPr lang="pt-BR" sz="1400" i="1">
                <a:solidFill>
                  <a:srgbClr val="666666"/>
                </a:solidFill>
              </a:rPr>
              <a:t>'What You See Is What You Mean'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Donald Knuth (1977 - TeX) e Leslie Lamport (1984 - LaTeX).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Separação absoluta: o pesquisador cuida do conteúdo lógico; o compilador cuida do design.</a:t>
            </a:r>
          </a:p>
          <a:p>
            <a:pPr>
              <a:spcAft>
                <a:spcPts val="40000"/>
              </a:spcAft>
              <a:buClr>
                <a:srgbClr val="006633"/>
              </a:buClr>
              <a:buChar char="•"/>
            </a:pPr>
            <a:r>
              <a:rPr lang="pt-BR" sz="1400" b="1">
                <a:solidFill>
                  <a:srgbClr val="006633"/>
                </a:solidFill>
              </a:rPr>
              <a:t>Algoritmo de Knuth-Plass: microtipografia calculada matematicamente no documento inteiro.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5000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/>
        </p:nvSpPr>
        <p:spPr>
          <a:xfrm>
            <a:off x="750000" y="1280000"/>
            <a:ext cx="10700000" cy="7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30000"/>
              </a:spcAft>
            </a:pPr>
            <a:r>
              <a:rPr lang="pt-BR" sz="2600" b="1">
                <a:solidFill>
                  <a:srgbClr val="006633"/>
                </a:solidFill>
              </a:rPr>
              <a:t>Por Que o LaTeX é a Resposta (e por que ainda causa receio?)</a:t>
            </a:r>
          </a:p>
          <a:p>
            <a:pPr>
              <a:spcAft>
                <a:spcPts val="20000"/>
              </a:spcAft>
            </a:pPr>
            <a:r>
              <a:rPr lang="pt-BR" sz="1400">
                <a:solidFill>
                  <a:srgbClr val="555555"/>
                </a:solidFill>
              </a:rPr>
              <a:t>As virtudes do sistema frente à barreira de aprendizado do pesquisador comum</a:t>
            </a:r>
          </a:p>
        </p:txBody>
      </p:sp>
      <p:sp>
        <p:nvSpPr>
          <p:cNvPr id="4" name="Card4"/>
          <p:cNvSpPr/>
          <p:nvPr/>
        </p:nvSpPr>
        <p:spPr>
          <a:xfrm>
            <a:off x="750000" y="2100000"/>
            <a:ext cx="5150000" cy="4300000"/>
          </a:xfrm>
          <a:prstGeom prst="roundRect">
            <a:avLst>
              <a:gd name="adj" fmla="val 3000"/>
            </a:avLst>
          </a:prstGeom>
          <a:solidFill>
            <a:srgbClr val="F9FBF9"/>
          </a:solidFill>
          <a:ln w="20000">
            <a:solidFill>
              <a:srgbClr val="006633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006633"/>
                </a:solidFill>
              </a:rPr>
              <a:t>A Superioridade Técnica Comprovada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Padrão ouro nos repositórios científicos arXiv e NASA/ADS;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Alinhamento e renderização de equações matemáticas perfeitas;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Referências cruzadas blindadas em arquivos .aux;</a:t>
            </a:r>
          </a:p>
          <a:p>
            <a:pPr>
              <a:spcAft>
                <a:spcPts val="4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Separação lógica garantida entre dados e arte-final.</a:t>
            </a:r>
          </a:p>
        </p:txBody>
      </p:sp>
      <p:sp>
        <p:nvSpPr>
          <p:cNvPr id="5" name="Card5"/>
          <p:cNvSpPr/>
          <p:nvPr/>
        </p:nvSpPr>
        <p:spPr>
          <a:xfrm>
            <a:off x="6200000" y="2100000"/>
            <a:ext cx="5242000" cy="4300000"/>
          </a:xfrm>
          <a:prstGeom prst="roundRect">
            <a:avLst>
              <a:gd name="adj" fmla="val 3000"/>
            </a:avLst>
          </a:prstGeom>
          <a:solidFill>
            <a:srgbClr val="FDF2F2"/>
          </a:solidFill>
          <a:ln w="20000">
            <a:solidFill>
              <a:srgbClr val="CC0000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CC0000"/>
                </a:solidFill>
              </a:rPr>
              <a:t>A Barreira de Entrada para Iniciantes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Curva de aprendizado íngreme e sintaxe primitiva densa;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Mensagens de erro de compilação assustadoras e crípticas;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Dificuldade em calibrar pacotes dispersos para atender à ABNT;</a:t>
            </a:r>
          </a:p>
          <a:p>
            <a:pPr>
              <a:spcAft>
                <a:spcPts val="40000"/>
              </a:spcAft>
              <a:buClr>
                <a:srgbClr val="006633"/>
              </a:buClr>
              <a:buChar char="•"/>
            </a:pPr>
            <a:r>
              <a:rPr lang="pt-BR" sz="1400" b="1">
                <a:solidFill>
                  <a:srgbClr val="CC0000"/>
                </a:solidFill>
              </a:rPr>
              <a:t>Muitos desistem e voltam para o Word por falta de um modelo amigável.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5000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/>
        </p:nvSpPr>
        <p:spPr>
          <a:xfrm>
            <a:off x="750000" y="1280000"/>
            <a:ext cx="10700000" cy="7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30000"/>
              </a:spcAft>
            </a:pPr>
            <a:r>
              <a:rPr lang="pt-BR" sz="2600" b="1">
                <a:solidFill>
                  <a:srgbClr val="006633"/>
                </a:solidFill>
              </a:rPr>
              <a:t>A Solução Proposta: ifftese.cls e macros.sty</a:t>
            </a:r>
          </a:p>
          <a:p>
            <a:pPr>
              <a:spcAft>
                <a:spcPts val="20000"/>
              </a:spcAft>
            </a:pPr>
            <a:r>
              <a:rPr lang="pt-BR" sz="1400">
                <a:solidFill>
                  <a:srgbClr val="555555"/>
                </a:solidFill>
              </a:rPr>
              <a:t>Engenharia de software aplicada para simplificar o rigor no IFF</a:t>
            </a:r>
          </a:p>
        </p:txBody>
      </p:sp>
      <p:sp>
        <p:nvSpPr>
          <p:cNvPr id="4" name="Card4"/>
          <p:cNvSpPr/>
          <p:nvPr/>
        </p:nvSpPr>
        <p:spPr>
          <a:xfrm>
            <a:off x="750000" y="2100000"/>
            <a:ext cx="5150000" cy="4300000"/>
          </a:xfrm>
          <a:prstGeom prst="roundRect">
            <a:avLst>
              <a:gd name="adj" fmla="val 3000"/>
            </a:avLst>
          </a:prstGeom>
          <a:solidFill>
            <a:srgbClr val="F9FBF9"/>
          </a:solidFill>
          <a:ln w="20000">
            <a:solidFill>
              <a:srgbClr val="006633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006633"/>
                </a:solidFill>
              </a:rPr>
              <a:t>Classe ifftese.cls (A Fundação)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Construída sobre o abntex2, adaptada à identidade do IFF;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Gerenciamento automático de margens (3-3-2-2 cm);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Geração autônoma de Capa, Folha de Rosto e Aprovação;</a:t>
            </a:r>
          </a:p>
          <a:p>
            <a:pPr>
              <a:spcAft>
                <a:spcPts val="4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Controle de cabeçalhos e metadados formais do IFF.</a:t>
            </a:r>
          </a:p>
        </p:txBody>
      </p:sp>
      <p:sp>
        <p:nvSpPr>
          <p:cNvPr id="5" name="Card5"/>
          <p:cNvSpPr/>
          <p:nvPr/>
        </p:nvSpPr>
        <p:spPr>
          <a:xfrm>
            <a:off x="6200000" y="2100000"/>
            <a:ext cx="5242000" cy="430000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20000">
            <a:solidFill>
              <a:srgbClr val="2B7283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2B7283"/>
                </a:solidFill>
              </a:rPr>
              <a:t>Pacote macros.sty (A Abstração)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Encapsulamento de comandos propensos a erros;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Inserção parametrizada em 1 linha de figuras e tabelas;</a:t>
            </a:r>
          </a:p>
          <a:p>
            <a:pPr>
              <a:spcAft>
                <a:spcPts val="6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Diferenciação automática de tabelas (IBGE) e quadros;</a:t>
            </a:r>
          </a:p>
          <a:p>
            <a:pPr>
              <a:spcAft>
                <a:spcPts val="4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Blindagem contra falhas em listas e referências cruzadas.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5000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/>
        </p:nvSpPr>
        <p:spPr>
          <a:xfrm>
            <a:off x="750000" y="1280000"/>
            <a:ext cx="10700000" cy="7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30000"/>
              </a:spcAft>
            </a:pPr>
            <a:r>
              <a:rPr lang="pt-BR" sz="2600" b="1">
                <a:solidFill>
                  <a:srgbClr val="006633"/>
                </a:solidFill>
              </a:rPr>
              <a:t>Metodologia de Desenvolvimento em Três Etapas</a:t>
            </a:r>
          </a:p>
          <a:p>
            <a:pPr>
              <a:spcAft>
                <a:spcPts val="20000"/>
              </a:spcAft>
            </a:pPr>
            <a:r>
              <a:rPr lang="pt-BR" sz="1400">
                <a:solidFill>
                  <a:srgbClr val="555555"/>
                </a:solidFill>
              </a:rPr>
              <a:t>Da análise de normas até a consolidação do modelo funcional</a:t>
            </a:r>
          </a:p>
        </p:txBody>
      </p:sp>
      <p:sp>
        <p:nvSpPr>
          <p:cNvPr id="4" name="Card4"/>
          <p:cNvSpPr/>
          <p:nvPr/>
        </p:nvSpPr>
        <p:spPr>
          <a:xfrm>
            <a:off x="750000" y="2400000"/>
            <a:ext cx="3350000" cy="2400000"/>
          </a:xfrm>
          <a:prstGeom prst="roundRect">
            <a:avLst>
              <a:gd name="adj" fmla="val 3000"/>
            </a:avLst>
          </a:prstGeom>
          <a:solidFill>
            <a:srgbClr val="F9FBF9"/>
          </a:solidFill>
          <a:ln w="20000">
            <a:solidFill>
              <a:srgbClr val="006633"/>
            </a:solidFill>
          </a:ln>
        </p:spPr>
        <p:txBody>
          <a:bodyPr lIns="200000" rIns="200000" tIns="180000" bIns="180000"/>
          <a:lstStyle/>
          <a:p>
            <a:pPr algn="ctr">
              <a:spcAft>
                <a:spcPts val="40000"/>
              </a:spcAft>
            </a:pPr>
            <a:r>
              <a:rPr lang="pt-BR" sz="1600" b="1">
                <a:solidFill>
                  <a:srgbClr val="006633"/>
                </a:solidFill>
              </a:rPr>
              <a:t>1. Mapeamento Normativo</a:t>
            </a:r>
          </a:p>
          <a:p>
            <a:pPr algn="ctr">
              <a:spcAft>
                <a:spcPts val="100000"/>
              </a:spcAft>
            </a:pPr>
            <a:r>
              <a:rPr lang="pt-BR" sz="1300">
                <a:solidFill>
                  <a:srgbClr val="000000"/>
                </a:solidFill>
              </a:rPr>
              <a:t>Tradução das regras da NBR 14724, 6023, 6027 e IBGE em código TeX de baixo nível.</a:t>
            </a:r>
          </a:p>
        </p:txBody>
      </p:sp>
      <p:sp>
        <p:nvSpPr>
          <p:cNvPr id="5" name="Card5"/>
          <p:cNvSpPr/>
          <p:nvPr/>
        </p:nvSpPr>
        <p:spPr>
          <a:xfrm>
            <a:off x="4420000" y="2400000"/>
            <a:ext cx="3350000" cy="2400000"/>
          </a:xfrm>
          <a:prstGeom prst="roundRect">
            <a:avLst>
              <a:gd name="adj" fmla="val 3000"/>
            </a:avLst>
          </a:prstGeom>
          <a:solidFill>
            <a:srgbClr val="F9FBF9"/>
          </a:solidFill>
          <a:ln w="20000">
            <a:solidFill>
              <a:srgbClr val="006633"/>
            </a:solidFill>
          </a:ln>
        </p:spPr>
        <p:txBody>
          <a:bodyPr lIns="200000" rIns="200000" tIns="180000" bIns="180000"/>
          <a:lstStyle/>
          <a:p>
            <a:pPr algn="ctr">
              <a:spcAft>
                <a:spcPts val="40000"/>
              </a:spcAft>
            </a:pPr>
            <a:r>
              <a:rPr lang="pt-BR" sz="1600" b="1">
                <a:solidFill>
                  <a:srgbClr val="006633"/>
                </a:solidFill>
              </a:rPr>
              <a:t>2. Construção das Macros</a:t>
            </a:r>
          </a:p>
          <a:p>
            <a:pPr algn="ctr">
              <a:spcAft>
                <a:spcPts val="100000"/>
              </a:spcAft>
            </a:pPr>
            <a:r>
              <a:rPr lang="pt-BR" sz="1300">
                <a:solidFill>
                  <a:srgbClr val="000000"/>
                </a:solidFill>
              </a:rPr>
              <a:t>Encapsulamento de ambientes flutuantes e listas dinâmicas no pacote macros.sty.</a:t>
            </a:r>
          </a:p>
        </p:txBody>
      </p:sp>
      <p:sp>
        <p:nvSpPr>
          <p:cNvPr id="6" name="Card6"/>
          <p:cNvSpPr/>
          <p:nvPr/>
        </p:nvSpPr>
        <p:spPr>
          <a:xfrm>
            <a:off x="8090000" y="2400000"/>
            <a:ext cx="3350000" cy="2400000"/>
          </a:xfrm>
          <a:prstGeom prst="roundRect">
            <a:avLst>
              <a:gd name="adj" fmla="val 3000"/>
            </a:avLst>
          </a:prstGeom>
          <a:solidFill>
            <a:srgbClr val="F9FBF9"/>
          </a:solidFill>
          <a:ln w="20000">
            <a:solidFill>
              <a:srgbClr val="006633"/>
            </a:solidFill>
          </a:ln>
        </p:spPr>
        <p:txBody>
          <a:bodyPr lIns="200000" rIns="200000" tIns="180000" bIns="180000"/>
          <a:lstStyle/>
          <a:p>
            <a:pPr algn="ctr">
              <a:spcAft>
                <a:spcPts val="40000"/>
              </a:spcAft>
            </a:pPr>
            <a:r>
              <a:rPr lang="pt-BR" sz="1600" b="1">
                <a:solidFill>
                  <a:srgbClr val="006633"/>
                </a:solidFill>
              </a:rPr>
              <a:t>3. Template Unificado</a:t>
            </a:r>
          </a:p>
          <a:p>
            <a:pPr algn="ctr">
              <a:spcAft>
                <a:spcPts val="100000"/>
              </a:spcAft>
            </a:pPr>
            <a:r>
              <a:rPr lang="pt-BR" sz="1300">
                <a:solidFill>
                  <a:srgbClr val="000000"/>
                </a:solidFill>
              </a:rPr>
              <a:t>Criação do modelo main.tex pré-preenchido, pronto para uso no Overleaf ou localmente.</a:t>
            </a:r>
          </a:p>
        </p:txBody>
      </p:sp>
      <p:sp>
        <p:nvSpPr>
          <p:cNvPr id="7" name="Card7"/>
          <p:cNvSpPr/>
          <p:nvPr/>
        </p:nvSpPr>
        <p:spPr>
          <a:xfrm>
            <a:off x="750000" y="5200000"/>
            <a:ext cx="10692000" cy="90000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20000">
            <a:solidFill>
              <a:srgbClr val="2B7283"/>
            </a:solidFill>
          </a:ln>
        </p:spPr>
        <p:txBody>
          <a:bodyPr lIns="200000" rIns="200000" tIns="180000" bIns="180000"/>
          <a:lstStyle/>
          <a:p>
            <a:pPr algn="ctr">
              <a:spcAft>
                <a:spcPts val="100000"/>
              </a:spcAft>
            </a:pPr>
            <a:r>
              <a:rPr lang="pt-BR" sz="1400" b="1">
                <a:solidFill>
                  <a:srgbClr val="2B7283"/>
                </a:solidFill>
              </a:rPr>
              <a:t>Ferramentas Empregadas: TeX Live (pdflatex, bibtex), Overleaf, TeXPage e CTAN.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5000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/>
        </p:nvSpPr>
        <p:spPr>
          <a:xfrm>
            <a:off x="750000" y="1280000"/>
            <a:ext cx="10700000" cy="7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30000"/>
              </a:spcAft>
            </a:pPr>
            <a:r>
              <a:rPr lang="pt-BR" sz="2600" b="1">
                <a:solidFill>
                  <a:srgbClr val="006633"/>
                </a:solidFill>
              </a:rPr>
              <a:t>Resultados: Variáveis de Controle e Automação Pré-Textual</a:t>
            </a:r>
          </a:p>
          <a:p>
            <a:pPr>
              <a:spcAft>
                <a:spcPts val="20000"/>
              </a:spcAft>
            </a:pPr>
            <a:r>
              <a:rPr lang="pt-BR" sz="1400">
                <a:solidFill>
                  <a:srgbClr val="555555"/>
                </a:solidFill>
              </a:rPr>
              <a:t>Configuração declarativa e geração imediata de elementos normativos</a:t>
            </a:r>
          </a:p>
        </p:txBody>
      </p:sp>
      <p:sp>
        <p:nvSpPr>
          <p:cNvPr id="4" name="Card4"/>
          <p:cNvSpPr/>
          <p:nvPr/>
        </p:nvSpPr>
        <p:spPr>
          <a:xfrm>
            <a:off x="750000" y="2100000"/>
            <a:ext cx="5150000" cy="4300000"/>
          </a:xfrm>
          <a:prstGeom prst="roundRect">
            <a:avLst>
              <a:gd name="adj" fmla="val 3000"/>
            </a:avLst>
          </a:prstGeom>
          <a:solidFill>
            <a:srgbClr val="F9FBF9"/>
          </a:solidFill>
          <a:ln w="20000">
            <a:solidFill>
              <a:srgbClr val="006633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006633"/>
                </a:solidFill>
              </a:rPr>
              <a:t>Flags Booleanas de Controle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\frenteVerso : Alterna margens simples e espelhadas;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\capaiff : Ativa identidade visual oficial do IFF;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\corlink : Controle de contraste para tela ou impressão;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\sumarioEscada : Formatação hierárquica automática;</a:t>
            </a:r>
          </a:p>
          <a:p>
            <a:pPr>
              <a:spcAft>
                <a:spcPts val="20000"/>
              </a:spcAft>
            </a:pPr>
            <a:r>
              <a:rPr lang="pt-BR" sz="1400" b="1">
                <a:solidFill>
                  <a:srgbClr val="006633"/>
                </a:solidFill>
              </a:rPr>
              <a:t>Metadados Semânticos: \autor, \titulo, \orientador, \data.</a:t>
            </a:r>
          </a:p>
        </p:txBody>
      </p:sp>
      <p:sp>
        <p:nvSpPr>
          <p:cNvPr id="5" name="Card5"/>
          <p:cNvSpPr/>
          <p:nvPr/>
        </p:nvSpPr>
        <p:spPr>
          <a:xfrm>
            <a:off x="6200000" y="2100000"/>
            <a:ext cx="5242000" cy="430000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20000">
            <a:solidFill>
              <a:srgbClr val="2B7283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2B7283"/>
                </a:solidFill>
              </a:rPr>
              <a:t>Comandos Únicos para o Pré-Texto</a:t>
            </a:r>
          </a:p>
          <a:p>
            <a:pPr>
              <a:spcAft>
                <a:spcPts val="50000"/>
              </a:spcAft>
            </a:pPr>
            <a:r>
              <a:rPr lang="pt-BR" sz="1400">
                <a:solidFill>
                  <a:srgbClr val="000000"/>
                </a:solidFill>
              </a:rPr>
              <a:t>O usuário não desenha caixas de texto manuais:</a:t>
            </a:r>
          </a:p>
          <a:p>
            <a:pPr>
              <a:spcAft>
                <a:spcPts val="30000"/>
              </a:spcAft>
            </a:pPr>
            <a:r>
              <a:rPr lang="pt-BR" sz="1600" b="1">
                <a:solidFill>
                  <a:srgbClr val="006633"/>
                </a:solidFill>
              </a:rPr>
              <a:t>\capa</a:t>
            </a:r>
          </a:p>
          <a:p>
            <a:pPr>
              <a:spcAft>
                <a:spcPts val="30000"/>
              </a:spcAft>
            </a:pPr>
            <a:r>
              <a:rPr lang="pt-BR" sz="1600" b="1">
                <a:solidFill>
                  <a:srgbClr val="006633"/>
                </a:solidFill>
              </a:rPr>
              <a:t>\contracapa</a:t>
            </a:r>
          </a:p>
          <a:p>
            <a:pPr>
              <a:spcAft>
                <a:spcPts val="60000"/>
              </a:spcAft>
            </a:pPr>
            <a:r>
              <a:rPr lang="pt-BR" sz="1600" b="1">
                <a:solidFill>
                  <a:srgbClr val="006633"/>
                </a:solidFill>
              </a:rPr>
              <a:t>\folhadeaprovacao</a:t>
            </a:r>
          </a:p>
          <a:p>
            <a:pPr>
              <a:spcAft>
                <a:spcPts val="100000"/>
              </a:spcAft>
            </a:pPr>
            <a:r>
              <a:rPr lang="pt-BR" sz="1400" i="1">
                <a:solidFill>
                  <a:srgbClr val="333333"/>
                </a:solidFill>
              </a:rPr>
              <a:t>Garante espaçamentos milimétricos exatos da NBR 14724 com zero intervenção em arquivos auxiliares.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5000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/>
        </p:nvSpPr>
        <p:spPr>
          <a:xfrm>
            <a:off x="750000" y="1280000"/>
            <a:ext cx="10700000" cy="7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30000"/>
              </a:spcAft>
            </a:pPr>
            <a:r>
              <a:rPr lang="pt-BR" sz="2600" b="1">
                <a:solidFill>
                  <a:srgbClr val="006633"/>
                </a:solidFill>
              </a:rPr>
              <a:t>Resultados: Elementos Textuais (O Poder de 1 Linha)</a:t>
            </a:r>
          </a:p>
          <a:p>
            <a:pPr>
              <a:spcAft>
                <a:spcPts val="20000"/>
              </a:spcAft>
            </a:pPr>
            <a:r>
              <a:rPr lang="pt-BR" sz="1400">
                <a:solidFill>
                  <a:srgbClr val="555555"/>
                </a:solidFill>
              </a:rPr>
              <a:t>Encapsulamento de rotinas repetitivas em comandos de alto nível</a:t>
            </a:r>
          </a:p>
        </p:txBody>
      </p:sp>
      <p:sp>
        <p:nvSpPr>
          <p:cNvPr id="4" name="Card4"/>
          <p:cNvSpPr/>
          <p:nvPr/>
        </p:nvSpPr>
        <p:spPr>
          <a:xfrm>
            <a:off x="750000" y="2100000"/>
            <a:ext cx="5150000" cy="4300000"/>
          </a:xfrm>
          <a:prstGeom prst="roundRect">
            <a:avLst>
              <a:gd name="adj" fmla="val 3000"/>
            </a:avLst>
          </a:prstGeom>
          <a:solidFill>
            <a:srgbClr val="FDF2F2"/>
          </a:solidFill>
          <a:ln w="20000">
            <a:solidFill>
              <a:srgbClr val="CC0000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60000"/>
              </a:spcAft>
            </a:pPr>
            <a:r>
              <a:rPr lang="pt-BR" sz="1800" b="1">
                <a:solidFill>
                  <a:srgbClr val="CC0000"/>
                </a:solidFill>
              </a:rPr>
              <a:t>LaTeX Tradicional (8 a 10 linhas)</a:t>
            </a:r>
          </a:p>
          <a:p>
            <a:pPr>
              <a:spcAft>
                <a:spcPts val="20000"/>
              </a:spcAft>
            </a:pPr>
            <a:r>
              <a:rPr lang="pt-BR" sz="1300">
                <a:solidFill>
                  <a:srgbClr val="666666"/>
                </a:solidFill>
              </a:rPr>
              <a:t>\begin{figure}[htbp]</a:t>
            </a:r>
          </a:p>
          <a:p>
            <a:pPr>
              <a:spcAft>
                <a:spcPts val="20000"/>
              </a:spcAft>
            </a:pPr>
            <a:r>
              <a:rPr lang="pt-BR" sz="1300">
                <a:solidFill>
                  <a:srgbClr val="666666"/>
                </a:solidFill>
              </a:rPr>
              <a:t>  \centering</a:t>
            </a:r>
          </a:p>
          <a:p>
            <a:pPr>
              <a:spcAft>
                <a:spcPts val="20000"/>
              </a:spcAft>
            </a:pPr>
            <a:r>
              <a:rPr lang="pt-BR" sz="1300">
                <a:solidFill>
                  <a:srgbClr val="666666"/>
                </a:solidFill>
              </a:rPr>
              <a:t>  \caption{Diagrama de Fases}</a:t>
            </a:r>
          </a:p>
          <a:p>
            <a:pPr>
              <a:spcAft>
                <a:spcPts val="20000"/>
              </a:spcAft>
            </a:pPr>
            <a:r>
              <a:rPr lang="pt-BR" sz="1300">
                <a:solidFill>
                  <a:srgbClr val="666666"/>
                </a:solidFill>
              </a:rPr>
              <a:t>  \includegraphics[width=0.7\textwidth]{fig.png}</a:t>
            </a:r>
          </a:p>
          <a:p>
            <a:pPr>
              <a:spcAft>
                <a:spcPts val="20000"/>
              </a:spcAft>
            </a:pPr>
            <a:r>
              <a:rPr lang="pt-BR" sz="1300">
                <a:solidFill>
                  <a:srgbClr val="666666"/>
                </a:solidFill>
              </a:rPr>
              <a:t>  {\footnotesize Fonte: Autor (2026).}</a:t>
            </a:r>
          </a:p>
          <a:p>
            <a:pPr>
              <a:spcAft>
                <a:spcPts val="20000"/>
              </a:spcAft>
            </a:pPr>
            <a:r>
              <a:rPr lang="pt-BR" sz="1300">
                <a:solidFill>
                  <a:srgbClr val="666666"/>
                </a:solidFill>
              </a:rPr>
              <a:t>  \label{fig:fases}</a:t>
            </a:r>
          </a:p>
          <a:p>
            <a:pPr>
              <a:spcAft>
                <a:spcPts val="60000"/>
              </a:spcAft>
            </a:pPr>
            <a:r>
              <a:rPr lang="pt-BR" sz="1300">
                <a:solidFill>
                  <a:srgbClr val="666666"/>
                </a:solidFill>
              </a:rPr>
              <a:t>\end{figure}</a:t>
            </a:r>
          </a:p>
          <a:p>
            <a:pPr>
              <a:spcAft>
                <a:spcPts val="100000"/>
              </a:spcAft>
            </a:pPr>
            <a:r>
              <a:rPr lang="pt-BR" sz="1300" b="1">
                <a:solidFill>
                  <a:srgbClr val="CC0000"/>
                </a:solidFill>
              </a:rPr>
              <a:t>Risco alto: Inversão de legenda/fonte, esquecimento de centralização e erro de label.</a:t>
            </a:r>
          </a:p>
        </p:txBody>
      </p:sp>
      <p:sp>
        <p:nvSpPr>
          <p:cNvPr id="5" name="Card5"/>
          <p:cNvSpPr/>
          <p:nvPr/>
        </p:nvSpPr>
        <p:spPr>
          <a:xfrm>
            <a:off x="6200000" y="2100000"/>
            <a:ext cx="5242000" cy="4300000"/>
          </a:xfrm>
          <a:prstGeom prst="roundRect">
            <a:avLst>
              <a:gd name="adj" fmla="val 3000"/>
            </a:avLst>
          </a:prstGeom>
          <a:solidFill>
            <a:srgbClr val="F9FBF9"/>
          </a:solidFill>
          <a:ln w="20000">
            <a:solidFill>
              <a:srgbClr val="006633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006633"/>
                </a:solidFill>
              </a:rPr>
              <a:t>Com o macros.sty (Apenas 1 Linha!)</a:t>
            </a:r>
          </a:p>
          <a:p>
            <a:pPr>
              <a:spcAft>
                <a:spcPts val="20000"/>
              </a:spcAft>
            </a:pPr>
            <a:r>
              <a:rPr lang="pt-BR" sz="1450" b="1">
                <a:solidFill>
                  <a:srgbClr val="006633"/>
                </a:solidFill>
              </a:rPr>
              <a:t>\inserirfigura[0.7]{fig.png}</a:t>
            </a:r>
          </a:p>
          <a:p>
            <a:pPr>
              <a:spcAft>
                <a:spcPts val="20000"/>
              </a:spcAft>
            </a:pPr>
            <a:r>
              <a:rPr lang="pt-BR" sz="1450" b="1">
                <a:solidFill>
                  <a:srgbClr val="006633"/>
                </a:solidFill>
              </a:rPr>
              <a:t>  {Diagrama de Fases}</a:t>
            </a:r>
          </a:p>
          <a:p>
            <a:pPr>
              <a:spcAft>
                <a:spcPts val="80000"/>
              </a:spcAft>
            </a:pPr>
            <a:r>
              <a:rPr lang="pt-BR" sz="1450" b="1">
                <a:solidFill>
                  <a:srgbClr val="006633"/>
                </a:solidFill>
              </a:rPr>
              <a:t>  {Autor (2026)}{fig:fases}</a:t>
            </a:r>
          </a:p>
          <a:p>
            <a:pPr>
              <a:spcAft>
                <a:spcPts val="40000"/>
              </a:spcAft>
            </a:pPr>
            <a:r>
              <a:rPr lang="pt-BR" sz="1500" b="1">
                <a:solidFill>
                  <a:srgbClr val="111111"/>
                </a:solidFill>
              </a:rPr>
              <a:t>Garantias Automáticas:</a:t>
            </a:r>
          </a:p>
          <a:p>
            <a:pPr>
              <a:spcAft>
                <a:spcPts val="30000"/>
              </a:spcAft>
            </a:pPr>
            <a:r>
              <a:rPr lang="pt-BR" sz="1350">
                <a:solidFill>
                  <a:srgbClr val="000000"/>
                </a:solidFill>
              </a:rPr>
              <a:t>• Legenda no topo (norma ABNT);</a:t>
            </a:r>
          </a:p>
          <a:p>
            <a:pPr>
              <a:spcAft>
                <a:spcPts val="30000"/>
              </a:spcAft>
            </a:pPr>
            <a:r>
              <a:rPr lang="pt-BR" sz="1350">
                <a:solidFill>
                  <a:srgbClr val="000000"/>
                </a:solidFill>
              </a:rPr>
              <a:t>• Fonte padronizada em tamanho menor embaixo;</a:t>
            </a:r>
          </a:p>
          <a:p>
            <a:pPr>
              <a:spcAft>
                <a:spcPts val="30000"/>
              </a:spcAft>
            </a:pPr>
            <a:r>
              <a:rPr lang="pt-BR" sz="1350">
                <a:solidFill>
                  <a:srgbClr val="000000"/>
                </a:solidFill>
              </a:rPr>
              <a:t>• Centralização horizontal obrigatória;</a:t>
            </a:r>
          </a:p>
          <a:p>
            <a:pPr>
              <a:spcAft>
                <a:spcPts val="100000"/>
              </a:spcAft>
            </a:pPr>
            <a:r>
              <a:rPr lang="pt-BR" sz="1350" b="1">
                <a:solidFill>
                  <a:srgbClr val="006633"/>
                </a:solidFill>
              </a:rPr>
              <a:t>• Geração de \label e envio dinâmico à Lista de Ilustrações.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5000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/>
        </p:nvSpPr>
        <p:spPr>
          <a:xfrm>
            <a:off x="750000" y="1280000"/>
            <a:ext cx="10700000" cy="7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30000"/>
              </a:spcAft>
            </a:pPr>
            <a:r>
              <a:rPr lang="pt-BR" sz="2600" b="1">
                <a:solidFill>
                  <a:srgbClr val="006633"/>
                </a:solidFill>
              </a:rPr>
              <a:t>Resultados: Automação IBGE e Blindagem do Pós-Texto</a:t>
            </a:r>
          </a:p>
          <a:p>
            <a:pPr>
              <a:spcAft>
                <a:spcPts val="20000"/>
              </a:spcAft>
            </a:pPr>
            <a:r>
              <a:rPr lang="pt-BR" sz="1400">
                <a:solidFill>
                  <a:srgbClr val="555555"/>
                </a:solidFill>
              </a:rPr>
              <a:t>Conformidade estatística e transição matemática de contadores</a:t>
            </a:r>
          </a:p>
        </p:txBody>
      </p:sp>
      <p:sp>
        <p:nvSpPr>
          <p:cNvPr id="4" name="Card4"/>
          <p:cNvSpPr/>
          <p:nvPr/>
        </p:nvSpPr>
        <p:spPr>
          <a:xfrm>
            <a:off x="750000" y="2100000"/>
            <a:ext cx="5150000" cy="4300000"/>
          </a:xfrm>
          <a:prstGeom prst="roundRect">
            <a:avLst>
              <a:gd name="adj" fmla="val 3000"/>
            </a:avLst>
          </a:prstGeom>
          <a:solidFill>
            <a:srgbClr val="F9FBF9"/>
          </a:solidFill>
          <a:ln w="20000">
            <a:solidFill>
              <a:srgbClr val="006633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006633"/>
                </a:solidFill>
              </a:rPr>
              <a:t>Tabelas e Quadros Parametrizados</a:t>
            </a:r>
          </a:p>
          <a:p>
            <a:pPr>
              <a:spcAft>
                <a:spcPts val="30000"/>
              </a:spcAft>
            </a:pPr>
            <a:r>
              <a:rPr lang="pt-BR" sz="1350" b="1">
                <a:solidFill>
                  <a:srgbClr val="006633"/>
                </a:solidFill>
              </a:rPr>
              <a:t>\inserirtabela{arq}{legenda}{fonte}{lbl}</a:t>
            </a:r>
          </a:p>
          <a:p>
            <a:pPr>
              <a:spcAft>
                <a:spcPts val="60000"/>
              </a:spcAft>
            </a:pPr>
            <a:r>
              <a:rPr lang="pt-BR" sz="1300">
                <a:solidFill>
                  <a:srgbClr val="000000"/>
                </a:solidFill>
              </a:rPr>
              <a:t>Gera automaticamente tabela de laterais abertas conforme o IBGE e encaminha dados para a Lista de Tabelas.</a:t>
            </a:r>
          </a:p>
          <a:p>
            <a:pPr>
              <a:spcAft>
                <a:spcPts val="30000"/>
              </a:spcAft>
            </a:pPr>
            <a:r>
              <a:rPr lang="pt-BR" sz="1350" b="1">
                <a:solidFill>
                  <a:srgbClr val="CC0000"/>
                </a:solidFill>
              </a:rPr>
              <a:t>\inserirquadro{arq}{legenda}{fonte}{lbl}</a:t>
            </a:r>
          </a:p>
          <a:p>
            <a:pPr>
              <a:spcAft>
                <a:spcPts val="20000"/>
              </a:spcAft>
            </a:pPr>
            <a:r>
              <a:rPr lang="pt-BR" sz="1300">
                <a:solidFill>
                  <a:srgbClr val="000000"/>
                </a:solidFill>
              </a:rPr>
              <a:t>Gera quadro fechado nos quatro lados e cria a Lista de Quadros separadamente.</a:t>
            </a:r>
          </a:p>
        </p:txBody>
      </p:sp>
      <p:sp>
        <p:nvSpPr>
          <p:cNvPr id="5" name="Card5"/>
          <p:cNvSpPr/>
          <p:nvPr/>
        </p:nvSpPr>
        <p:spPr>
          <a:xfrm>
            <a:off x="6200000" y="2100000"/>
            <a:ext cx="5242000" cy="430000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20000">
            <a:solidFill>
              <a:srgbClr val="2B7283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80000"/>
              </a:spcAft>
            </a:pPr>
            <a:r>
              <a:rPr lang="pt-BR" sz="1800" b="1">
                <a:solidFill>
                  <a:srgbClr val="2B7283"/>
                </a:solidFill>
              </a:rPr>
              <a:t>Blindagem Pós-Textual e Apêndices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Apêndices e Anexos: Transição dinâmica dos contadores (1, 2, 3 -&gt; A, B, C);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Integridade do Sumário: Inserção alfabética sem corromper a numeração de capítulos;</a:t>
            </a:r>
          </a:p>
          <a:p>
            <a:pPr>
              <a:spcAft>
                <a:spcPts val="5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Listagens Dinâmicas: Suporte nativo a equações e erratas;</a:t>
            </a:r>
          </a:p>
          <a:p>
            <a:pPr>
              <a:spcAft>
                <a:spcPts val="30000"/>
              </a:spcAft>
              <a:buClr>
                <a:srgbClr val="006633"/>
              </a:buClr>
              <a:buChar char="•"/>
            </a:pPr>
            <a:r>
              <a:rPr lang="pt-BR" sz="1400" b="1">
                <a:solidFill>
                  <a:srgbClr val="2B7283"/>
                </a:solidFill>
              </a:rPr>
              <a:t>Compatibilidade Total com o pacote abntex2cite.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5000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/>
        </p:nvSpPr>
        <p:spPr>
          <a:xfrm>
            <a:off x="750000" y="1280000"/>
            <a:ext cx="10700000" cy="7000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30000"/>
              </a:spcAft>
            </a:pPr>
            <a:r>
              <a:rPr lang="pt-BR" sz="2600" b="1">
                <a:solidFill>
                  <a:srgbClr val="006633"/>
                </a:solidFill>
              </a:rPr>
              <a:t>Conclusões e Desdobramentos Futuros</a:t>
            </a:r>
          </a:p>
          <a:p>
            <a:pPr>
              <a:spcAft>
                <a:spcPts val="20000"/>
              </a:spcAft>
            </a:pPr>
            <a:r>
              <a:rPr lang="pt-BR" sz="1400">
                <a:solidFill>
                  <a:srgbClr val="555555"/>
                </a:solidFill>
              </a:rPr>
              <a:t>Garantia de impacto científico e a evolução para uma interface web de zero código</a:t>
            </a:r>
          </a:p>
        </p:txBody>
      </p:sp>
      <p:sp>
        <p:nvSpPr>
          <p:cNvPr id="4" name="Card4"/>
          <p:cNvSpPr/>
          <p:nvPr/>
        </p:nvSpPr>
        <p:spPr>
          <a:xfrm>
            <a:off x="750000" y="2100000"/>
            <a:ext cx="10692000" cy="2100000"/>
          </a:xfrm>
          <a:prstGeom prst="roundRect">
            <a:avLst>
              <a:gd name="adj" fmla="val 3000"/>
            </a:avLst>
          </a:prstGeom>
          <a:solidFill>
            <a:srgbClr val="F9FBF9"/>
          </a:solidFill>
          <a:ln w="20000">
            <a:solidFill>
              <a:srgbClr val="006633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60000"/>
              </a:spcAft>
            </a:pPr>
            <a:r>
              <a:rPr lang="pt-BR" sz="1800" b="1">
                <a:solidFill>
                  <a:srgbClr val="006633"/>
                </a:solidFill>
              </a:rPr>
              <a:t>Conclusões do Estudo</a:t>
            </a:r>
          </a:p>
          <a:p>
            <a:pPr>
              <a:spcAft>
                <a:spcPts val="4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Pleno alcance dos objetivos: A complexidade normativa da ABNT e do IBGE foi completamente abstraída.</a:t>
            </a:r>
          </a:p>
          <a:p>
            <a:pPr>
              <a:spcAft>
                <a:spcPts val="4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Redução drástica no tempo operacional de formatação e na incidência de erros de compilação.</a:t>
            </a:r>
          </a:p>
          <a:p>
            <a:pPr>
              <a:spcAft>
                <a:spcPts val="2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Democratização do rigor tipográfico do LaTeX na produção acadêmica do IFF.</a:t>
            </a:r>
          </a:p>
        </p:txBody>
      </p:sp>
      <p:sp>
        <p:nvSpPr>
          <p:cNvPr id="5" name="Card5"/>
          <p:cNvSpPr/>
          <p:nvPr/>
        </p:nvSpPr>
        <p:spPr>
          <a:xfrm>
            <a:off x="750000" y="4350000"/>
            <a:ext cx="10692000" cy="205000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20000">
            <a:solidFill>
              <a:srgbClr val="2B7283"/>
            </a:solidFill>
          </a:ln>
        </p:spPr>
        <p:txBody>
          <a:bodyPr lIns="200000" rIns="200000" tIns="180000" bIns="180000"/>
          <a:lstStyle/>
          <a:p>
            <a:pPr>
              <a:spcAft>
                <a:spcPts val="60000"/>
              </a:spcAft>
            </a:pPr>
            <a:r>
              <a:rPr lang="pt-BR" sz="1800" b="1">
                <a:solidFill>
                  <a:srgbClr val="2B7283"/>
                </a:solidFill>
              </a:rPr>
              <a:t>Desdobramentos Futuros: Interface Web por Formulários</a:t>
            </a:r>
          </a:p>
          <a:p>
            <a:pPr>
              <a:spcAft>
                <a:spcPts val="4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Plataforma web amigável dedicada à classe ifftese.cls (estilo Overleaf/TeXPage simplificada);</a:t>
            </a:r>
          </a:p>
          <a:p>
            <a:pPr>
              <a:spcAft>
                <a:spcPts val="40000"/>
              </a:spcAft>
              <a:buClr>
                <a:srgbClr val="006633"/>
              </a:buClr>
              <a:buChar char="•"/>
            </a:pPr>
            <a:r>
              <a:rPr lang="pt-BR" sz="1400">
                <a:solidFill>
                  <a:srgbClr val="000000"/>
                </a:solidFill>
              </a:rPr>
              <a:t>O autor não precisa editar código TeX: apenas preenche campos e seções em tela;</a:t>
            </a:r>
          </a:p>
          <a:p>
            <a:pPr>
              <a:spcAft>
                <a:spcPts val="20000"/>
              </a:spcAft>
              <a:buClr>
                <a:srgbClr val="006633"/>
              </a:buClr>
              <a:buChar char="•"/>
            </a:pPr>
            <a:r>
              <a:rPr lang="pt-BR" sz="1400" b="1">
                <a:solidFill>
                  <a:srgbClr val="2B7283"/>
                </a:solidFill>
              </a:rPr>
              <a:t>O sistema compila o PDF com rigor científico na nuvem e entrega pronto para submissão!</a:t>
            </a:r>
          </a:p>
        </p:txBody>
      </p:sp>
    </p:spTree>
  </p:cSld>
  <p:clrMapOvr>
    <a:masterClrMapping/>
  </p:clrMapOvr>
</p:sld>
</file>

<file path=ppt/slides/slide15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<p:spTree><p:nvGrpSpPr><p:cNvPr id="1" name=""/><p:cNvGrpSpPr/><p:nvPr/></p:nvGrpSpPr><p:grpSpPr><a:xfrm><a:off x="0" y="0"/><a:ext cx="0" cy="0"/><a:chOff x="0" y="0"/><a:chExt cx="0" cy="0"/></a:xfrm></p:grpSpPr>
      <p:pic>
        <p:nvPicPr><p:cNvPr id="2" name="MilkyWay"/><p:cNvPicPr><a:picLocks noChangeAspect="1"/></p:cNvPicPr><p:nvPr/></p:nvPr>
        <p:blipFill><a:blip r:embed="rId2"/><a:stretch><a:fillRect/></a:stretch></p:blipFill>
        <p:spPr><a:xfrm><a:off x="0" y="0"/><a:ext cx="12192000" cy="6858000"/></a:xfrm><a:prstGeom prst="rect"><a:avLst/></a:prstGeom></p:spPr>
      </p:pic>
      <p:sp>
        <p:nvSpPr><p:cNvPr id="4" name="Card4"/><p:cNvSpPr/><p:nvPr/></p:nvSpPr>
        <p:spPr>
          <a:xfrm><a:off x="1000000" y="1000000"/><a:ext cx="6800000" cy="4858000"/></a:xfrm>
          <a:prstGeom prst="roundRect"><a:avLst><a:gd name="adj" fmla="val 3000"/></a:avLst></a:prstGeom>
          <a:solidFill><a:srgbClr val="0A1628"/></a:solidFill>
          <a:ln w="30000"><a:solidFill><a:srgbClr val="006633"/></a:solidFill></a:ln>
        </p:spPr>
        <p:txBody>
          <a:bodyPr lIns="200000" rIns="200000" tIns="180000" bIns="180000"/>
          <a:lstStyle/>
<a:p><a:pPr algn="ctr"><a:spcAft><a:spcPts val="80000"/></a:spcAft></a:pPr><a:r><a:rPr lang="pt-BR" sz="2400" b="1"><a:solidFill><a:srgbClr val="FFFFFF"/></a:solidFill></a:rPr><a:t>Muito Obrigado pela Atenção!</a:t></a:r></a:p>
<a:p><a:pPr algn="ctr"><a:spcAft><a:spcPts val="120000"/></a:spcAft></a:pPr><a:r><a:rPr lang="pt-BR" sz="1500"><a:solidFill><a:srgbClr val="E0E7FF"/></a:solidFill></a:rPr><a:t>CONEPE 2026 — XIII Congresso de Ensino, Pesquisa e Extensão</a:t></a:r></a:p>
<a:p><a:pPr><a:spcAft><a:spcPts val="40000"/></a:spcAft></a:pPr><a:r><a:rPr lang="pt-BR" sz="1500" b="1"><a:solidFill><a:srgbClr val="A7F3D0"/></a:solidFill></a:rPr><a:t>Agradecimentos Institucionais e de Fomento:</a:t></a:r></a:p>
<a:p><a:pPr><a:spcAft><a:spcPts val="30000"/></a:spcAft></a:pPr><a:r><a:rPr lang="pt-BR" sz="1350"><a:solidFill><a:srgbClr val="FFFFFF"/></a:solidFill></a:rPr><a:t>• CNPq — Conselho Nacional de Desenvolvimento Científico e Tecnológico (Projeto nº 129985/2025-2)</a:t></a:r></a:p>
<a:p><a:pPr><a:spcAft><a:spcPts val="30000"/></a:spcAft></a:pPr><a:r><a:rPr lang="pt-BR" sz="1350"><a:solidFill><a:srgbClr val="FFFFFF"/></a:solidFill></a:rPr><a:t>• Instituto Federal Fluminense (IFF) — Campus Bom Jesus do Itabapoana</a:t></a:r></a:p>
<a:p><a:pPr><a:spcAft><a:spcPts val="80000"/></a:spcAft></a:pPr><a:r><a:rPr lang="pt-BR" sz="1350"><a:solidFill><a:srgbClr val="FFFFFF"/></a:solidFill></a:rPr><a:t>• Pontifícia Universidade Católica de Chile (PUC-Chile) e FAPERJ</a:t></a:r></a:p>
<a:p><a:pPr><a:spcAft><a:spcPts val="30000"/></a:spcAft></a:pPr><a:r><a:rPr lang="pt-BR" sz="1500" b="1"><a:solidFill><a:srgbClr val="A7F3D0"/></a:solidFill></a:rPr><a:t>Contato:</a:t></a:r></a:p>
<a:p><a:pPr><a:spcAft><a:spcPts val="60000"/></a:spcAft></a:pPr><a:r><a:rPr lang="pt-BR" sz="1400"><a:solidFill><a:srgbClr val="FFFFFF"/></a:solidFill></a:rPr><a:t>P. H. R. De Andrade  |  pedroiff0@gmail.com</a:t></a:r></a:p>
<a:p><a:pPr><a:spcAft><a:spcPts val="100000"/></a:spcAft></a:pPr><a:r><a:rPr lang="pt-BR" sz="1500" b="1"><a:solidFill><a:srgbClr val="6EE7B7"/></a:solidFill></a:rPr><a:t>Acesse a página do projeto: phrandrade.com</a:t></a:r></a:p>
        </p:txBody>
      </p:sp>
      <p:sp>
        <p:nvSpPr><p:cNvPr id="5" name="Card5"/><p:cNvSpPr/><p:nvPr/></p:nvSpPr>
        <p:spPr>
          <a:xfrm><a:off x="8200000" y="1500000"/><a:ext cx="3000000" cy="3858000"/></a:xfrm>
          <a:prstGeom prst="roundRect"><a:avLst><a:gd name="adj" fmla="val 3000"/></a:avLst></a:prstGeom>
          <a:solidFill><a:srgbClr val="0A1628"/></a:solidFill>
          <a:ln w="30000"><a:solidFill><a:srgbClr val="006633"/></a:solidFill></a:ln>
        </p:spPr>
        <p:txBody>
          <a:bodyPr lIns="200000" rIns="200000" tIns="180000" bIns="180000"/>
          <a:lstStyle/>
<a:p><a:pPr algn="ctr"><a:spcAft><a:spcPts val="40000"/></a:spcAft></a:pPr><a:r><a:rPr lang="pt-BR" sz="1500" b="1"><a:solidFill><a:srgbClr val="FFFFFF"/></a:solidFill></a:rPr><a:t>Escaneie o QR Code:</a:t></a:r></a:p>
<a:p><a:pPr><a:spcAft><a:spcPts val="2400000"/></a:spcAft></a:pPr><a:r><a:rPr lang="pt-BR" sz="1000"><a:solidFill><a:srgbClr val="000000"/></a:solidFill></a:rPr><a:t></a:t></a:r></a:p>
<a:p><a:pPr algn="ctr"><a:spcAft><a:spcPts val="100000"/></a:spcAft></a:pPr><a:r><a:rPr lang="pt-BR" sz="1600" b="1"><a:solidFill><a:srgbClr val="6EE7B7"/></a:solidFill></a:rPr><a:t>phrandrade.com</a:t></a:r></a:p>
        </p:txBody>
      </p:sp>
      <p:pic>
        <p:nvPicPr><p:cNvPr id="6" name="QRCode"/><p:cNvPicPr><a:picLocks noChangeAspect="1"/></p:cNvPicPr><p:nvPr/></p:nvPicPr>
        <p:blipFill><a:blip r:embed="rId3"/><a:stretch><a:fillRect/></a:stretch></p:blipFill>
        <p:spPr><a:xfrm><a:off x="8550000" y="2250000"/><a:ext cx="2300000" cy="2300000"/></a:xfrm><a:prstGeom prst="rect"><a:avLst/></a:prstGeom></p:spPr>
      </p:pic>
  </p:spTree></p:cSld><p:clrMapOvr><a:masterClrMapping/></p:clrMapOvr></p:sld>
</file>

<file path=ppt/theme/theme1.xml><?xml version="1.0" encoding="utf-8"?>
<a:theme xmlns:a="http://schemas.openxmlformats.org/drawingml/2006/main" name="Office Theme">
  <a:themeElements>
    <a:clrScheme name="IFF Theme">
      <a:dk1>
        <a:sysClr val="windowText" lastClr="000000"/>
      </a:dk1>
      <a:lt1>
        <a:sysClr val="window" lastClr="FFFFFF"/>
      </a:lt1>
      <a:dk2>
        <a:srgbClr val="0F3C1E"/>
      </a:dk2>
      <a:lt2>
        <a:srgbClr val="EBF7EE"/>
      </a:lt2>
      <a:accent1>
        <a:srgbClr val="006633"/>
      </a:accent1>
      <a:accent2>
        <a:srgbClr val="CC0000"/>
      </a:accent2>
      <a:accent3>
        <a:srgbClr val="2B7283"/>
      </a:accent3>
      <a:accent4>
        <a:srgbClr val="4F81BD"/>
      </a:accent4>
      <a:accent5>
        <a:srgbClr val="E06A3B"/>
      </a:accent5>
      <a:accent6>
        <a:srgbClr val="8A9EA7"/>
      </a:accent6>
      <a:hlink>
        <a:srgbClr val="006633"/>
      </a:hlink>
      <a:folHlink>
        <a:srgbClr val="2B7283"/>
      </a:folHlink>
    </a:clrScheme>
    <a:fontScheme name="Offic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