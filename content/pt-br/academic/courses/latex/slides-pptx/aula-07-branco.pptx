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7-metodologia-materiais-e-reprodutibilidade" TargetMode="External"/><Relationship Id="rId4" Type="http://schemas.openxmlformats.org/officeDocument/2006/relationships/hyperlink" Target="mailto:pedroiff0@gmail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7-metodologia-materiais-e-reprodutibilidade" TargetMode="External"/><Relationship Id="rId4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7-metodologia-materiais-e-reprodutibilidade" TargetMode="External"/><Relationship Id="rId4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7-metodologia-materiais-e-reprodutibilidade" TargetMode="External"/><Relationship Id="rId4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7-metodologia-materiais-e-reprodutibilidade" TargetMode="External"/><Relationship Id="rId4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7-metodologia-materiais-e-reprodutibilidade" TargetMode="External"/><Relationship Id="rId4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7-metodologia-materiais-e-reprodutibilidade" TargetMode="External"/><Relationship Id="rId4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7-metodologia-materiais-e-reprodutibilidade" TargetMode="External"/><Relationship Id="rId4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7-metodologia-materiais-e-reprodutibilidade" TargetMode="External"/><Relationship Id="rId4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7-metodologia-materiais-e-reprodutibilidade" TargetMode="External"/><Relationship Id="rId4" Type="http://schemas.openxmlformats.org/officeDocument/2006/relationships/hyperlink" Target="mailto:pedroiff0@gmail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png"/><Relationship Id="rId4" Type="http://schemas.openxmlformats.org/officeDocument/2006/relationships/hyperlink" Target="https://www.phrandrade.com/pt-br/resource/latex/aula-07-metodologia-materiais-e-reprodutibilidade" TargetMode="External"/><Relationship Id="rId5" Type="http://schemas.openxmlformats.org/officeDocument/2006/relationships/hyperlink" Target="mailto:pedroiff0@gmail.com" TargetMode="External"/><Relationship Id="rId6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554" y="640080"/>
            <a:ext cx="3986891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011680"/>
            <a:ext cx="11277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1277599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58187C"/>
                </a:solidFill>
              </a:rPr>
              <a:t>Aula 07: Metodologia, Materiais e Reprodutibilidade na ABNT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1127759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37760"/>
            <a:ext cx="1127759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5A5A5A"/>
                </a:solidFill>
              </a:rPr>
              <a:t>Instituto Federal Fluminense --- Campus Bom Jesus do Itabapoana
Semestre Letivo 2026 | Bom Jesus do Itabapoana - RJ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Sumário da Aula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07: Metodologia, Materiais e Reprodutibilidade na ABNT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2A0A0A0-1111-2222-3333-444444444444}" type="slidenum">
              <a:rPr lang="pt-BR" b="1" sz="1400">
                <a:solidFill>
                  <a:srgbClr val="58187C"/>
                </a:solidFill>
              </a:rPr>
              <p:t>2</p:t>
            </p:fld>
            <a:r>
              <a:rPr sz="1400" b="1">
                <a:solidFill>
                  <a:srgbClr val="58187C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1. O Papel Central da Metodologia na Pesquisa Científica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2. Tipologia da Pesquisa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3. Descrição de Materiais, Equipamentos e Delineamento Experimental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4. O Desafio da Reprodutibilidade e Open Science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5. Diagrama do Delineamento Experimental (Mermaid)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6. Estudo de Caso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1. O Papel Central da Metodologia na Pesquisa Cien...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07: Metodologia, Materiais e Reprodutibilidade na ABNT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3A0A0A0-1111-2222-3333-444444444444}" type="slidenum">
              <a:rPr lang="pt-BR" b="1" sz="1400">
                <a:solidFill>
                  <a:srgbClr val="58187C"/>
                </a:solidFill>
              </a:rPr>
              <p:t>3</p:t>
            </p:fld>
            <a:r>
              <a:rPr sz="1400" b="1">
                <a:solidFill>
                  <a:srgbClr val="58187C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 seção de Metodologia, Materiais e Métodos ou Procedimentos Metodológicos é, sob muitas perspectivas, o capítulo mais crítico de uma dissertação ou tese científica. O rigor metodológico é o que separa a ciência de opiniões informadas ou anedóticas.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Conforme as diretrizes da ABNT NBR 14724:2011, que rege a estrutura de trabalhos acadêmicos no Brasil, a metodologia é um elemento textual obrigatório. Sua principal função é responder à pergunta: "Como a pesquisa foi conduzida, passo a passo, a ponto de permitir que outro pesquisador replique o experimento e obtenha resultados equivalentes?".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 crise de reprodutibilidade científica mundial tem feito revistas de alto impacto (Qualis A1/A2, periódicos Nature, Science, IEEE Transactions) rejeitarem sumariamente manuscritos que não detalham suficientemente seus aparatos, softwares, versões e métodos de aquisição de dados.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2. Tipologia da Pesquisa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07: Metodologia, Materiais e Reprodutibilidade na ABNT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4A0A0A0-1111-2222-3333-444444444444}" type="slidenum">
              <a:rPr lang="pt-BR" b="1" sz="1400">
                <a:solidFill>
                  <a:srgbClr val="58187C"/>
                </a:solidFill>
              </a:rPr>
              <p:t>4</p:t>
            </p:fld>
            <a:r>
              <a:rPr sz="1400" b="1">
                <a:solidFill>
                  <a:srgbClr val="58187C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Antes de descrever os equipamentos e passos procedimentais, a seção metodológica de uma tese costuma tipificar a pesquisa quanto a diferentes esferas: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2.1 Quanto à Natureza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Pesquisa Básica: Gera conhecimentos novos e avanços teóricos sem aplicação prática imediata ou fim lucrativo.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Pesquisa Aplicada: Visa gerar conhecimentos para aplicação prática e resolução de problemas específicos (muito comum em engenharias).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2.2 Quanto aos Objetivos (Classificação de Gil, 2002)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3. Descrição de Materiais, Equipamentos e Delineam...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07: Metodologia, Materiais e Reprodutibilidade na ABNT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5A0A0A0-1111-2222-3333-444444444444}" type="slidenum">
              <a:rPr lang="pt-BR" b="1" sz="1400">
                <a:solidFill>
                  <a:srgbClr val="58187C"/>
                </a:solidFill>
              </a:rPr>
              <p:t>5</p:t>
            </p:fld>
            <a:r>
              <a:rPr sz="1400" b="1">
                <a:solidFill>
                  <a:srgbClr val="58187C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3.1 Nomenclatura, Fabricantes e Modelos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Na redação acadêmica padrão (e isso é severamente cobrado pela NBR 14724 em trabalhos de bancada, laboratório ou simulação computacional), sempre que um material ou equipamento específico for utilizado, deve-se declarar o modelo, o fabricante e a localidade de origem (Cidade, Estado, País) entre parênteses na primeira menção.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Incorreto: Os testes foram feitos usando um multímetro e um osciloscópio.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Correto (Padrão ouro): A aquisição de tensão foi realizada empregando-se um osciloscópio digital (Modelo DPO2024B, Tektronix, Beaverton, OR, EUA) configurado com taxa de amostragem de 1 GS/s.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3.2 Delineamento Experimental (Design of Experiments - DoE)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4. O Desafio da Reprodutibilidade e Open Science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07: Metodologia, Materiais e Reprodutibilidade na ABNT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6A0A0A0-1111-2222-3333-444444444444}" type="slidenum">
              <a:rPr lang="pt-BR" b="1" sz="1400">
                <a:solidFill>
                  <a:srgbClr val="58187C"/>
                </a:solidFill>
              </a:rPr>
              <p:t>6</p:t>
            </p:fld>
            <a:r>
              <a:rPr sz="1400" b="1">
                <a:solidFill>
                  <a:srgbClr val="58187C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 "Ciência Aberta" (Open Science) demanda que os dados brutos (datasets) e códigos (scripts de R, Python, MATLAB) utilizados na análise sejam disponibilizados.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Em teses de engenharia, a reprodutibilidade atinge seu nível máximo quando o autor hospeda o código de sua metodologia no GitHub, Zenodo ou Mendeley Data, e insere o link / DOI no texto do capítulo de Metodologia, garantindo que o algoritmo de treinamento de redes neurais, ou as equações de diferenças finitas descritas em LaTeX, possam ser executadas pelos avaliadores da banca.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5. Diagrama do Delineamento Experimental (Mermaid)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07: Metodologia, Materiais e Reprodutibilidade na ABNT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7A0A0A0-1111-2222-3333-444444444444}" type="slidenum">
              <a:rPr lang="pt-BR" b="1" sz="1400">
                <a:solidFill>
                  <a:srgbClr val="58187C"/>
                </a:solidFill>
              </a:rPr>
              <p:t>7</p:t>
            </p:fld>
            <a:r>
              <a:rPr sz="1400" b="1">
                <a:solidFill>
                  <a:srgbClr val="58187C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graph TD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A[Início do Experimento] --&gt; B(Aquisição de Dados: \n Osciloscópio X);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 --&gt; C(Modelagem Computacional: \n MATLAB R2024b);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B --&gt; D{Filtro Passa-Baixa \n fc = 1kHz};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C --&gt; E[Validação Cruzada \n k-fold = 10];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6. Estudo de Caso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07: Metodologia, Materiais e Reprodutibilidade na ABNT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8A0A0A0-1111-2222-3333-444444444444}" type="slidenum">
              <a:rPr lang="pt-BR" b="1" sz="1400">
                <a:solidFill>
                  <a:srgbClr val="58187C"/>
                </a:solidFill>
              </a:rPr>
              <p:t>8</p:t>
            </p:fld>
            <a:r>
              <a:rPr sz="1400" b="1">
                <a:solidFill>
                  <a:srgbClr val="58187C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O Cenário: O aluno de mestrado Carlos está desenvolvendo uma rede de sensores sem fio para monitoramento do solo na agricultura de precisão. Ele construiu os nós sensores usando microcontroladores baratos e enviou os dados para um servidor local via protocolo MQTT.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Redação Fraca: "No desenvolvimento, usamos sensores de umidade. Eles foram ligados ao Arduino e os dados enviados para a nuvem. Depois, fizemos a análise dos dados pelo computador para ver se a planta precisava de água." (Nota: Sem rigor, impossível replicar. Qual sensor? Qual Arduino? Qual nuvem? Como a análise foi feita?).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Redação Científica e Reprodutível (Aplicando NBR 14724 e rigor): "O delineamento da rede de sensores fundamentou-se na plataforma de prototipagem eletrônica ESP32 (Espressif Systems, Xangai, China). A variável independente, umidade volumétrica do solo, foi mensurada utilizando-se cinco sensores capacitivos não-corrosivos modelo v1.2 (DFRobot, Pequim, China), calibrados individualmente em laboratório. O firmware foi desenvolvido na IDE Arduino versão 2.1, operando com taxa de amostragem de 1 Hz. O tráfego de telemetria foi conduzido via protocolo MQTT, hospedado em um container Docker rodando um broker Mosquitto versão 2.0 (Eclipse Foundation, Canadá), instalado em um servidor Linux Ubuntu 22.04 LTS..."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 redação científica transforma um trabalho de 'feira de ciências' em uma dissertação robusta. O avaliador sabe exatamente as versões do software e as origens do hardware para testar as afirmações de Carlos.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7. Exercício Prático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07: Metodologia, Materiais e Reprodutibilidade na ABNT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9A0A0A0-1111-2222-3333-444444444444}" type="slidenum">
              <a:rPr lang="pt-BR" b="1" sz="1400">
                <a:solidFill>
                  <a:srgbClr val="58187C"/>
                </a:solidFill>
              </a:rPr>
              <p:t>9</p:t>
            </p:fld>
            <a:r>
              <a:rPr sz="1400" b="1">
                <a:solidFill>
                  <a:srgbClr val="58187C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Objetivo: Exercitar a precisão na descrição metodológica e caracterização de materiais.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1.  Escreva um parágrafo (10 a 15 linhas) simulando o início do seu capítulo de Metodologia.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2.  Classifique sua pesquisa hipotética quanto à natureza, objetivo e abordagem.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3.  Descreva, pelo menos, três hardwares ou softwares críticos para a sua pesquisa. Utilize a nomenclatura padronizada com Empresa fabricante, Cidade e País entre parênteses.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4.  Crie um fluxograma de 5 blocos (pode ser manual) descrevendo os passos do seu procedimento principal. Como você passaria isso para LaTeX/TikZ ou Mermaid?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8. Referências Bibliográficas (ABNT NBR 6023:2018)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07: Metodologia, Materiais e Reprodutibilidade na ABNT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10A0A0A0-1111-2222-3333-444444444444}" type="slidenum">
              <a:rPr lang="pt-BR" b="1" sz="1400">
                <a:solidFill>
                  <a:srgbClr val="58187C"/>
                </a:solidFill>
              </a:rPr>
              <p:t>10</p:t>
            </p:fld>
            <a:r>
              <a:rPr sz="1400" b="1">
                <a:solidFill>
                  <a:srgbClr val="58187C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ASSOCIAÇÃO BRASILEIRA DE NORMAS TÉCNICAS. NBR 14724: Informação e documentação: trabalhos acadêmicos: apresentação. Rio de Janeiro: ABNT, 2011.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ASSOCIAÇÃO BRASILEIRA DE NORMAS TÉCNICAS. NBR 6023: Informação e documentação: referências: elaboração. Rio de Janeiro: ABNT, 2018.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GIL, A. C. Como elaborar projetos de pesquisa. 4. ed. São Paulo: Atlas, 2002.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MARCONI, M. de A.; LAKATOS, E. M. Fundamentos de metodologia científica. 8. ed. São Paulo: Atlas, 2017.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ite_estrelada_soft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logo_iff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4"/>
              </a:rPr>
              <a:t>[DISCIPLINA]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5"/>
              </a:rPr>
              <a:t>Prof. Pedro Henrique Rocha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07: Metodologia, Materiais e Reprodutibilidade na ABNT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11A0A0A0-1111-2222-3333-444444444444}" type="slidenum">
              <a:rPr lang="pt-BR" b="1" sz="1400">
                <a:solidFill>
                  <a:srgbClr val="58187C"/>
                </a:solidFill>
              </a:rPr>
              <p:t>11</p:t>
            </p:fld>
            <a:r>
              <a:rPr sz="1400" b="1">
                <a:solidFill>
                  <a:srgbClr val="58187C"/>
                </a:solidFill>
              </a:rPr>
              <a:t> /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459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58187C"/>
                </a:solidFill>
              </a:defRPr>
            </a:pPr>
            <a:r>
              <a:t>Obrigado!</a:t>
            </a:r>
          </a:p>
          <a:p>
            <a:br/>
            <a:pPr>
              <a:defRPr sz="3200" b="1">
                <a:solidFill>
                  <a:srgbClr val="141414"/>
                </a:solidFill>
              </a:defRPr>
            </a:pPr>
            <a:r>
              <a:t>Perguntas?</a:t>
            </a:r>
          </a:p>
          <a:p>
            <a:r>
              <a:rPr sz="2200">
                <a:solidFill>
                  <a:srgbClr val="58187C"/>
                </a:solidFill>
                <a:hlinkClick r:id="rId5"/>
              </a:rPr>
              <a:t>
Contato: pedroiff0@gmail.com</a:t>
            </a:r>
          </a:p>
        </p:txBody>
      </p:sp>
      <p:pic>
        <p:nvPicPr>
          <p:cNvPr id="11" name="Picture 10" descr="qrcode_aul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868680"/>
            <a:ext cx="4937760" cy="4937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69280" y="5897880"/>
            <a:ext cx="6035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58187C"/>
                </a:solidFill>
                <a:hlinkClick r:id="rId4"/>
              </a:rPr>
              <a:t>https://www.phrandrade.com/pt-br/resource/latex/aula-07-metodologia-materiais-e-reprodutibilidade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C145A"/>
      </a:dk2>
      <a:lt2>
        <a:srgbClr val="EEECE1"/>
      </a:lt2>
      <a:accent1>
        <a:srgbClr val="58187C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58187C"/>
      </a:hlink>
      <a:folHlink>
        <a:srgbClr val="58187C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