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hyperlink" Target="mailto:pedroiff0@gmail.com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hyperlink" Target="mailto:pedroiff0@gmail.com" TargetMode="External"/><Relationship Id="rId4" Type="http://schemas.openxmlformats.org/officeDocument/2006/relationships/hyperlink" Target="https://phrandrade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hyperlink" Target="mailto:pedroiff0@gmail.com" TargetMode="External"/><Relationship Id="rId4" Type="http://schemas.openxmlformats.org/officeDocument/2006/relationships/hyperlink" Target="https://phrandrade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hyperlink" Target="mailto:pedroiff0@gmail.com" TargetMode="External"/><Relationship Id="rId4" Type="http://schemas.openxmlformats.org/officeDocument/2006/relationships/hyperlink" Target="https://phrandrade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hyperlink" Target="mailto:pedroiff0@gmail.com" TargetMode="External"/><Relationship Id="rId4" Type="http://schemas.openxmlformats.org/officeDocument/2006/relationships/hyperlink" Target="https://phrandrade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hyperlink" Target="mailto:pedroiff0@gmail.com" TargetMode="External"/><Relationship Id="rId4" Type="http://schemas.openxmlformats.org/officeDocument/2006/relationships/hyperlink" Target="https://phrandrade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hyperlink" Target="mailto:pedroiff0@gmail.com" TargetMode="External"/><Relationship Id="rId4" Type="http://schemas.openxmlformats.org/officeDocument/2006/relationships/hyperlink" Target="https://phrandrade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hyperlink" Target="mailto:pedroiff0@gmail.com" TargetMode="External"/><Relationship Id="rId4" Type="http://schemas.openxmlformats.org/officeDocument/2006/relationships/hyperlink" Target="https://phrandrade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hyperlink" Target="mailto:pedroiff0@gmail.com" TargetMode="External"/><Relationship Id="rId4" Type="http://schemas.openxmlformats.org/officeDocument/2006/relationships/hyperlink" Target="https://phrandrade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hyperlink" Target="mailto:pedroiff0@gmail.com" TargetMode="External"/><Relationship Id="rId4" Type="http://schemas.openxmlformats.org/officeDocument/2006/relationships/hyperlink" Target="https://phrandrade.com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hyperlink" Target="mailto:pedroiff0@gmail.com" TargetMode="External"/><Relationship Id="rId4" Type="http://schemas.openxmlformats.org/officeDocument/2006/relationships/hyperlink" Target="https://phrandrade.com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hyperlink" Target="mailto:pedroiff0@gmail.com" TargetMode="External"/><Relationship Id="rId4" Type="http://schemas.openxmlformats.org/officeDocument/2006/relationships/hyperlink" Target="https://phrandrade.com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hyperlink" Target="mailto:pedroiff0@gmail.com" TargetMode="External"/><Relationship Id="rId4" Type="http://schemas.openxmlformats.org/officeDocument/2006/relationships/hyperlink" Target="https://phrandrade.com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hyperlink" Target="mailto:pedroiff0@gmail.com" TargetMode="External"/><Relationship Id="rId4" Type="http://schemas.openxmlformats.org/officeDocument/2006/relationships/hyperlink" Target="https://phrandrade.com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hyperlink" Target="mailto:pedroiff0@gmail.com" TargetMode="External"/><Relationship Id="rId4" Type="http://schemas.openxmlformats.org/officeDocument/2006/relationships/hyperlink" Target="https://phrandrade.com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hyperlink" Target="mailto:pedroiff0@gmail.com" TargetMode="External"/><Relationship Id="rId4" Type="http://schemas.openxmlformats.org/officeDocument/2006/relationships/hyperlink" Target="mailto:ana.soja@iff.edu.br" TargetMode="External"/><Relationship Id="rId5" Type="http://schemas.openxmlformats.org/officeDocument/2006/relationships/image" Target="../media/image3.png"/><Relationship Id="rId6" Type="http://schemas.openxmlformats.org/officeDocument/2006/relationships/hyperlink" Target="https://phrandrade.com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becalho-conepe20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79955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119596"/>
            <a:ext cx="103628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2300" b="1">
                <a:solidFill>
                  <a:srgbClr val="0F3C1E"/>
                </a:solidFill>
                <a:latin typeface="Arial"/>
              </a:rPr>
              <a:t>Classe LaTeX: Otimização da Formatação de Trabalhos Acadêmicos</a:t>
            </a:r>
          </a:p>
          <a:p>
            <a:pPr algn="ctr">
              <a:spcAft>
                <a:spcPts val="1800"/>
              </a:spcAft>
            </a:pPr>
            <a:r>
              <a:rPr sz="1300">
                <a:solidFill>
                  <a:srgbClr val="2B7283"/>
                </a:solidFill>
                <a:latin typeface="Arial"/>
              </a:rPr>
              <a:t>Automação Normativa da ABNT e Abstração Estrutural com ifftese.cls e macros.sty</a:t>
            </a:r>
          </a:p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41414"/>
                </a:solidFill>
                <a:latin typeface="Arial"/>
              </a:rPr>
              <a:t>Pedro Henrique Rocha de Andrade¹*, Ana Cecília Soja¹,
Maria Luiza Linhares Dantas², Antônio Manoel de Oliveira Figueiredo¹</a:t>
            </a:r>
          </a:p>
          <a:p>
            <a:pPr algn="ctr">
              <a:spcAft>
                <a:spcPts val="300"/>
              </a:spcAft>
            </a:pPr>
            <a:r>
              <a:rPr sz="1000">
                <a:solidFill>
                  <a:srgbClr val="5A5A5A"/>
                </a:solidFill>
                <a:latin typeface="Arial"/>
              </a:rPr>
              <a:t>¹Instituto Federal Fluminense (IFF)   |   ²Pontifícia Universidade Católica de Chile (PUC-Chile)</a:t>
            </a:r>
          </a:p>
          <a:p>
            <a:pPr algn="ctr">
              <a:spcAft>
                <a:spcPts val="1600"/>
              </a:spcAft>
            </a:pPr>
            <a:r>
              <a:rPr sz="1000" b="1">
                <a:solidFill>
                  <a:srgbClr val="1E823C"/>
                </a:solidFill>
                <a:latin typeface="Arial"/>
                <a:hlinkClick r:id="rId3"/>
              </a:rPr>
              <a:t>*pedroiff0@gmail.com</a:t>
            </a:r>
          </a:p>
          <a:p>
            <a:pPr algn="ctr">
              <a:spcAft>
                <a:spcPts val="1200"/>
              </a:spcAft>
            </a:pPr>
            <a:r>
              <a:rPr sz="1000" b="1">
                <a:solidFill>
                  <a:srgbClr val="0F3C1E"/>
                </a:solidFill>
                <a:latin typeface="Arial"/>
              </a:rPr>
              <a:t>Apoio Institucional e Financeiro:
CNPq (Projeto 129985/2025-2)   |   Instituto Federal Fluminense   |   FAPERJ</a:t>
            </a:r>
          </a:p>
          <a:p>
            <a:pPr algn="ctr"/>
            <a:r>
              <a:rPr sz="950">
                <a:solidFill>
                  <a:srgbClr val="5A5A5A"/>
                </a:solidFill>
                <a:latin typeface="Arial"/>
              </a:rPr>
              <a:t>CONEPE 2026 — XIII Congresso de Ensino, Pesquisa e Extensão (22 a 24 de Setembro de 2026)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becalho-conepe20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79955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909284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F3C1E"/>
                </a:solidFill>
                <a:latin typeface="Arial"/>
              </a:defRPr>
            </a:pPr>
            <a:r>
              <a:t>Estrutura da Apresentação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4415" cy="13716"/>
          </a:xfrm>
          <a:prstGeom prst="rect">
            <a:avLst/>
          </a:prstGeom>
          <a:solidFill>
            <a:srgbClr val="1E823C"/>
          </a:solidFill>
          <a:ln>
            <a:solidFill>
              <a:srgbClr val="1E8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141414"/>
                </a:solidFill>
                <a:latin typeface="Arial"/>
                <a:hlinkClick r:id="rId3"/>
              </a:rPr>
              <a:t>de Andrade, P. H. R., et 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6473952"/>
            <a:ext cx="30476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1">
                <a:solidFill>
                  <a:srgbClr val="0F3C1E"/>
                </a:solidFill>
                <a:latin typeface="Arial"/>
                <a:hlinkClick r:id="rId4"/>
              </a:rPr>
              <a:t>Classe LaTeX — CONEPE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73952"/>
            <a:ext cx="3870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1">
                <a:solidFill>
                  <a:srgbClr val="5A5A5A"/>
                </a:solidFill>
                <a:latin typeface="Arial"/>
              </a:rPr>
              <a:t>2 / 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23160"/>
            <a:ext cx="53492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8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532888"/>
            <a:ext cx="498348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F3C1E"/>
                </a:solidFill>
                <a:latin typeface="Arial"/>
              </a:defRPr>
            </a:pPr>
            <a:r>
              <a:t>01. Contextualização &amp; O Paradoxo do Pesquisador</a:t>
            </a:r>
          </a:p>
          <a:p>
            <a:pPr>
              <a:defRPr sz="950">
                <a:solidFill>
                  <a:srgbClr val="141414"/>
                </a:solidFill>
                <a:latin typeface="Arial"/>
              </a:defRPr>
            </a:pPr>
            <a:r>
              <a:t>O pesadelo do Word, custos operacionais comprovados e a perda de foco científico.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749039"/>
            <a:ext cx="53492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8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858768"/>
            <a:ext cx="498348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F3C1E"/>
                </a:solidFill>
                <a:latin typeface="Arial"/>
              </a:defRPr>
            </a:pPr>
            <a:r>
              <a:t>02. O Labirinto Normativo: ABNT &amp; IBGE</a:t>
            </a:r>
          </a:p>
          <a:p>
            <a:pPr>
              <a:defRPr sz="950">
                <a:solidFill>
                  <a:srgbClr val="141414"/>
                </a:solidFill>
                <a:latin typeface="Arial"/>
              </a:defRPr>
            </a:pPr>
            <a:r>
              <a:t>Exigências geométricas da NBR 14724, referências NBR 6023, sumário NBR 6027 e regras do IBGE.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074920"/>
            <a:ext cx="53492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8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5184648"/>
            <a:ext cx="498348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F3C1E"/>
                </a:solidFill>
                <a:latin typeface="Arial"/>
              </a:defRPr>
            </a:pPr>
            <a:r>
              <a:t>03. Princípio dos Paradigmas: WYSIWYG vs. WYSIWYM</a:t>
            </a:r>
          </a:p>
          <a:p>
            <a:pPr>
              <a:defRPr sz="950">
                <a:solidFill>
                  <a:srgbClr val="141414"/>
                </a:solidFill>
                <a:latin typeface="Arial"/>
              </a:defRPr>
            </a:pPr>
            <a:r>
              <a:t>Análise comparativa algorítmica entre processadores de texto e o LaTeX (Knuth-Plass).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2423160"/>
            <a:ext cx="53492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B72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532888"/>
            <a:ext cx="498348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2B7283"/>
                </a:solidFill>
                <a:latin typeface="Arial"/>
              </a:defRPr>
            </a:pPr>
            <a:r>
              <a:t>04. A Solução Proposta: ifftese.cls e macros.sty</a:t>
            </a:r>
          </a:p>
          <a:p>
            <a:pPr>
              <a:defRPr sz="950">
                <a:solidFill>
                  <a:srgbClr val="141414"/>
                </a:solidFill>
                <a:latin typeface="Arial"/>
              </a:defRPr>
            </a:pPr>
            <a:r>
              <a:t>Arquitetura da classe institucional oficial e biblioteca de abstração em alto nível.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749039"/>
            <a:ext cx="53492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B72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3858768"/>
            <a:ext cx="498348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2B7283"/>
                </a:solidFill>
                <a:latin typeface="Arial"/>
              </a:defRPr>
            </a:pPr>
            <a:r>
              <a:t>05. Resultados Práticos e Validação</a:t>
            </a:r>
          </a:p>
          <a:p>
            <a:pPr>
              <a:defRPr sz="950">
                <a:solidFill>
                  <a:srgbClr val="141414"/>
                </a:solidFill>
                <a:latin typeface="Arial"/>
              </a:defRPr>
            </a:pPr>
            <a:r>
              <a:t>Switches de configuração semânticos, geração de pré-texto e blindagem do pós-texto.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5074920"/>
            <a:ext cx="53492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B72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5184648"/>
            <a:ext cx="498348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2B7283"/>
                </a:solidFill>
                <a:latin typeface="Arial"/>
              </a:defRPr>
            </a:pPr>
            <a:r>
              <a:t>06. Conclusões e Desdobramentos Futuros</a:t>
            </a:r>
          </a:p>
          <a:p>
            <a:pPr>
              <a:defRPr sz="950">
                <a:solidFill>
                  <a:srgbClr val="141414"/>
                </a:solidFill>
                <a:latin typeface="Arial"/>
              </a:defRPr>
            </a:pPr>
            <a:r>
              <a:t>Ganhos de produtividade comprovados e desenvolvimento da interface web por formulários.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becalho-conepe20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79955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909284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F3C1E"/>
                </a:solidFill>
                <a:latin typeface="Arial"/>
              </a:defRPr>
            </a:pPr>
            <a:r>
              <a:t>O Pesadelo da Madrugada: A Odisseia da Formatação no Word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4415" cy="13716"/>
          </a:xfrm>
          <a:prstGeom prst="rect">
            <a:avLst/>
          </a:prstGeom>
          <a:solidFill>
            <a:srgbClr val="1E823C"/>
          </a:solidFill>
          <a:ln>
            <a:solidFill>
              <a:srgbClr val="1E8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141414"/>
                </a:solidFill>
                <a:latin typeface="Arial"/>
                <a:hlinkClick r:id="rId3"/>
              </a:rPr>
              <a:t>de Andrade, P. H. R., et 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6473952"/>
            <a:ext cx="30476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1">
                <a:solidFill>
                  <a:srgbClr val="0F3C1E"/>
                </a:solidFill>
                <a:latin typeface="Arial"/>
                <a:hlinkClick r:id="rId4"/>
              </a:rPr>
              <a:t>Classe LaTeX — CONEPE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73952"/>
            <a:ext cx="3870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1">
                <a:solidFill>
                  <a:srgbClr val="5A5A5A"/>
                </a:solidFill>
                <a:latin typeface="Arial"/>
              </a:rPr>
              <a:t>3 / 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23160"/>
            <a:ext cx="5349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F3C1E"/>
                </a:solidFill>
                <a:latin typeface="Arial"/>
              </a:defRPr>
            </a:pPr>
            <a:r>
              <a:t>Cenário das 23h59 (Véspera de Entrega):</a:t>
            </a:r>
          </a:p>
          <a:p>
            <a:pPr>
              <a:defRPr sz="1000">
                <a:solidFill>
                  <a:srgbClr val="141414"/>
                </a:solidFill>
                <a:latin typeface="Arial"/>
              </a:defRPr>
            </a:pPr>
            <a:r>
              <a:t>• O orientador pede um acréscimo pontual de 3 linhas na Introdução;</a:t>
            </a:r>
            <a:br/>
            <a:r>
              <a:t>• O autor insere o texto e aperta 'Enter'...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291840"/>
            <a:ext cx="5349240" cy="3063240"/>
          </a:xfrm>
          <a:prstGeom prst="roundRect">
            <a:avLst/>
          </a:prstGeom>
          <a:solidFill>
            <a:srgbClr val="FFEEEE"/>
          </a:solidFill>
          <a:ln w="12700">
            <a:solidFill>
              <a:srgbClr val="B4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419856"/>
            <a:ext cx="4983479" cy="28072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B41E1E"/>
                </a:solidFill>
                <a:latin typeface="Arial"/>
              </a:defRPr>
            </a:pPr>
            <a:r>
              <a:t>O Efeito Dominó Catastrófico</a:t>
            </a:r>
          </a:p>
          <a:p>
            <a:pPr>
              <a:spcAft>
                <a:spcPts val="400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 A Figura 4 salta páginas adiante, gerando enorme vazio em branco;</a:t>
            </a:r>
          </a:p>
          <a:p>
            <a:pPr>
              <a:spcAft>
                <a:spcPts val="400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 A legenda se desprende da ilustração e fica órfã no topo da folha seguinte;</a:t>
            </a:r>
          </a:p>
          <a:p>
            <a:pPr>
              <a:spcAft>
                <a:spcPts val="400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 Surge o clássico erro: 'Erro! Indicador não definido.' nas referências cruzadas;</a:t>
            </a:r>
          </a:p>
          <a:p>
            <a:pPr>
              <a:spcAft>
                <a:spcPts val="400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 As referências numéricas perdem ordenação sequencial [14, 2, 8, 1].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423160"/>
            <a:ext cx="5349240" cy="3931920"/>
          </a:xfrm>
          <a:prstGeom prst="roundRect">
            <a:avLst/>
          </a:prstGeom>
          <a:solidFill>
            <a:srgbClr val="F5F7F8"/>
          </a:solidFill>
          <a:ln w="12700">
            <a:solidFill>
              <a:srgbClr val="1E8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551176"/>
            <a:ext cx="4983479" cy="3675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0F3C1E"/>
                </a:solidFill>
                <a:latin typeface="Arial"/>
              </a:defRPr>
            </a:pPr>
            <a:r>
              <a:t>O Custo Operacional Comprovado</a:t>
            </a:r>
          </a:p>
          <a:p>
            <a:pPr>
              <a:spcAft>
                <a:spcPts val="400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 Quebras de seção corrompem silenciosamente a paginação pré-textual;</a:t>
            </a:r>
          </a:p>
          <a:p>
            <a:pPr>
              <a:spcAft>
                <a:spcPts val="400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 Margens oscilam sem intervenção ao colar textos de outras fontes;</a:t>
            </a:r>
          </a:p>
          <a:p>
            <a:pPr>
              <a:spcAft>
                <a:spcPts val="400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 O sumário desalinha os números de página dos pontilhados (.....);</a:t>
            </a:r>
          </a:p>
          <a:p>
            <a:pPr>
              <a:spcAft>
                <a:spcPts val="400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 Títulos perdem hierarquia e padrão de fontes após salvamento automático;</a:t>
            </a:r>
          </a:p>
          <a:p>
            <a:pPr>
              <a:spcAft>
                <a:spcPts val="400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 Diagnóstico Comprovado na Academia:</a:t>
            </a:r>
          </a:p>
          <a:p>
            <a:pPr>
              <a:spcAft>
                <a:spcPts val="400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 Até 70% do tempo de redação científica é desperdiçado combatendo a ferramenta, não produzindo ciência.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becalho-conepe20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79955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909284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F3C1E"/>
                </a:solidFill>
                <a:latin typeface="Arial"/>
              </a:defRPr>
            </a:pPr>
            <a:r>
              <a:t>O Paradoxo do Pesquisador Acadêmico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4415" cy="13716"/>
          </a:xfrm>
          <a:prstGeom prst="rect">
            <a:avLst/>
          </a:prstGeom>
          <a:solidFill>
            <a:srgbClr val="1E823C"/>
          </a:solidFill>
          <a:ln>
            <a:solidFill>
              <a:srgbClr val="1E8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141414"/>
                </a:solidFill>
                <a:latin typeface="Arial"/>
                <a:hlinkClick r:id="rId3"/>
              </a:rPr>
              <a:t>de Andrade, P. H. R., et 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6473952"/>
            <a:ext cx="30476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1">
                <a:solidFill>
                  <a:srgbClr val="0F3C1E"/>
                </a:solidFill>
                <a:latin typeface="Arial"/>
                <a:hlinkClick r:id="rId4"/>
              </a:rPr>
              <a:t>Classe LaTeX — CONEPE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73952"/>
            <a:ext cx="3870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1">
                <a:solidFill>
                  <a:srgbClr val="5A5A5A"/>
                </a:solidFill>
                <a:latin typeface="Arial"/>
              </a:rPr>
              <a:t>4 / 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23160"/>
            <a:ext cx="5349240" cy="2834640"/>
          </a:xfrm>
          <a:prstGeom prst="roundRect">
            <a:avLst/>
          </a:prstGeom>
          <a:solidFill>
            <a:srgbClr val="EEFCF0"/>
          </a:solidFill>
          <a:ln w="12700">
            <a:solidFill>
              <a:srgbClr val="1E8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551176"/>
            <a:ext cx="4983479" cy="2578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0F3C1E"/>
                </a:solidFill>
                <a:latin typeface="Arial"/>
              </a:defRPr>
            </a:pPr>
            <a:r>
              <a:t>O Objetivo Científico Central</a:t>
            </a:r>
          </a:p>
          <a:p>
            <a:pPr>
              <a:spcAft>
                <a:spcPts val="400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 Formulação e teste rigoroso de hipóteses científicas;</a:t>
            </a:r>
          </a:p>
          <a:p>
            <a:pPr>
              <a:spcAft>
                <a:spcPts val="400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 Coleta, tratamento e modelagem matemática de dados empíricos;</a:t>
            </a:r>
          </a:p>
          <a:p>
            <a:pPr>
              <a:spcAft>
                <a:spcPts val="400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 Redação concisa, precisa e geração de impacto científico relevante;</a:t>
            </a:r>
          </a:p>
          <a:p>
            <a:pPr>
              <a:spcAft>
                <a:spcPts val="400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 Contribuição efetiva para o avanço da sociedade e da tecnologia.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423160"/>
            <a:ext cx="5349240" cy="2834640"/>
          </a:xfrm>
          <a:prstGeom prst="roundRect">
            <a:avLst/>
          </a:prstGeom>
          <a:solidFill>
            <a:srgbClr val="FFEEEE"/>
          </a:solidFill>
          <a:ln w="12700">
            <a:solidFill>
              <a:srgbClr val="B4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551176"/>
            <a:ext cx="4983479" cy="2578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B41E1E"/>
                </a:solidFill>
                <a:latin typeface="Arial"/>
              </a:defRPr>
            </a:pPr>
            <a:r>
              <a:t>A Realidade Burocrática Improdutiva</a:t>
            </a:r>
          </a:p>
          <a:p>
            <a:pPr>
              <a:spcAft>
                <a:spcPts val="400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 Medir manualmente margens de 3 cm e 2 cm na régua visual da tela;</a:t>
            </a:r>
          </a:p>
          <a:p>
            <a:pPr>
              <a:spcAft>
                <a:spcPts val="400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 Batalhar horas a fio para ocultar o número de página na capa e resumo;</a:t>
            </a:r>
          </a:p>
          <a:p>
            <a:pPr>
              <a:spcAft>
                <a:spcPts val="400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 Repadronizar estilos de títulos corrompidos a cada atualização;</a:t>
            </a:r>
          </a:p>
          <a:p>
            <a:pPr>
              <a:spcAft>
                <a:spcPts val="400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 Reformatar espaçamentos verticais manuais a cada ciclo de revisão.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440680"/>
            <a:ext cx="11094415" cy="868680"/>
          </a:xfrm>
          <a:prstGeom prst="roundRect">
            <a:avLst/>
          </a:prstGeom>
          <a:solidFill>
            <a:srgbClr val="0F3C1E"/>
          </a:solidFill>
          <a:ln w="15240">
            <a:solidFill>
              <a:srgbClr val="1E8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5532120"/>
            <a:ext cx="107286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E823C"/>
                </a:solidFill>
                <a:latin typeface="Arial"/>
              </a:rPr>
              <a:t>Pergunta Norteadora: </a:t>
            </a:r>
            <a:r>
              <a:rPr sz="1200">
                <a:solidFill>
                  <a:srgbClr val="FFFFFF"/>
                </a:solidFill>
                <a:latin typeface="Arial"/>
              </a:rPr>
              <a:t>Como blindar o pesquisador das armadilhas normativas sem exigir dele conhecimento avançado em programação?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becalho-conepe20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79955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909284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F3C1E"/>
                </a:solidFill>
                <a:latin typeface="Arial"/>
              </a:defRPr>
            </a:pPr>
            <a:r>
              <a:t>As Normas Regentes I: ABNT NBR 14724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4415" cy="13716"/>
          </a:xfrm>
          <a:prstGeom prst="rect">
            <a:avLst/>
          </a:prstGeom>
          <a:solidFill>
            <a:srgbClr val="1E823C"/>
          </a:solidFill>
          <a:ln>
            <a:solidFill>
              <a:srgbClr val="1E8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141414"/>
                </a:solidFill>
                <a:latin typeface="Arial"/>
                <a:hlinkClick r:id="rId3"/>
              </a:rPr>
              <a:t>de Andrade, P. H. R., et 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6473952"/>
            <a:ext cx="30476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1">
                <a:solidFill>
                  <a:srgbClr val="0F3C1E"/>
                </a:solidFill>
                <a:latin typeface="Arial"/>
                <a:hlinkClick r:id="rId4"/>
              </a:rPr>
              <a:t>Classe LaTeX — CONEPE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73952"/>
            <a:ext cx="3870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1">
                <a:solidFill>
                  <a:srgbClr val="5A5A5A"/>
                </a:solidFill>
                <a:latin typeface="Arial"/>
              </a:rPr>
              <a:t>5 / 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23160"/>
            <a:ext cx="534924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8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551176"/>
            <a:ext cx="4983479" cy="3675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0F3C1E"/>
                </a:solidFill>
                <a:latin typeface="Arial"/>
              </a:defRPr>
            </a:pPr>
            <a:r>
              <a:t>Geometria e Margens Estritas</a:t>
            </a:r>
          </a:p>
          <a:p>
            <a:pPr>
              <a:spcAft>
                <a:spcPts val="400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 Anverso: Esquerda e Topo: 3,0 cm  |  Direita e Base: 2,0 cm;</a:t>
            </a:r>
          </a:p>
          <a:p>
            <a:pPr>
              <a:spcAft>
                <a:spcPts val="400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 Verso: Margens rigorosamente espelhadas para encadernação;</a:t>
            </a:r>
          </a:p>
          <a:p>
            <a:pPr>
              <a:spcAft>
                <a:spcPts val="400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 Corpo do Trabalho: Fonte tamanho 12 para texto regular;</a:t>
            </a:r>
          </a:p>
          <a:p>
            <a:pPr>
              <a:spcAft>
                <a:spcPts val="400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 Citações Longas (&gt; 3 linhas): Recuo obrigatório de 4,0 cm da margem esquerda, fonte tamanho 10 e espaçamento simples entre linhas.</a:t>
            </a:r>
          </a:p>
          <a:p>
            <a:pPr>
              <a:spcAft>
                <a:spcPts val="400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 Impacto Sistêmico:</a:t>
            </a:r>
          </a:p>
          <a:p>
            <a:pPr>
              <a:spcAft>
                <a:spcPts val="400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 Variações milimétricas em margens alteram o volume de páginas, deslocando finais de seções e provocando refações completas.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423160"/>
            <a:ext cx="5349240" cy="3931920"/>
          </a:xfrm>
          <a:prstGeom prst="roundRect">
            <a:avLst/>
          </a:prstGeom>
          <a:solidFill>
            <a:srgbClr val="FFEEEE"/>
          </a:solidFill>
          <a:ln w="12700">
            <a:solidFill>
              <a:srgbClr val="B4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551176"/>
            <a:ext cx="4983479" cy="3675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B41E1E"/>
                </a:solidFill>
                <a:latin typeface="Arial"/>
              </a:defRPr>
            </a:pPr>
            <a:r>
              <a:t>A Pegadinha da Paginação Acadêmica</a:t>
            </a:r>
          </a:p>
          <a:p>
            <a:pPr>
              <a:spcAft>
                <a:spcPts val="400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 Contagem Pré-Textual:</a:t>
            </a:r>
          </a:p>
          <a:p>
            <a:pPr>
              <a:spcAft>
                <a:spcPts val="400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 As folhas pré-textuais são contadas a partir da Folha de Rosto (folha 2);</a:t>
            </a:r>
          </a:p>
          <a:p>
            <a:pPr>
              <a:spcAft>
                <a:spcPts val="400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 Impressão da Numeração Física:</a:t>
            </a:r>
          </a:p>
          <a:p>
            <a:pPr>
              <a:spcAft>
                <a:spcPts val="400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 O número da página só é impresso a partir da primeira folha da Introdução;</a:t>
            </a:r>
          </a:p>
          <a:p>
            <a:pPr>
              <a:spcAft>
                <a:spcPts val="400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 A Fragilidade no Word:</a:t>
            </a:r>
          </a:p>
          <a:p>
            <a:pPr>
              <a:spcAft>
                <a:spcPts val="400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 Exige quebras de seção delicadas que corrompem numerações com qualquer exclusão inadvertida;</a:t>
            </a:r>
          </a:p>
          <a:p>
            <a:pPr>
              <a:spcAft>
                <a:spcPts val="400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 A Solução na ifftese.cls:</a:t>
            </a:r>
          </a:p>
          <a:p>
            <a:pPr>
              <a:spcAft>
                <a:spcPts val="400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 Todo o gerenciamento de paginação e contagem oculta é processado de forma automática e transparente na transição textual.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becalho-conepe20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79955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909284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F3C1E"/>
                </a:solidFill>
                <a:latin typeface="Arial"/>
              </a:defRPr>
            </a:pPr>
            <a:r>
              <a:t>As Normas Regentes II: NBR 6023 e NBR 6027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4415" cy="13716"/>
          </a:xfrm>
          <a:prstGeom prst="rect">
            <a:avLst/>
          </a:prstGeom>
          <a:solidFill>
            <a:srgbClr val="1E823C"/>
          </a:solidFill>
          <a:ln>
            <a:solidFill>
              <a:srgbClr val="1E8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141414"/>
                </a:solidFill>
                <a:latin typeface="Arial"/>
                <a:hlinkClick r:id="rId3"/>
              </a:rPr>
              <a:t>de Andrade, P. H. R., et 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6473952"/>
            <a:ext cx="30476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1">
                <a:solidFill>
                  <a:srgbClr val="0F3C1E"/>
                </a:solidFill>
                <a:latin typeface="Arial"/>
                <a:hlinkClick r:id="rId4"/>
              </a:rPr>
              <a:t>Classe LaTeX — CONEPE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73952"/>
            <a:ext cx="3870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1">
                <a:solidFill>
                  <a:srgbClr val="5A5A5A"/>
                </a:solidFill>
                <a:latin typeface="Arial"/>
              </a:rPr>
              <a:t>6 / 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23160"/>
            <a:ext cx="534924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B72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551176"/>
            <a:ext cx="4983479" cy="3675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2B7283"/>
                </a:solidFill>
                <a:latin typeface="Arial"/>
              </a:defRPr>
            </a:pPr>
            <a:r>
              <a:t>NBR 6023 (Referências Bibliográficas)</a:t>
            </a:r>
          </a:p>
          <a:p>
            <a:pPr>
              <a:spcAft>
                <a:spcPts val="400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 Alinhamento Estrito à Margem Esquerda:</a:t>
            </a:r>
          </a:p>
          <a:p>
            <a:pPr>
              <a:spcAft>
                <a:spcPts val="400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 As referências nunca devem ser justificadas, evitando espaçamentos tipográficos artificiais;</a:t>
            </a:r>
          </a:p>
          <a:p>
            <a:pPr>
              <a:spcAft>
                <a:spcPts val="400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 Espaçamento Padronizado:</a:t>
            </a:r>
          </a:p>
          <a:p>
            <a:pPr>
              <a:spcAft>
                <a:spcPts val="400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 Espaçamento simples no interior da referência e 1 linha em branco separando as referências;</a:t>
            </a:r>
          </a:p>
          <a:p>
            <a:pPr>
              <a:spcAft>
                <a:spcPts val="400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 Destaque Tipográfico Uniforme:</a:t>
            </a:r>
          </a:p>
          <a:p>
            <a:pPr>
              <a:spcAft>
                <a:spcPts val="400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 O recurso tipográfico (negrito, itálico ou sublinhado) é aplicado exclusivamente no título da obra;</a:t>
            </a:r>
          </a:p>
          <a:p>
            <a:pPr>
              <a:spcAft>
                <a:spcPts val="400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 Sistema de Chamada Consistente:</a:t>
            </a:r>
          </a:p>
          <a:p>
            <a:pPr>
              <a:spcAft>
                <a:spcPts val="400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 Adoção homogênea de autor-data ou numérico estrito em todo o corpo do trabalho.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423160"/>
            <a:ext cx="534924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8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551176"/>
            <a:ext cx="4983479" cy="3675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0F3C1E"/>
                </a:solidFill>
                <a:latin typeface="Arial"/>
              </a:defRPr>
            </a:pPr>
            <a:r>
              <a:t>NBR 6027 (Sumário Institucional)</a:t>
            </a:r>
          </a:p>
          <a:p>
            <a:pPr>
              <a:spcAft>
                <a:spcPts val="400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 Identidade Tipográfica Rigorosa:</a:t>
            </a:r>
          </a:p>
          <a:p>
            <a:pPr>
              <a:spcAft>
                <a:spcPts val="400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 O sumário deve espelhar com exatidão matemática a grafia das seções no texto:</a:t>
            </a:r>
          </a:p>
          <a:p>
            <a:pPr>
              <a:spcAft>
                <a:spcPts val="400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   • 1 SEÇÃO PRIMÁRIA (CAIXA ALTA NEGRITO)</a:t>
            </a:r>
          </a:p>
          <a:p>
            <a:pPr>
              <a:spcAft>
                <a:spcPts val="400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   • 1.1 Seção Secundária (Caixa Baixa Normal)</a:t>
            </a:r>
          </a:p>
          <a:p>
            <a:pPr>
              <a:spcAft>
                <a:spcPts val="400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   • 1.1.1 Seção Terciária (Caixa Baixa Itálico)</a:t>
            </a:r>
          </a:p>
          <a:p>
            <a:pPr>
              <a:spcAft>
                <a:spcPts val="400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 Alinhamento por Linha Pontilhada:</a:t>
            </a:r>
          </a:p>
          <a:p>
            <a:pPr>
              <a:spcAft>
                <a:spcPts val="400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 Pontilhados perfeitos conectando cada título à respectiva página física;</a:t>
            </a:r>
          </a:p>
          <a:p>
            <a:pPr>
              <a:spcAft>
                <a:spcPts val="400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 Automação na ifftese.cls:</a:t>
            </a:r>
          </a:p>
          <a:p>
            <a:pPr>
              <a:spcAft>
                <a:spcPts val="400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 O sumário é compilado de forma autônoma sem risco de divergência de títulos ou de paginação.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becalho-conepe20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79955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909284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F3C1E"/>
                </a:solidFill>
                <a:latin typeface="Arial"/>
              </a:defRPr>
            </a:pPr>
            <a:r>
              <a:t>Diferenciação Normativa: Tabelas (IBGE) vs. Quadros (ABNT)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4415" cy="13716"/>
          </a:xfrm>
          <a:prstGeom prst="rect">
            <a:avLst/>
          </a:prstGeom>
          <a:solidFill>
            <a:srgbClr val="1E823C"/>
          </a:solidFill>
          <a:ln>
            <a:solidFill>
              <a:srgbClr val="1E8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141414"/>
                </a:solidFill>
                <a:latin typeface="Arial"/>
                <a:hlinkClick r:id="rId3"/>
              </a:rPr>
              <a:t>de Andrade, P. H. R., et 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6473952"/>
            <a:ext cx="30476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1">
                <a:solidFill>
                  <a:srgbClr val="0F3C1E"/>
                </a:solidFill>
                <a:latin typeface="Arial"/>
                <a:hlinkClick r:id="rId4"/>
              </a:rPr>
              <a:t>Classe LaTeX — CONEPE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73952"/>
            <a:ext cx="3870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1">
                <a:solidFill>
                  <a:srgbClr val="5A5A5A"/>
                </a:solidFill>
                <a:latin typeface="Arial"/>
              </a:rPr>
              <a:t>7 / 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23160"/>
            <a:ext cx="5349240" cy="2880360"/>
          </a:xfrm>
          <a:prstGeom prst="roundRect">
            <a:avLst/>
          </a:prstGeom>
          <a:solidFill>
            <a:srgbClr val="EEFCF0"/>
          </a:solidFill>
          <a:ln w="12700">
            <a:solidFill>
              <a:srgbClr val="1E8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551176"/>
            <a:ext cx="4983479" cy="2624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0F3C1E"/>
                </a:solidFill>
                <a:latin typeface="Arial"/>
              </a:defRPr>
            </a:pPr>
            <a:r>
              <a:t>Tabelas (Normas do IBGE)</a:t>
            </a:r>
          </a:p>
          <a:p>
            <a:pPr>
              <a:spcAft>
                <a:spcPts val="400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 Natureza dos Dados: Informações predominantemente numéricas e estatísticas;</a:t>
            </a:r>
          </a:p>
          <a:p>
            <a:pPr>
              <a:spcAft>
                <a:spcPts val="400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 Geometria Específica: Laterais abertas (sem bordas verticais nas extremidades);</a:t>
            </a:r>
          </a:p>
          <a:p>
            <a:pPr>
              <a:spcAft>
                <a:spcPts val="400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 Linhas Horizontais: Presentes no topo, no cabeçalho e na base inferior;</a:t>
            </a:r>
          </a:p>
          <a:p>
            <a:pPr>
              <a:spcAft>
                <a:spcPts val="400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 Lista Pré-Textual: Alimenta automaticamente a Lista de Tabelas institucional.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423160"/>
            <a:ext cx="5349240" cy="2880360"/>
          </a:xfrm>
          <a:prstGeom prst="roundRect">
            <a:avLst/>
          </a:prstGeom>
          <a:solidFill>
            <a:srgbClr val="FFEEEE"/>
          </a:solidFill>
          <a:ln w="12700">
            <a:solidFill>
              <a:srgbClr val="B4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551176"/>
            <a:ext cx="4983479" cy="2624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B41E1E"/>
                </a:solidFill>
                <a:latin typeface="Arial"/>
              </a:defRPr>
            </a:pPr>
            <a:r>
              <a:t>Quadros (Norma ABNT)</a:t>
            </a:r>
          </a:p>
          <a:p>
            <a:pPr>
              <a:spcAft>
                <a:spcPts val="400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 Natureza dos Dados: Conteúdo conceitual, qualitativo, descritivo ou textual;</a:t>
            </a:r>
          </a:p>
          <a:p>
            <a:pPr>
              <a:spcAft>
                <a:spcPts val="400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 Geometria Fechada: Moldura totalmente fechada nos quatro lados com grades;</a:t>
            </a:r>
          </a:p>
          <a:p>
            <a:pPr>
              <a:spcAft>
                <a:spcPts val="400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 Divisórias: Separação de todas as células internas verticais e horizontais;</a:t>
            </a:r>
          </a:p>
          <a:p>
            <a:pPr>
              <a:spcAft>
                <a:spcPts val="400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 Lista Pré-Textual: Exige obrigatoriamente a Lista de Quadros separada.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440680"/>
            <a:ext cx="11094415" cy="868680"/>
          </a:xfrm>
          <a:prstGeom prst="roundRect">
            <a:avLst/>
          </a:prstGeom>
          <a:solidFill>
            <a:srgbClr val="FFEEEE"/>
          </a:solidFill>
          <a:ln w="15240">
            <a:solidFill>
              <a:srgbClr val="B4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5532120"/>
            <a:ext cx="107286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B41E1E"/>
                </a:solidFill>
                <a:latin typeface="Arial"/>
              </a:rPr>
              <a:t>O Erro Crítico na Academia: </a:t>
            </a:r>
            <a:r>
              <a:rPr sz="950">
                <a:solidFill>
                  <a:srgbClr val="141414"/>
                </a:solidFill>
                <a:latin typeface="Arial"/>
              </a:rPr>
              <a:t>Tratar tabelas e quadros como sinônimos acarreta penalizações formais em bancas examinadoras. A classe ifftese.cls automatiza a distinção visual e funcional através das macros \inserirtabela e \inserirquadro.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becalho-conepe20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79955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909284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F3C1E"/>
                </a:solidFill>
                <a:latin typeface="Arial"/>
              </a:defRPr>
            </a:pPr>
            <a:r>
              <a:t>O Princípio dos Paradigmas: WYSIWYG vs. WYSIWYM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4415" cy="13716"/>
          </a:xfrm>
          <a:prstGeom prst="rect">
            <a:avLst/>
          </a:prstGeom>
          <a:solidFill>
            <a:srgbClr val="1E823C"/>
          </a:solidFill>
          <a:ln>
            <a:solidFill>
              <a:srgbClr val="1E8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141414"/>
                </a:solidFill>
                <a:latin typeface="Arial"/>
                <a:hlinkClick r:id="rId3"/>
              </a:rPr>
              <a:t>de Andrade, P. H. R., et 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6473952"/>
            <a:ext cx="30476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1">
                <a:solidFill>
                  <a:srgbClr val="0F3C1E"/>
                </a:solidFill>
                <a:latin typeface="Arial"/>
                <a:hlinkClick r:id="rId4"/>
              </a:rPr>
              <a:t>Classe LaTeX — CONEPE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73952"/>
            <a:ext cx="3870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1">
                <a:solidFill>
                  <a:srgbClr val="5A5A5A"/>
                </a:solidFill>
                <a:latin typeface="Arial"/>
              </a:rPr>
              <a:t>8 / 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23160"/>
            <a:ext cx="5349240" cy="3931920"/>
          </a:xfrm>
          <a:prstGeom prst="roundRect">
            <a:avLst/>
          </a:prstGeom>
          <a:solidFill>
            <a:srgbClr val="FFEEEE"/>
          </a:solidFill>
          <a:ln w="12700">
            <a:solidFill>
              <a:srgbClr val="B4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551176"/>
            <a:ext cx="4983479" cy="3675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B41E1E"/>
                </a:solidFill>
                <a:latin typeface="Arial"/>
              </a:defRPr>
            </a:pPr>
            <a:r>
              <a:t>WYSIWYG: Microsoft Word</a:t>
            </a:r>
          </a:p>
          <a:p>
            <a:pPr>
              <a:spcAft>
                <a:spcPts val="400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 Conceito Operacional: 'What You See Is What You Get';</a:t>
            </a:r>
          </a:p>
          <a:p>
            <a:pPr>
              <a:spcAft>
                <a:spcPts val="400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 Renderização Síncrona:</a:t>
            </a:r>
          </a:p>
          <a:p>
            <a:pPr>
              <a:spcAft>
                <a:spcPts val="400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 O processador renderiza gráficos e cálculos geométricos simultaneamente à digitação;</a:t>
            </a:r>
          </a:p>
          <a:p>
            <a:pPr>
              <a:spcAft>
                <a:spcPts val="400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 Algoritmo Local 'Guloso' (Greedy):</a:t>
            </a:r>
          </a:p>
          <a:p>
            <a:pPr>
              <a:spcAft>
                <a:spcPts val="400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 Ajustes pontuais no início do documento propagam instabilidades em cascata pelas centenas de páginas seguintes;</a:t>
            </a:r>
          </a:p>
          <a:p>
            <a:pPr>
              <a:spcAft>
                <a:spcPts val="400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 Instabilidade Crítica:</a:t>
            </a:r>
          </a:p>
          <a:p>
            <a:pPr>
              <a:spcAft>
                <a:spcPts val="400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 Gargalos severos de desempenho e desconfigurações crônicas em documentos extensos contendo figuras e equações flutuantes.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423160"/>
            <a:ext cx="5349240" cy="3931920"/>
          </a:xfrm>
          <a:prstGeom prst="roundRect">
            <a:avLst/>
          </a:prstGeom>
          <a:solidFill>
            <a:srgbClr val="EEFCF0"/>
          </a:solidFill>
          <a:ln w="12700">
            <a:solidFill>
              <a:srgbClr val="1E8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551176"/>
            <a:ext cx="4983479" cy="3675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0F3C1E"/>
                </a:solidFill>
                <a:latin typeface="Arial"/>
              </a:defRPr>
            </a:pPr>
            <a:r>
              <a:t>WYSIWYM: O Sistema LaTeX</a:t>
            </a:r>
          </a:p>
          <a:p>
            <a:pPr>
              <a:spcAft>
                <a:spcPts val="400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 Conceito Operacional: 'What You See Is What You Mean';</a:t>
            </a:r>
          </a:p>
          <a:p>
            <a:pPr>
              <a:spcAft>
                <a:spcPts val="400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 Fundamentação Histórica:</a:t>
            </a:r>
          </a:p>
          <a:p>
            <a:pPr>
              <a:spcAft>
                <a:spcPts val="400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 Criado por Donald Knuth (1977) e expandido por Leslie Lamport (1984);</a:t>
            </a:r>
          </a:p>
          <a:p>
            <a:pPr>
              <a:spcAft>
                <a:spcPts val="400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 Separação Estrita de Papéis:</a:t>
            </a:r>
          </a:p>
          <a:p>
            <a:pPr>
              <a:spcAft>
                <a:spcPts val="400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 O autor concentra-se na semântica do conteúdo; o compilador projeta o layout global ideal;</a:t>
            </a:r>
          </a:p>
          <a:p>
            <a:pPr>
              <a:spcAft>
                <a:spcPts val="400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 Algoritmo Knuth-Plass:</a:t>
            </a:r>
          </a:p>
          <a:p>
            <a:pPr>
              <a:spcAft>
                <a:spcPts val="400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 Quebras de parágrafos otimizadas globalmente via programação dinâmica, eliminando rios de espaços em branco e garantindo simetria tipográfica.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becalho-conepe20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79955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909284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F3C1E"/>
                </a:solidFill>
                <a:latin typeface="Arial"/>
              </a:defRPr>
            </a:pPr>
            <a:r>
              <a:t>Por Que o LaTeX é a Resposta (e o dilema da curva inicial)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4415" cy="13716"/>
          </a:xfrm>
          <a:prstGeom prst="rect">
            <a:avLst/>
          </a:prstGeom>
          <a:solidFill>
            <a:srgbClr val="1E823C"/>
          </a:solidFill>
          <a:ln>
            <a:solidFill>
              <a:srgbClr val="1E8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141414"/>
                </a:solidFill>
                <a:latin typeface="Arial"/>
                <a:hlinkClick r:id="rId3"/>
              </a:rPr>
              <a:t>de Andrade, P. H. R., et 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6473952"/>
            <a:ext cx="30476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1">
                <a:solidFill>
                  <a:srgbClr val="0F3C1E"/>
                </a:solidFill>
                <a:latin typeface="Arial"/>
                <a:hlinkClick r:id="rId4"/>
              </a:rPr>
              <a:t>Classe LaTeX — CONEPE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73952"/>
            <a:ext cx="3870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1">
                <a:solidFill>
                  <a:srgbClr val="5A5A5A"/>
                </a:solidFill>
                <a:latin typeface="Arial"/>
              </a:rPr>
              <a:t>9 / 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23160"/>
            <a:ext cx="5349240" cy="2880360"/>
          </a:xfrm>
          <a:prstGeom prst="roundRect">
            <a:avLst/>
          </a:prstGeom>
          <a:solidFill>
            <a:srgbClr val="EEFCF0"/>
          </a:solidFill>
          <a:ln w="12700">
            <a:solidFill>
              <a:srgbClr val="1E8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551176"/>
            <a:ext cx="4983479" cy="2624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0F3C1E"/>
                </a:solidFill>
                <a:latin typeface="Arial"/>
              </a:defRPr>
            </a:pPr>
            <a:r>
              <a:t>As Vantagens Inquestionáveis</a:t>
            </a:r>
          </a:p>
          <a:p>
            <a:pPr>
              <a:spcAft>
                <a:spcPts val="400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 Padrão consolidado internacionalmente nas ciências exatas (arXiv, IEEE, ACM, Springer);</a:t>
            </a:r>
          </a:p>
          <a:p>
            <a:pPr>
              <a:spcAft>
                <a:spcPts val="400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 Qualidade tipográfica inigualável em fórmulas matemáticas complexas;</a:t>
            </a:r>
          </a:p>
          <a:p>
            <a:pPr>
              <a:spcAft>
                <a:spcPts val="400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 Geração infalível de referências cruzadas através de arquivos auxiliares (.aux);</a:t>
            </a:r>
          </a:p>
          <a:p>
            <a:pPr>
              <a:spcAft>
                <a:spcPts val="400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 Separação cristalina entre conteúdo textual e arte-final.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423160"/>
            <a:ext cx="5349240" cy="2880360"/>
          </a:xfrm>
          <a:prstGeom prst="roundRect">
            <a:avLst/>
          </a:prstGeom>
          <a:solidFill>
            <a:srgbClr val="FFEEEE"/>
          </a:solidFill>
          <a:ln w="12700">
            <a:solidFill>
              <a:srgbClr val="B4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551176"/>
            <a:ext cx="4983479" cy="2624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B41E1E"/>
                </a:solidFill>
                <a:latin typeface="Arial"/>
              </a:defRPr>
            </a:pPr>
            <a:r>
              <a:t>A Barreira de Entrada Institucional</a:t>
            </a:r>
          </a:p>
          <a:p>
            <a:pPr>
              <a:spcAft>
                <a:spcPts val="400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 Curva de aprendizado inicial íngreme para pesquisadores em início de formação;</a:t>
            </a:r>
          </a:p>
          <a:p>
            <a:pPr>
              <a:spcAft>
                <a:spcPts val="400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 Configuração de dezenas de pacotes gráficos e de formatação conflitantes;</a:t>
            </a:r>
          </a:p>
          <a:p>
            <a:pPr>
              <a:spcAft>
                <a:spcPts val="400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 Mensagens de erro de compilação intimidadoras para não-programadores;</a:t>
            </a:r>
          </a:p>
          <a:p>
            <a:pPr>
              <a:spcAft>
                <a:spcPts val="400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 Necessidade recorrente de adequar classes genéricas às normas locais da ABNT.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440680"/>
            <a:ext cx="11094415" cy="868680"/>
          </a:xfrm>
          <a:prstGeom prst="roundRect">
            <a:avLst/>
          </a:prstGeom>
          <a:solidFill>
            <a:srgbClr val="0F3C1E"/>
          </a:solidFill>
          <a:ln w="15240">
            <a:solidFill>
              <a:srgbClr val="1E8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5532120"/>
            <a:ext cx="107286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E823C"/>
                </a:solidFill>
                <a:latin typeface="Arial"/>
              </a:rPr>
              <a:t>A Solução Desenvolvida: </a:t>
            </a:r>
            <a:r>
              <a:rPr sz="1200">
                <a:solidFill>
                  <a:srgbClr val="FFFFFF"/>
                </a:solidFill>
                <a:latin typeface="Arial"/>
              </a:rPr>
              <a:t>Uma camada de abstração institucional desenvolvida sob medida que esconde a complexidade e expõe comandos simples e intuitivos.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becalho-conepe20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79955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909284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F3C1E"/>
                </a:solidFill>
                <a:latin typeface="Arial"/>
              </a:defRPr>
            </a:pPr>
            <a:r>
              <a:t>A Solução Proposta: ifftese.cls e macros.sty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4415" cy="13716"/>
          </a:xfrm>
          <a:prstGeom prst="rect">
            <a:avLst/>
          </a:prstGeom>
          <a:solidFill>
            <a:srgbClr val="1E823C"/>
          </a:solidFill>
          <a:ln>
            <a:solidFill>
              <a:srgbClr val="1E8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141414"/>
                </a:solidFill>
                <a:latin typeface="Arial"/>
                <a:hlinkClick r:id="rId3"/>
              </a:rPr>
              <a:t>de Andrade, P. H. R., et 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6473952"/>
            <a:ext cx="30476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1">
                <a:solidFill>
                  <a:srgbClr val="0F3C1E"/>
                </a:solidFill>
                <a:latin typeface="Arial"/>
                <a:hlinkClick r:id="rId4"/>
              </a:rPr>
              <a:t>Classe LaTeX — CONEPE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73952"/>
            <a:ext cx="3870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1">
                <a:solidFill>
                  <a:srgbClr val="5A5A5A"/>
                </a:solidFill>
                <a:latin typeface="Arial"/>
              </a:rPr>
              <a:t>10 / 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23160"/>
            <a:ext cx="11094415" cy="1005840"/>
          </a:xfrm>
          <a:prstGeom prst="roundRect">
            <a:avLst/>
          </a:prstGeom>
          <a:solidFill>
            <a:srgbClr val="F5F7F8"/>
          </a:solidFill>
          <a:ln w="15240">
            <a:solidFill>
              <a:srgbClr val="1E8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F3C1E"/>
                </a:solidFill>
                <a:latin typeface="Arial"/>
              </a:defRPr>
            </a:pPr>
            <a:r>
              <a:t>Objetivo Central do Projeto:</a:t>
            </a:r>
          </a:p>
          <a:p>
            <a:pPr>
              <a:defRPr sz="950">
                <a:solidFill>
                  <a:srgbClr val="141414"/>
                </a:solidFill>
                <a:latin typeface="Arial"/>
              </a:defRPr>
            </a:pPr>
            <a:r>
              <a:t>Desenvolver uma classe tipográfica oficial (ifftese.cls) e um pacote de extensão semântica (macros.sty) para a comunidade do Instituto Federal Fluminense, assegurando conformidade estrita às normas ABNT e IBGE com máxima simplicidade para o autor.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66160"/>
            <a:ext cx="5349240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8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694176"/>
            <a:ext cx="4983479" cy="2532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0F3C1E"/>
                </a:solidFill>
                <a:latin typeface="Arial"/>
              </a:defRPr>
            </a:pPr>
            <a:r>
              <a:t>Classe ifftese.cls</a:t>
            </a:r>
          </a:p>
          <a:p>
            <a:pPr>
              <a:spcAft>
                <a:spcPts val="400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 Gerenciamento milimétrico de margens e geometria da página;</a:t>
            </a:r>
          </a:p>
          <a:p>
            <a:pPr>
              <a:spcAft>
                <a:spcPts val="400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 Geração automática de capas, lombadas e aprovações oficiais;</a:t>
            </a:r>
          </a:p>
          <a:p>
            <a:pPr>
              <a:spcAft>
                <a:spcPts val="400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 Cabeçalhos institucionais e paginação oculta/visível inteligente;</a:t>
            </a:r>
          </a:p>
          <a:p>
            <a:pPr>
              <a:spcAft>
                <a:spcPts val="400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 Construída sobre a base consagrada do ecossistema abntex2.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3566160"/>
            <a:ext cx="5349240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B72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694176"/>
            <a:ext cx="4983479" cy="2532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2B7283"/>
                </a:solidFill>
                <a:latin typeface="Arial"/>
              </a:defRPr>
            </a:pPr>
            <a:r>
              <a:t>Extensão macros.sty</a:t>
            </a:r>
          </a:p>
          <a:p>
            <a:pPr>
              <a:spcAft>
                <a:spcPts val="400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 Abstração de comandos complexos em instruções simplificadas de linha única;</a:t>
            </a:r>
          </a:p>
          <a:p>
            <a:pPr>
              <a:spcAft>
                <a:spcPts val="400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 Diferenciação nativa automática entre tabelas (IBGE) e quadros (ABNT);</a:t>
            </a:r>
          </a:p>
          <a:p>
            <a:pPr>
              <a:spcAft>
                <a:spcPts val="400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 Alimentação automatizada de todas as listas pré-textuais;</a:t>
            </a:r>
          </a:p>
          <a:p>
            <a:pPr>
              <a:spcAft>
                <a:spcPts val="400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 Manipulação segura e transparente dos contadores de apêndices e anexos.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becalho-conepe20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79955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909284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F3C1E"/>
                </a:solidFill>
                <a:latin typeface="Arial"/>
              </a:defRPr>
            </a:pPr>
            <a:r>
              <a:t>Metodologia de Desenvolvimento em Três Etapas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4415" cy="13716"/>
          </a:xfrm>
          <a:prstGeom prst="rect">
            <a:avLst/>
          </a:prstGeom>
          <a:solidFill>
            <a:srgbClr val="1E823C"/>
          </a:solidFill>
          <a:ln>
            <a:solidFill>
              <a:srgbClr val="1E8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141414"/>
                </a:solidFill>
                <a:latin typeface="Arial"/>
                <a:hlinkClick r:id="rId3"/>
              </a:rPr>
              <a:t>de Andrade, P. H. R., et 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6473952"/>
            <a:ext cx="30476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1">
                <a:solidFill>
                  <a:srgbClr val="0F3C1E"/>
                </a:solidFill>
                <a:latin typeface="Arial"/>
                <a:hlinkClick r:id="rId4"/>
              </a:rPr>
              <a:t>Classe LaTeX — CONEPE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73952"/>
            <a:ext cx="3870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1">
                <a:solidFill>
                  <a:srgbClr val="5A5A5A"/>
                </a:solidFill>
                <a:latin typeface="Arial"/>
              </a:rPr>
              <a:t>11 / 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23160"/>
            <a:ext cx="352044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E8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2532888"/>
            <a:ext cx="3227832" cy="1426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F3C1E"/>
                </a:solidFill>
                <a:latin typeface="Arial"/>
              </a:defRPr>
            </a:pPr>
            <a:r>
              <a:t>Etapa 1: Mapeamento Normativo</a:t>
            </a:r>
          </a:p>
          <a:p>
            <a:pPr>
              <a:defRPr sz="950">
                <a:solidFill>
                  <a:srgbClr val="141414"/>
                </a:solidFill>
                <a:latin typeface="Arial"/>
              </a:defRPr>
            </a:pPr>
            <a:r>
              <a:t>Sistematização rigorosa das NBRs 14724, 6023, 6027 e normas tabulares do IBGE em matriz de requisitos formais.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4255" y="2423160"/>
            <a:ext cx="352044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B72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59" y="2532888"/>
            <a:ext cx="3227832" cy="1426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B7283"/>
                </a:solidFill>
                <a:latin typeface="Arial"/>
              </a:defRPr>
            </a:pPr>
            <a:r>
              <a:t>Etapa 2: Construção das Macros</a:t>
            </a:r>
          </a:p>
          <a:p>
            <a:pPr>
              <a:defRPr sz="950">
                <a:solidFill>
                  <a:srgbClr val="141414"/>
                </a:solidFill>
                <a:latin typeface="Arial"/>
              </a:defRPr>
            </a:pPr>
            <a:r>
              <a:t>Encapsulamento dos ambientes TeX e desenvolvimento da camada de abstração com validação de parâmetros.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9871" y="2423160"/>
            <a:ext cx="352044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E8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66175" y="2532888"/>
            <a:ext cx="3227832" cy="1426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F3C1E"/>
                </a:solidFill>
                <a:latin typeface="Arial"/>
              </a:defRPr>
            </a:pPr>
            <a:r>
              <a:t>Etapa 3: Template Unificado</a:t>
            </a:r>
          </a:p>
          <a:p>
            <a:pPr>
              <a:defRPr sz="950">
                <a:solidFill>
                  <a:srgbClr val="141414"/>
                </a:solidFill>
                <a:latin typeface="Arial"/>
              </a:defRPr>
            </a:pPr>
            <a:r>
              <a:t>Disponibilização do modelo institucional main.tex pré-configurado, validado em múltiplos compiladores.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251960"/>
            <a:ext cx="3520440" cy="2103120"/>
          </a:xfrm>
          <a:prstGeom prst="roundRect">
            <a:avLst/>
          </a:prstGeom>
          <a:solidFill>
            <a:srgbClr val="F5F7F8"/>
          </a:solidFill>
          <a:ln w="12700">
            <a:solidFill>
              <a:srgbClr val="C8CD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4361688"/>
            <a:ext cx="3227832" cy="1883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F3C1E"/>
                </a:solidFill>
                <a:latin typeface="Arial"/>
              </a:defRPr>
            </a:pPr>
            <a:r>
              <a:t>Ambientes de Teste</a:t>
            </a:r>
          </a:p>
          <a:p>
            <a:pPr>
              <a:defRPr sz="950">
                <a:solidFill>
                  <a:srgbClr val="141414"/>
                </a:solidFill>
                <a:latin typeface="Arial"/>
              </a:defRPr>
            </a:pPr>
            <a:r>
              <a:t>Testado e homologado no ecossistema TeX Live com os motores pdflatex e bibtex em Linux, Windows e macOS.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4255" y="4251960"/>
            <a:ext cx="3520440" cy="2103120"/>
          </a:xfrm>
          <a:prstGeom prst="roundRect">
            <a:avLst/>
          </a:prstGeom>
          <a:solidFill>
            <a:srgbClr val="F5F7F8"/>
          </a:solidFill>
          <a:ln w="12700">
            <a:solidFill>
              <a:srgbClr val="C8CD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59" y="4361688"/>
            <a:ext cx="3227832" cy="1883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F3C1E"/>
                </a:solidFill>
                <a:latin typeface="Arial"/>
              </a:defRPr>
            </a:pPr>
            <a:r>
              <a:t>Acessibilidade Universal</a:t>
            </a:r>
          </a:p>
          <a:p>
            <a:pPr>
              <a:defRPr sz="950">
                <a:solidFill>
                  <a:srgbClr val="141414"/>
                </a:solidFill>
                <a:latin typeface="Arial"/>
              </a:defRPr>
            </a:pPr>
            <a:r>
              <a:t>Compatibilidade total com compiladores em nuvem (Overleaf, TeXPage) e ambientes locais.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1" y="4251960"/>
            <a:ext cx="3520440" cy="2103120"/>
          </a:xfrm>
          <a:prstGeom prst="roundRect">
            <a:avLst/>
          </a:prstGeom>
          <a:solidFill>
            <a:srgbClr val="F5F7F8"/>
          </a:solidFill>
          <a:ln w="12700">
            <a:solidFill>
              <a:srgbClr val="C8CD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66175" y="4361688"/>
            <a:ext cx="3227832" cy="1883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F3C1E"/>
                </a:solidFill>
                <a:latin typeface="Arial"/>
              </a:defRPr>
            </a:pPr>
            <a:r>
              <a:t>Engenharia de Software</a:t>
            </a:r>
          </a:p>
          <a:p>
            <a:pPr>
              <a:defRPr sz="950">
                <a:solidFill>
                  <a:srgbClr val="141414"/>
                </a:solidFill>
                <a:latin typeface="Arial"/>
              </a:defRPr>
            </a:pPr>
            <a:r>
              <a:t>Desenvolvimento centrado na experiência do usuário (UX), eliminando atrito técnico na produção científica.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becalho-conepe20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79955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909284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F3C1E"/>
                </a:solidFill>
                <a:latin typeface="Arial"/>
              </a:defRPr>
            </a:pPr>
            <a:r>
              <a:t>Resultados: Variáveis Semânticas e Pré-Texto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4415" cy="13716"/>
          </a:xfrm>
          <a:prstGeom prst="rect">
            <a:avLst/>
          </a:prstGeom>
          <a:solidFill>
            <a:srgbClr val="1E823C"/>
          </a:solidFill>
          <a:ln>
            <a:solidFill>
              <a:srgbClr val="1E8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141414"/>
                </a:solidFill>
                <a:latin typeface="Arial"/>
                <a:hlinkClick r:id="rId3"/>
              </a:rPr>
              <a:t>de Andrade, P. H. R., et 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6473952"/>
            <a:ext cx="30476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1">
                <a:solidFill>
                  <a:srgbClr val="0F3C1E"/>
                </a:solidFill>
                <a:latin typeface="Arial"/>
                <a:hlinkClick r:id="rId4"/>
              </a:rPr>
              <a:t>Classe LaTeX — CONEPE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73952"/>
            <a:ext cx="3870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1">
                <a:solidFill>
                  <a:srgbClr val="5A5A5A"/>
                </a:solidFill>
                <a:latin typeface="Arial"/>
              </a:rPr>
              <a:t>12 / 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23160"/>
            <a:ext cx="534924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B72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551176"/>
            <a:ext cx="4983479" cy="3675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2B7283"/>
                </a:solidFill>
                <a:latin typeface="Arial"/>
              </a:defRPr>
            </a:pPr>
            <a:r>
              <a:t>Switches de Configuração (Flags Booleanas)</a:t>
            </a:r>
          </a:p>
          <a:p>
            <a:pPr>
              <a:spcAft>
                <a:spcPts val="400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 \frenteVerso: Alterna dinamicamente entre margens simples ou espelhadas;</a:t>
            </a:r>
          </a:p>
          <a:p>
            <a:pPr>
              <a:spcAft>
                <a:spcPts val="400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 \capaiff: Aplica o layout institucional padronizado do IFF;</a:t>
            </a:r>
          </a:p>
          <a:p>
            <a:pPr>
              <a:spcAft>
                <a:spcPts val="400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 \corlink: Controle de contraste de hiperlinks (azul para tela, preto para impressão);</a:t>
            </a:r>
          </a:p>
          <a:p>
            <a:pPr>
              <a:spcAft>
                <a:spcPts val="400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 \sumarioEscada: Ativa a formatação hierárquica automática da ABNT;</a:t>
            </a:r>
          </a:p>
          <a:p>
            <a:pPr>
              <a:spcAft>
                <a:spcPts val="400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 Metadados Simples no Preâmbulo:</a:t>
            </a:r>
          </a:p>
          <a:p>
            <a:pPr>
              <a:spcAft>
                <a:spcPts val="400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 \autor{...}, \titulo{...}, \orientador{...}, \local{...}, \data{...}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423160"/>
            <a:ext cx="5349240" cy="3931920"/>
          </a:xfrm>
          <a:prstGeom prst="roundRect">
            <a:avLst/>
          </a:prstGeom>
          <a:solidFill>
            <a:srgbClr val="F5F7F8"/>
          </a:solidFill>
          <a:ln w="15240">
            <a:solidFill>
              <a:srgbClr val="0F3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560320"/>
            <a:ext cx="4892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0F3C1E"/>
                </a:solidFill>
                <a:latin typeface="Arial"/>
              </a:defRPr>
            </a:pPr>
            <a:r>
              <a:t>Geração Autônoma com Comandos Únicos</a:t>
            </a:r>
          </a:p>
          <a:p>
            <a:pPr>
              <a:spcAft>
                <a:spcPts val="400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O autor não formata capas manualmente:</a:t>
            </a:r>
          </a:p>
          <a:p>
            <a:pPr>
              <a:spcAft>
                <a:spcPts val="1000"/>
              </a:spcAft>
              <a:defRPr sz="1100" b="1">
                <a:solidFill>
                  <a:srgbClr val="1E823C"/>
                </a:solidFill>
                <a:latin typeface="Courier New"/>
              </a:defRPr>
            </a:pPr>
            <a:r>
              <a:t>\capa</a:t>
            </a:r>
            <a:br/>
            <a:r>
              <a:t>\contracapa</a:t>
            </a:r>
            <a:br/>
            <a:r>
              <a:t>\folhadeaprovacao</a:t>
            </a:r>
          </a:p>
          <a:p>
            <a:pPr>
              <a:defRPr sz="1000">
                <a:solidFill>
                  <a:srgbClr val="141414"/>
                </a:solidFill>
                <a:latin typeface="Arial"/>
              </a:defRPr>
            </a:pPr>
            <a:r>
              <a:t>Garantias Automáticas do Compilador:</a:t>
            </a:r>
            <a:br/>
            <a:r>
              <a:t>• Espaçamentos milimétricos da NBR 14724;</a:t>
            </a:r>
            <a:br/>
            <a:r>
              <a:t>• Contagem oculta de páginas ativada automaticamente;</a:t>
            </a:r>
            <a:br/>
            <a:r>
              <a:t>• Zero intervenção manual em arquivos auxiliares.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becalho-conepe20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79955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909284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F3C1E"/>
                </a:solidFill>
                <a:latin typeface="Arial"/>
              </a:defRPr>
            </a:pPr>
            <a:r>
              <a:t>Resultados: Elementos Textuais (\inserirfigura)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4415" cy="13716"/>
          </a:xfrm>
          <a:prstGeom prst="rect">
            <a:avLst/>
          </a:prstGeom>
          <a:solidFill>
            <a:srgbClr val="1E823C"/>
          </a:solidFill>
          <a:ln>
            <a:solidFill>
              <a:srgbClr val="1E8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141414"/>
                </a:solidFill>
                <a:latin typeface="Arial"/>
                <a:hlinkClick r:id="rId3"/>
              </a:rPr>
              <a:t>de Andrade, P. H. R., et 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6473952"/>
            <a:ext cx="30476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1">
                <a:solidFill>
                  <a:srgbClr val="0F3C1E"/>
                </a:solidFill>
                <a:latin typeface="Arial"/>
                <a:hlinkClick r:id="rId4"/>
              </a:rPr>
              <a:t>Classe LaTeX — CONEPE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73952"/>
            <a:ext cx="3870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1">
                <a:solidFill>
                  <a:srgbClr val="5A5A5A"/>
                </a:solidFill>
                <a:latin typeface="Arial"/>
              </a:rPr>
              <a:t>13 / 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23160"/>
            <a:ext cx="5349240" cy="3931920"/>
          </a:xfrm>
          <a:prstGeom prst="roundRect">
            <a:avLst/>
          </a:prstGeom>
          <a:solidFill>
            <a:srgbClr val="FFEEEE"/>
          </a:solidFill>
          <a:ln w="15240">
            <a:solidFill>
              <a:srgbClr val="B4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560320"/>
            <a:ext cx="4892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B41E1E"/>
                </a:solidFill>
                <a:latin typeface="Arial"/>
              </a:defRPr>
            </a:pPr>
            <a:r>
              <a:t>LaTeX Convencional (8 a 10 linhas propensas a erro)</a:t>
            </a:r>
          </a:p>
          <a:p>
            <a:pPr>
              <a:spcAft>
                <a:spcPts val="800"/>
              </a:spcAft>
              <a:defRPr sz="950" b="1">
                <a:solidFill>
                  <a:srgbClr val="0F3C1E"/>
                </a:solidFill>
                <a:latin typeface="Courier New"/>
              </a:defRPr>
            </a:pPr>
            <a:r>
              <a:t>\begin{figure}[htbp]</a:t>
            </a:r>
            <a:br/>
            <a:r>
              <a:t>  \centering</a:t>
            </a:r>
            <a:br/>
            <a:r>
              <a:t>  \caption{Diagrama de Fases}</a:t>
            </a:r>
            <a:br/>
            <a:r>
              <a:t>  \includegraphics[width=0.7\textwidth]{fig.png}</a:t>
            </a:r>
            <a:br/>
            <a:r>
              <a:t>  \vspace{0.1cm}</a:t>
            </a:r>
            <a:br/>
            <a:r>
              <a:t>  {\footnotesize Fonte: Autor (2026).}</a:t>
            </a:r>
            <a:br/>
            <a:r>
              <a:t>  \label{fig:fases}</a:t>
            </a:r>
            <a:br/>
            <a:r>
              <a:t>\end{figure}</a:t>
            </a:r>
          </a:p>
          <a:p>
            <a:pPr>
              <a:defRPr sz="950">
                <a:solidFill>
                  <a:srgbClr val="141414"/>
                </a:solidFill>
                <a:latin typeface="Arial"/>
              </a:defRPr>
            </a:pPr>
            <a:r>
              <a:t>Riscos Crônicos no Modelo Convencional:</a:t>
            </a:r>
            <a:br/>
            <a:r>
              <a:t>• Esquecimento de centralização;</a:t>
            </a:r>
            <a:br/>
            <a:r>
              <a:t>• Inversão de legenda e fonte;</a:t>
            </a:r>
            <a:br/>
            <a:r>
              <a:t>• Rótulos desacoplados da Lista de Ilustrações.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423160"/>
            <a:ext cx="5349240" cy="3931920"/>
          </a:xfrm>
          <a:prstGeom prst="roundRect">
            <a:avLst/>
          </a:prstGeom>
          <a:solidFill>
            <a:srgbClr val="EEFCF0"/>
          </a:solidFill>
          <a:ln w="15240">
            <a:solidFill>
              <a:srgbClr val="1E8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560320"/>
            <a:ext cx="4892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0F3C1E"/>
                </a:solidFill>
                <a:latin typeface="Arial"/>
              </a:defRPr>
            </a:pPr>
            <a:r>
              <a:t>Com o macros.sty (1 linha expressiva e blindada)</a:t>
            </a:r>
          </a:p>
          <a:p>
            <a:pPr>
              <a:spcAft>
                <a:spcPts val="1000"/>
              </a:spcAft>
              <a:defRPr sz="1050" b="1">
                <a:solidFill>
                  <a:srgbClr val="1E823C"/>
                </a:solidFill>
                <a:latin typeface="Courier New"/>
              </a:defRPr>
            </a:pPr>
            <a:r>
              <a:t>\inserirfigura[0.7]{fig.png}</a:t>
            </a:r>
            <a:br/>
            <a:r>
              <a:t>  {Diagrama de Fases}</a:t>
            </a:r>
            <a:br/>
            <a:r>
              <a:t>  {Autor (2026)}{fig:fases}</a:t>
            </a:r>
          </a:p>
          <a:p>
            <a:pPr>
              <a:defRPr sz="950">
                <a:solidFill>
                  <a:srgbClr val="141414"/>
                </a:solidFill>
                <a:latin typeface="Arial"/>
              </a:defRPr>
            </a:pPr>
            <a:r>
              <a:t>Garantias Automáticas Blindadas:</a:t>
            </a:r>
            <a:br/>
            <a:r>
              <a:t>• Legenda posicionada rigorosamente no topo (norma ABNT);</a:t>
            </a:r>
            <a:br/>
            <a:r>
              <a:t>• Fonte tipográfica reduzida no rodapé da imagem;</a:t>
            </a:r>
            <a:br/>
            <a:r>
              <a:t>• Centralização horizontal padronizada;</a:t>
            </a:r>
            <a:br/>
            <a:r>
              <a:t>• Geração de rótulo e envio imediato à Lista de Ilustrações.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becalho-conepe20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79955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909284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F3C1E"/>
                </a:solidFill>
                <a:latin typeface="Arial"/>
              </a:defRPr>
            </a:pPr>
            <a:r>
              <a:t>Resultados: Automação IBGE e Blindagem do Pós-Texto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4415" cy="13716"/>
          </a:xfrm>
          <a:prstGeom prst="rect">
            <a:avLst/>
          </a:prstGeom>
          <a:solidFill>
            <a:srgbClr val="1E823C"/>
          </a:solidFill>
          <a:ln>
            <a:solidFill>
              <a:srgbClr val="1E8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141414"/>
                </a:solidFill>
                <a:latin typeface="Arial"/>
                <a:hlinkClick r:id="rId3"/>
              </a:rPr>
              <a:t>de Andrade, P. H. R., et 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6473952"/>
            <a:ext cx="30476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1">
                <a:solidFill>
                  <a:srgbClr val="0F3C1E"/>
                </a:solidFill>
                <a:latin typeface="Arial"/>
                <a:hlinkClick r:id="rId4"/>
              </a:rPr>
              <a:t>Classe LaTeX — CONEPE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73952"/>
            <a:ext cx="3870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1">
                <a:solidFill>
                  <a:srgbClr val="5A5A5A"/>
                </a:solidFill>
                <a:latin typeface="Arial"/>
              </a:rPr>
              <a:t>14 / 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23160"/>
            <a:ext cx="534924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8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551176"/>
            <a:ext cx="4983479" cy="3675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0F3C1E"/>
                </a:solidFill>
                <a:latin typeface="Arial"/>
              </a:defRPr>
            </a:pPr>
            <a:r>
              <a:t>Tabelas e Quadros Parametrizados</a:t>
            </a:r>
          </a:p>
          <a:p>
            <a:pPr>
              <a:spcAft>
                <a:spcPts val="400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 Macro \inserirtabela[escala]{arquivo}{legenda}{fonte}{label}:</a:t>
            </a:r>
          </a:p>
          <a:p>
            <a:pPr>
              <a:spcAft>
                <a:spcPts val="400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   • Constrói automaticamente as laterais abertas conforme padrão IBGE;</a:t>
            </a:r>
          </a:p>
          <a:p>
            <a:pPr>
              <a:spcAft>
                <a:spcPts val="400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   • Direciona o metadado para a Lista de Tabelas pré-textual.</a:t>
            </a:r>
          </a:p>
          <a:p>
            <a:pPr>
              <a:spcAft>
                <a:spcPts val="400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 Macro \inserirquadro[escala]{arquivo}{legenda}{fonte}{label}:</a:t>
            </a:r>
          </a:p>
          <a:p>
            <a:pPr>
              <a:spcAft>
                <a:spcPts val="400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   • Constrói moldura totalmente fechada nos quatro lados (norma ABNT);</a:t>
            </a:r>
          </a:p>
          <a:p>
            <a:pPr>
              <a:spcAft>
                <a:spcPts val="400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   • Alimenta a Lista de Quadros independente.</a:t>
            </a:r>
          </a:p>
          <a:p>
            <a:pPr>
              <a:spcAft>
                <a:spcPts val="400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 Benefício ao Autor:</a:t>
            </a:r>
          </a:p>
          <a:p>
            <a:pPr>
              <a:spcAft>
                <a:spcPts val="400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 O autor não precisa lembrar parâmetros de bordas: a macro aplica as regras.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423160"/>
            <a:ext cx="534924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B72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551176"/>
            <a:ext cx="4983479" cy="3675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2B7283"/>
                </a:solidFill>
                <a:latin typeface="Arial"/>
              </a:defRPr>
            </a:pPr>
            <a:r>
              <a:t>Robustez e Blindagem Pós-Textual</a:t>
            </a:r>
          </a:p>
          <a:p>
            <a:pPr>
              <a:spcAft>
                <a:spcPts val="400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 Apêndices e Anexos:</a:t>
            </a:r>
          </a:p>
          <a:p>
            <a:pPr>
              <a:spcAft>
                <a:spcPts val="400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 Transição dinâmica dos contadores numéricos para letras alfabéticas (1, 2 → A, B);</a:t>
            </a:r>
          </a:p>
          <a:p>
            <a:pPr>
              <a:spcAft>
                <a:spcPts val="400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 Preservação da Hierarquia do Sumário:</a:t>
            </a:r>
          </a:p>
          <a:p>
            <a:pPr>
              <a:spcAft>
                <a:spcPts val="400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 A transição alfabética não desconfigura os níveis hierárquicos do sumário geral;</a:t>
            </a:r>
          </a:p>
          <a:p>
            <a:pPr>
              <a:spcAft>
                <a:spcPts val="400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 Listagens Especiais:</a:t>
            </a:r>
          </a:p>
          <a:p>
            <a:pPr>
              <a:spcAft>
                <a:spcPts val="400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 Suporte transparente a erratas e listagens dinâmicas de equações;</a:t>
            </a:r>
          </a:p>
          <a:p>
            <a:pPr>
              <a:spcAft>
                <a:spcPts val="400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 Conformidade Bibliográfica:</a:t>
            </a:r>
          </a:p>
          <a:p>
            <a:pPr>
              <a:spcAft>
                <a:spcPts val="400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 Compatibilidade plena com a biblioteca abntex2cite.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becalho-conepe20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79955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909284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F3C1E"/>
                </a:solidFill>
                <a:latin typeface="Arial"/>
              </a:defRPr>
            </a:pPr>
            <a:r>
              <a:t>Conclusões e Desdobramentos Futuros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4415" cy="13716"/>
          </a:xfrm>
          <a:prstGeom prst="rect">
            <a:avLst/>
          </a:prstGeom>
          <a:solidFill>
            <a:srgbClr val="1E823C"/>
          </a:solidFill>
          <a:ln>
            <a:solidFill>
              <a:srgbClr val="1E8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141414"/>
                </a:solidFill>
                <a:latin typeface="Arial"/>
                <a:hlinkClick r:id="rId3"/>
              </a:rPr>
              <a:t>de Andrade, P. H. R., et 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6473952"/>
            <a:ext cx="30476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1">
                <a:solidFill>
                  <a:srgbClr val="0F3C1E"/>
                </a:solidFill>
                <a:latin typeface="Arial"/>
                <a:hlinkClick r:id="rId4"/>
              </a:rPr>
              <a:t>Classe LaTeX — CONEPE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73952"/>
            <a:ext cx="3870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1">
                <a:solidFill>
                  <a:srgbClr val="5A5A5A"/>
                </a:solidFill>
                <a:latin typeface="Arial"/>
              </a:rPr>
              <a:t>15 / 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23160"/>
            <a:ext cx="11094415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8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551176"/>
            <a:ext cx="10728655" cy="16184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0F3C1E"/>
                </a:solidFill>
                <a:latin typeface="Arial"/>
              </a:defRPr>
            </a:pPr>
            <a:r>
              <a:t>Conclusões da Pesquisa</a:t>
            </a:r>
          </a:p>
          <a:p>
            <a:pPr>
              <a:spcAft>
                <a:spcPts val="400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 A criação da classe ifftese.cls e do pacote macros.sty cumpriu com pleno êxito o objetivo de abstrair as normas ABNT e IBGE;</a:t>
            </a:r>
          </a:p>
          <a:p>
            <a:pPr>
              <a:spcAft>
                <a:spcPts val="400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 Constatou-se uma redução drástica no tempo operacional de formatação e eliminação de inconsistências formais entre usuários;</a:t>
            </a:r>
          </a:p>
          <a:p>
            <a:pPr>
              <a:spcAft>
                <a:spcPts val="400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 A solução democratiza o rigor tipográfico do LaTeX em toda a comunidade do Instituto Federal Fluminense.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434840"/>
            <a:ext cx="11094415" cy="1920240"/>
          </a:xfrm>
          <a:prstGeom prst="roundRect">
            <a:avLst/>
          </a:prstGeom>
          <a:solidFill>
            <a:srgbClr val="F5F7F8"/>
          </a:solidFill>
          <a:ln w="12700">
            <a:solidFill>
              <a:srgbClr val="2B72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562855"/>
            <a:ext cx="10728655" cy="16642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2B7283"/>
                </a:solidFill>
                <a:latin typeface="Arial"/>
              </a:defRPr>
            </a:pPr>
            <a:r>
              <a:t>Trabalho em Andamento: Interface Web por Formulários</a:t>
            </a:r>
          </a:p>
          <a:p>
            <a:pPr>
              <a:spcAft>
                <a:spcPts val="400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 Desenvolvimento de uma plataforma online institucional intuitiva dedicada exclusivamente à ifftese.cls;</a:t>
            </a:r>
          </a:p>
          <a:p>
            <a:pPr>
              <a:spcAft>
                <a:spcPts val="400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 O autor preenche apenas formulários web amigáveis com os metadados do trabalho e o texto das seções científicas;</a:t>
            </a:r>
          </a:p>
          <a:p>
            <a:pPr>
              <a:spcAft>
                <a:spcPts val="400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 O servidor em nuvem compila a arte-final em PDF com perfeição nos bastidores, eliminando qualquer contato direto com código TeX.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alactea-blu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615287" y="594360"/>
            <a:ext cx="8961120" cy="5669280"/>
          </a:xfrm>
          <a:prstGeom prst="roundRect">
            <a:avLst/>
          </a:prstGeom>
          <a:solidFill>
            <a:srgbClr val="161A18"/>
          </a:solidFill>
          <a:ln w="19050">
            <a:solidFill>
              <a:srgbClr val="1E8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81047" y="822960"/>
            <a:ext cx="8229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2600" b="1">
                <a:solidFill>
                  <a:srgbClr val="1E823C"/>
                </a:solidFill>
                <a:latin typeface="Arial"/>
              </a:rPr>
              <a:t>Muito Obrigado!</a:t>
            </a:r>
            <a:r>
              <a:rPr sz="1800" b="1">
                <a:solidFill>
                  <a:srgbClr val="FFFFFF"/>
                </a:solidFill>
                <a:latin typeface="Arial"/>
              </a:rPr>
              <a:t>   —   Perguntas &amp; Discussão</a:t>
            </a:r>
          </a:p>
          <a:p>
            <a:pPr algn="ctr">
              <a:spcAft>
                <a:spcPts val="400"/>
              </a:spcAft>
            </a:pPr>
            <a:r>
              <a:rPr sz="1100">
                <a:solidFill>
                  <a:srgbClr val="DCDCDC"/>
                </a:solidFill>
                <a:latin typeface="Arial"/>
              </a:rPr>
              <a:t>CONEPE 2026 — XIII Congresso de Ensino, Pesquisa e Extensão</a:t>
            </a:r>
          </a:p>
          <a:p>
            <a:pPr algn="ctr"/>
            <a:r>
              <a:rPr sz="1100" b="1">
                <a:solidFill>
                  <a:srgbClr val="C8C8C8"/>
                </a:solidFill>
                <a:latin typeface="Arial"/>
              </a:rPr>
              <a:t>Contatos: </a:t>
            </a:r>
            <a:r>
              <a:rPr sz="1100" b="1">
                <a:solidFill>
                  <a:srgbClr val="1E823C"/>
                </a:solidFill>
                <a:latin typeface="Arial"/>
                <a:hlinkClick r:id="rId3"/>
              </a:rPr>
              <a:t>pedroiff0@gmail.com</a:t>
            </a:r>
            <a:r>
              <a:rPr sz="1100">
                <a:solidFill>
                  <a:srgbClr val="A0A0A0"/>
                </a:solidFill>
                <a:latin typeface="Arial"/>
              </a:rPr>
              <a:t>   |   </a:t>
            </a:r>
            <a:r>
              <a:rPr sz="1100" b="1">
                <a:solidFill>
                  <a:srgbClr val="1E823C"/>
                </a:solidFill>
                <a:latin typeface="Arial"/>
                <a:hlinkClick r:id="rId4"/>
              </a:rPr>
              <a:t>ana.soja@iff.edu.br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78527" y="2240280"/>
            <a:ext cx="283464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qr-code-phrandra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1407" y="2377440"/>
            <a:ext cx="2468880" cy="2468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981047" y="512064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  <a:hlinkClick r:id="rId6"/>
              </a:rPr>
              <a:t>https://phrandrade.com</a:t>
            </a:r>
          </a:p>
          <a:p>
            <a:pPr algn="ctr"/>
            <a:r>
              <a:rPr sz="950">
                <a:solidFill>
                  <a:srgbClr val="BEBEBE"/>
                </a:solidFill>
                <a:latin typeface="Arial"/>
              </a:rPr>
              <a:t>Apoio Institucional: CNPq (Projeto 129985/2025-2), IFF Bom Jesus, PUC-Chile e FAPERJ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a-lacte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