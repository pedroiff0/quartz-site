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7-engenharia-da-classe-ifftese-cls" TargetMode="External"/><Relationship Id="rId4" Type="http://schemas.openxmlformats.org/officeDocument/2006/relationships/hyperlink" Target="mailto:pedroiff0@gmail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7-engenharia-da-classe-ifftese-cls" TargetMode="External"/><Relationship Id="rId4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7-engenharia-da-classe-ifftese-cls" TargetMode="External"/><Relationship Id="rId4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7-engenharia-da-classe-ifftese-cls" TargetMode="External"/><Relationship Id="rId4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7-engenharia-da-classe-ifftese-cls" TargetMode="External"/><Relationship Id="rId4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7-engenharia-da-classe-ifftese-cls" TargetMode="External"/><Relationship Id="rId4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7-engenharia-da-classe-ifftese-cls" TargetMode="External"/><Relationship Id="rId4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7-engenharia-da-classe-ifftese-cls" TargetMode="External"/><Relationship Id="rId4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7-engenharia-da-classe-ifftese-cls" TargetMode="External"/><Relationship Id="rId4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7-engenharia-da-classe-ifftese-cls" TargetMode="External"/><Relationship Id="rId4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png"/><Relationship Id="rId4" Type="http://schemas.openxmlformats.org/officeDocument/2006/relationships/hyperlink" Target="https://www.phrandrade.com/pt-br/resource/latex/aula-17-engenharia-da-classe-ifftese-cls" TargetMode="External"/><Relationship Id="rId5" Type="http://schemas.openxmlformats.org/officeDocument/2006/relationships/hyperlink" Target="mailto:pedroiff0@gmail.com" TargetMode="External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554" y="640080"/>
            <a:ext cx="3986891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011680"/>
            <a:ext cx="11277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1277599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DCB437"/>
                </a:solidFill>
              </a:rPr>
              <a:t>Aula 17: Engenharia de Classes .cls - Anatomia da ifftese e abntex2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127759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1127759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B4B4B4"/>
                </a:solidFill>
              </a:rPr>
              <a:t>Instituto Federal Fluminense --- Campus Bom Jesus do Itabapoana
Semestre Letivo 2026 | Bom Jesus do Itabapoana - RJ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Sumário da Aula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17: Engenharia de Classes .cls - Anatomia da ifftese e abntex2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2A0A0A0-1111-2222-3333-444444444444}" type="slidenum">
              <a:rPr lang="pt-BR" b="1" sz="1400">
                <a:solidFill>
                  <a:srgbClr val="DCB437"/>
                </a:solidFill>
              </a:rPr>
              <p:t>2</p:t>
            </p:fld>
            <a:r>
              <a:rPr sz="1400" b="1">
                <a:solidFill>
                  <a:srgbClr val="DCB437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1. Do Artigo para a Tese: O Papel das Classes `.cls`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2. Anatomia Interna de um `.cls` e o Comando `\LoadClass`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3. Elementos Pré-textuais NBR 14724 e NBR 10520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4. Margens e Geometria da Página (NBR 14724)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5. Estudo de Caso (Use Case): A Folha de Aprovação Customizada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6. Diagrama de Herança Orientada a Objetos em LaTeX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1. Do Artigo para a Tese: O Papel das Classes `.cl...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17: Engenharia de Classes .cls - Anatomia da ifftese e abntex2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3A0A0A0-1111-2222-3333-444444444444}" type="slidenum">
              <a:rPr lang="pt-BR" b="1" sz="1400">
                <a:solidFill>
                  <a:srgbClr val="DCB437"/>
                </a:solidFill>
              </a:rPr>
              <p:t>3</p:t>
            </p:fld>
            <a:r>
              <a:rPr sz="1400" b="1">
                <a:solidFill>
                  <a:srgbClr val="DCB437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No LaTeX, a formatação global de um documento, como margens, fontes base, espaçamentos capitulares e regras de hifenização, é definida pela Classe de Documento, arquivo com extensão `.cls` (Class File), invocado logo na primeira linha do documento via `\documentclass{...}`.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 norma ABNT NBR 14724 especifica regras rígidas para a apresentação de trabalhos acadêmicos no Brasil: margem superior/esquerda de 3cm, inferior/direita de 2cm, recuo de parágrafo em 1.25cm a 1.5cm, paginação no canto superior direito, etc.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 classe `abntex2` consolidou essas regras ao herdar as poderosas engrenagens da classe `memoir`. Por sua vez, a classe `ifftese.cls` (foco do nosso estudo) é construída por cima do `abntex2`, inserindo elementos institucionais, como Capa e Folha de Rosto formatadas estritamente para os padrões do Instituto Federal Fluminense.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2. Anatomia Interna de um `.cls` e o Comando `\Loa...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17: Engenharia de Classes .cls - Anatomia da ifftese e abntex2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4A0A0A0-1111-2222-3333-444444444444}" type="slidenum">
              <a:rPr lang="pt-BR" b="1" sz="1400">
                <a:solidFill>
                  <a:srgbClr val="DCB437"/>
                </a:solidFill>
              </a:rPr>
              <p:t>4</p:t>
            </p:fld>
            <a:r>
              <a:rPr sz="1400" b="1">
                <a:solidFill>
                  <a:srgbClr val="DCB437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Diferente de um arquivo `.sty` (que foca em macros e ferramentas, podendo ser chamado várias vezes num mesmo documento), o arquivo `.cls` estabelece o layout fundamental. Um documento LaTeX pode ter múltiplos pacotes `\usepackage`, mas apenas uma `\documentclass`.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Vejamos a inicialização do arquivo `ifftese.cls`: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% Arquivo: ifftese.cls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\NeedsTeXFormat{LaTeX2e}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\ProvidesClass{ifftese}[2026/08/04 v2.1 Classe de Teses do IFF]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3. Elementos Pré-textuais NBR 14724 e NBR 10520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17: Engenharia de Classes .cls - Anatomia da ifftese e abntex2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5A0A0A0-1111-2222-3333-444444444444}" type="slidenum">
              <a:rPr lang="pt-BR" b="1" sz="1400">
                <a:solidFill>
                  <a:srgbClr val="DCB437"/>
                </a:solidFill>
              </a:rPr>
              <p:t>5</p:t>
            </p:fld>
            <a:r>
              <a:rPr sz="1400" b="1">
                <a:solidFill>
                  <a:srgbClr val="DCB437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 ABNT estipula os Elementos Pré-textuais (Capa, Folha de Rosto, Ficha Catalográfica, Folha de Aprovação, Dedicatória, Agradecimentos, Epígrafe, Resumo, Abstract).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Na classe `ifftese.cls`, nós "sobrecrevemos" (override) o comando `\imprimircapa` do abntex2 para que ele insira os logos do IFF e formate a folha conforme nosso padrão: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% Sobrescrevendo a Capa da ABNT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\renewcommand{\imprimircapa}{%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\begin{capa}%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4. Margens e Geometria da Página (NBR 14724)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17: Engenharia de Classes .cls - Anatomia da ifftese e abntex2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6A0A0A0-1111-2222-3333-444444444444}" type="slidenum">
              <a:rPr lang="pt-BR" b="1" sz="1400">
                <a:solidFill>
                  <a:srgbClr val="DCB437"/>
                </a:solidFill>
              </a:rPr>
              <p:t>6</p:t>
            </p:fld>
            <a:r>
              <a:rPr sz="1400" b="1">
                <a:solidFill>
                  <a:srgbClr val="DCB437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O abntex2 já regula as margens usando a suíte `memoir`. No entanto, se quisermos forçar ajustes rigorosos no `ifftese.cls`, garantindo que não haja desvios por parte dos alunos: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\RequirePackage[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left=3cm,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top=3cm,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right=2cm,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5. Estudo de Caso (Use Case): A Folha de Aprovação...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17: Engenharia de Classes .cls - Anatomia da ifftese e abntex2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7A0A0A0-1111-2222-3333-444444444444}" type="slidenum">
              <a:rPr lang="pt-BR" b="1" sz="1400">
                <a:solidFill>
                  <a:srgbClr val="DCB437"/>
                </a:solidFill>
              </a:rPr>
              <p:t>7</p:t>
            </p:fld>
            <a:r>
              <a:rPr sz="1400" b="1">
                <a:solidFill>
                  <a:srgbClr val="DCB437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 Folha de Aprovação requer assinaturas da banca. Historicamente, os alunos sofrem com tabelas LaTeX. Para mitigar isso, o `ifftese.cls` propõe um ambiente dedicado: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Código na Classe (`ifftese.cls`):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\newenvironment{folhaaprovacaoiff}{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\begin{folhadeaprovacao}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\begin{center}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6. Diagrama de Herança Orientada a Objetos em LaTe...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17: Engenharia de Classes .cls - Anatomia da ifftese e abntex2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8A0A0A0-1111-2222-3333-444444444444}" type="slidenum">
              <a:rPr lang="pt-BR" b="1" sz="1400">
                <a:solidFill>
                  <a:srgbClr val="DCB437"/>
                </a:solidFill>
              </a:rPr>
              <p:t>8</p:t>
            </p:fld>
            <a:r>
              <a:rPr sz="1400" b="1">
                <a:solidFill>
                  <a:srgbClr val="DCB437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 arquitetura de classes pode ser vista como uma herança clássica: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classDiagram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article &lt;|-- report : Herda e Expand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report &lt;|-- book : Adiciona front/back matter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book &lt;|-- memoir : Refatoração Profunda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7. Exercício Prático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17: Engenharia de Classes .cls - Anatomia da ifftese e abntex2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9A0A0A0-1111-2222-3333-444444444444}" type="slidenum">
              <a:rPr lang="pt-BR" b="1" sz="1400">
                <a:solidFill>
                  <a:srgbClr val="DCB437"/>
                </a:solidFill>
              </a:rPr>
              <p:t>9</p:t>
            </p:fld>
            <a:r>
              <a:rPr sz="1400" b="1">
                <a:solidFill>
                  <a:srgbClr val="DCB437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1. Crie um arquivo `minhatese.cls`.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2. Herde a classe `abntex2` passando as opções de folha A4 e tamanho 12pt (via `\LoadClass`).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3. Sobrescreva o comando `\imprimirfolhaderosto` do `abntex2`.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4. Faça com que o título da tese apareça em azul (`\textcolor{blue}`).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5. Compile um arquivo `.tex` chamando `\documentclass{minhatese}` e rode `\imprimirfolhaderosto` no escopo do documento.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8. Referências Bibliográficas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17: Engenharia de Classes .cls - Anatomia da ifftese e abntex2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10A0A0A0-1111-2222-3333-444444444444}" type="slidenum">
              <a:rPr lang="pt-BR" b="1" sz="1400">
                <a:solidFill>
                  <a:srgbClr val="DCB437"/>
                </a:solidFill>
              </a:rPr>
              <p:t>10</p:t>
            </p:fld>
            <a:r>
              <a:rPr sz="1400" b="1">
                <a:solidFill>
                  <a:srgbClr val="DCB437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ASSOCIAÇÃO BRASILEIRA DE NORMAS TÉCNICAS. NBR 14724: Informação e documentação: Trabalhos acadêmicos: Apresentação. Rio de Janeiro: ABNT, 2011.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ASSOCIAÇÃO BRASILEIRA DE NORMAS TÉCNICAS. NBR 10520: Informação e documentação: Citações em documentos: Apresentação. Rio de Janeiro: ABNT, 2023.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SOUZA, L. F.; ARAÚJO, L. C. O Pacote abntex2: Documentação Oficial. Brasil, 2018.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WILSON, Peter. The Memoir Class for Configurable Typesetting. The LaTeX Project, 2004.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ite_estrelada_soft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logo_iff_cro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4"/>
              </a:rPr>
              <a:t>[DISCIPLINA]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5"/>
              </a:rPr>
              <a:t>Prof. Pedro Henrique Rocha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17: Engenharia de Classes .cls - Anatomia da ifftese e abntex2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11A0A0A0-1111-2222-3333-444444444444}" type="slidenum">
              <a:rPr lang="pt-BR" b="1" sz="1400">
                <a:solidFill>
                  <a:srgbClr val="DCB437"/>
                </a:solidFill>
              </a:rPr>
              <p:t>11</p:t>
            </p:fld>
            <a:r>
              <a:rPr sz="1400" b="1">
                <a:solidFill>
                  <a:srgbClr val="DCB437"/>
                </a:solidFill>
              </a:rPr>
              <a:t> /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DCB437"/>
                </a:solidFill>
              </a:defRPr>
            </a:pPr>
            <a:r>
              <a:t>Obrigado!</a:t>
            </a:r>
          </a:p>
          <a:p>
            <a:br/>
            <a:pPr>
              <a:defRPr sz="3200" b="1">
                <a:solidFill>
                  <a:srgbClr val="F0F0F0"/>
                </a:solidFill>
              </a:defRPr>
            </a:pPr>
            <a:r>
              <a:t>Perguntas?</a:t>
            </a:r>
          </a:p>
          <a:p>
            <a:r>
              <a:rPr sz="2200">
                <a:solidFill>
                  <a:srgbClr val="DCB437"/>
                </a:solidFill>
                <a:hlinkClick r:id="rId5"/>
              </a:rPr>
              <a:t>
Contato: pedroiff0@gmail.com</a:t>
            </a:r>
          </a:p>
        </p:txBody>
      </p:sp>
      <p:pic>
        <p:nvPicPr>
          <p:cNvPr id="11" name="Picture 10" descr="qrcode_aula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868680"/>
            <a:ext cx="4937760" cy="4937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0" y="5897880"/>
            <a:ext cx="6035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DCB437"/>
                </a:solidFill>
                <a:hlinkClick r:id="rId4"/>
              </a:rPr>
              <a:t>https://www.phrandrade.com/pt-br/resource/latex/aula-17-engenharia-da-classe-ifftese-cls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DCB437"/>
      </a:dk2>
      <a:lt2>
        <a:srgbClr val="EEECE1"/>
      </a:lt2>
      <a:accent1>
        <a:srgbClr val="DCB437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CB437"/>
      </a:hlink>
      <a:folHlink>
        <a:srgbClr val="DCB43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