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  <Override PartName="/ppt/media/image2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793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n-lt"/>
        <a:ea typeface="+mn-ea"/>
        <a:cs typeface="+mn-cs"/>
        <a:sym typeface="Calibri"/>
      </a:defRPr>
    </a:lvl1pPr>
    <a:lvl2pPr indent="228600" defTabSz="457200" latinLnBrk="0">
      <a:defRPr sz="1200">
        <a:latin typeface="+mn-lt"/>
        <a:ea typeface="+mn-ea"/>
        <a:cs typeface="+mn-cs"/>
        <a:sym typeface="Calibri"/>
      </a:defRPr>
    </a:lvl2pPr>
    <a:lvl3pPr indent="457200" defTabSz="457200" latinLnBrk="0">
      <a:defRPr sz="1200">
        <a:latin typeface="+mn-lt"/>
        <a:ea typeface="+mn-ea"/>
        <a:cs typeface="+mn-cs"/>
        <a:sym typeface="Calibri"/>
      </a:defRPr>
    </a:lvl3pPr>
    <a:lvl4pPr indent="685800" defTabSz="457200" latinLnBrk="0">
      <a:defRPr sz="1200">
        <a:latin typeface="+mn-lt"/>
        <a:ea typeface="+mn-ea"/>
        <a:cs typeface="+mn-cs"/>
        <a:sym typeface="Calibri"/>
      </a:defRPr>
    </a:lvl4pPr>
    <a:lvl5pPr indent="914400" defTabSz="457200" latinLnBrk="0">
      <a:defRPr sz="1200">
        <a:latin typeface="+mn-lt"/>
        <a:ea typeface="+mn-ea"/>
        <a:cs typeface="+mn-cs"/>
        <a:sym typeface="Calibri"/>
      </a:defRPr>
    </a:lvl5pPr>
    <a:lvl6pPr indent="1143000" defTabSz="457200" latinLnBrk="0">
      <a:defRPr sz="1200">
        <a:latin typeface="+mn-lt"/>
        <a:ea typeface="+mn-ea"/>
        <a:cs typeface="+mn-cs"/>
        <a:sym typeface="Calibri"/>
      </a:defRPr>
    </a:lvl6pPr>
    <a:lvl7pPr indent="1371600" defTabSz="457200" latinLnBrk="0">
      <a:defRPr sz="1200">
        <a:latin typeface="+mn-lt"/>
        <a:ea typeface="+mn-ea"/>
        <a:cs typeface="+mn-cs"/>
        <a:sym typeface="Calibri"/>
      </a:defRPr>
    </a:lvl7pPr>
    <a:lvl8pPr indent="1600200" defTabSz="457200" latinLnBrk="0">
      <a:defRPr sz="1200">
        <a:latin typeface="+mn-lt"/>
        <a:ea typeface="+mn-ea"/>
        <a:cs typeface="+mn-cs"/>
        <a:sym typeface="Calibri"/>
      </a:defRPr>
    </a:lvl8pPr>
    <a:lvl9pPr indent="1828800" defTabSz="4572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45720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91440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137160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182880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b="1" sz="24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sz="half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608965" y="92074"/>
            <a:ext cx="1096137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08965" y="1600200"/>
            <a:ext cx="1096137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mailto:pedroiff0@gmail.com" TargetMode="Externa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mailto:pedroiff0@gmail.com" TargetMode="Externa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mailto:pedroiff0@gmail.com" TargetMode="Externa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mailto:pedroiff0@gmail.com" TargetMode="Externa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mailto:pedroiff0@gmail.com" TargetMode="Externa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mailto:pedroiff0@gmail.com" TargetMode="Externa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mailto:pedroiff0@gmail.com" TargetMode="Externa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mailto:pedroiff0@gmail.com" TargetMode="Externa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mailto:pedroiff0@gmail.com" TargetMode="Externa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mailto:pedroiff0@gmail.com" TargetMode="Externa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mailto:pedroiff0@gmail.com" TargetMode="Externa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1.png"/><Relationship Id="rId4" Type="http://schemas.openxmlformats.org/officeDocument/2006/relationships/hyperlink" Target="mailto:pedroiff0@gmail.com" TargetMode="Externa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e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1696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95" name="TextBox 2"/>
          <p:cNvSpPr txBox="1"/>
          <p:nvPr/>
        </p:nvSpPr>
        <p:spPr>
          <a:xfrm>
            <a:off x="777239" y="457200"/>
            <a:ext cx="1661677" cy="3133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D4AF3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[ LOGO MWBR ]</a:t>
            </a:r>
          </a:p>
        </p:txBody>
      </p:sp>
      <p:sp>
        <p:nvSpPr>
          <p:cNvPr id="96" name="TextBox 3"/>
          <p:cNvSpPr txBox="1"/>
          <p:nvPr/>
        </p:nvSpPr>
        <p:spPr>
          <a:xfrm>
            <a:off x="777239" y="1645920"/>
            <a:ext cx="10637216" cy="1023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3400">
                <a:solidFill>
                  <a:srgbClr val="D4AF3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Reconciliação Química no Disco Galáctico</a:t>
            </a:r>
          </a:p>
          <a:p>
            <a:pPr>
              <a:spcBef>
                <a:spcPts val="1400"/>
              </a:spcBef>
              <a:defRPr>
                <a:solidFill>
                  <a:srgbClr val="E0E6ED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Abundâncias Estelares de Anãs M e Estrelas FGK face à Evolução Química Galáctica (GCE)</a:t>
            </a:r>
          </a:p>
        </p:txBody>
      </p:sp>
      <p:sp>
        <p:nvSpPr>
          <p:cNvPr id="97" name="TextBox 4"/>
          <p:cNvSpPr txBox="1"/>
          <p:nvPr/>
        </p:nvSpPr>
        <p:spPr>
          <a:xfrm>
            <a:off x="777239" y="4389120"/>
            <a:ext cx="10637216" cy="10008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1600">
                <a:solidFill>
                  <a:srgbClr val="E0E6ED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Apresentador: Pedro H. R. de Andrade</a:t>
            </a:r>
          </a:p>
          <a:p>
            <a:pPr>
              <a:defRPr sz="1400">
                <a:solidFill>
                  <a:srgbClr val="D4AF3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Contato: pedroiff0@gmail.com</a:t>
            </a:r>
          </a:p>
          <a:p>
            <a:pPr>
              <a:spcBef>
                <a:spcPts val="1000"/>
              </a:spcBef>
              <a:defRPr sz="1200">
                <a:solidFill>
                  <a:srgbClr val="E0E6ED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Artigo: Reconciliation of M Dwarf and FGK Stellar Abundances with Galactic Chemical Evolution (ApJ, 2026)</a:t>
            </a:r>
            <a:br/>
            <a:r>
              <a:t>Autores: T. C. L. Trueman, H. S. Wang, S. J. Mojzsis, D. Turrini, K. Heng, M. Pignatari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 1"/>
          <p:cNvSpPr/>
          <p:nvPr/>
        </p:nvSpPr>
        <p:spPr>
          <a:xfrm>
            <a:off x="-1" y="592581"/>
            <a:ext cx="12191697" cy="12701"/>
          </a:xfrm>
          <a:prstGeom prst="rect">
            <a:avLst/>
          </a:prstGeom>
          <a:solidFill>
            <a:srgbClr val="50505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0" name="TextBox 2"/>
          <p:cNvSpPr txBox="1"/>
          <p:nvPr/>
        </p:nvSpPr>
        <p:spPr>
          <a:xfrm>
            <a:off x="731519" y="182879"/>
            <a:ext cx="1472891" cy="2096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b="1" sz="1500">
                <a:solidFill>
                  <a:srgbClr val="D4AF3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[ LOGO MWBR ]</a:t>
            </a:r>
          </a:p>
        </p:txBody>
      </p:sp>
      <p:sp>
        <p:nvSpPr>
          <p:cNvPr id="101" name="TextBox 3"/>
          <p:cNvSpPr txBox="1"/>
          <p:nvPr/>
        </p:nvSpPr>
        <p:spPr>
          <a:xfrm>
            <a:off x="9954133" y="182879"/>
            <a:ext cx="1506042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r">
              <a:defRPr sz="1200">
                <a:solidFill>
                  <a:srgbClr val="E0E6E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Milky Way Brazil 2026</a:t>
            </a:r>
          </a:p>
        </p:txBody>
      </p:sp>
      <p:sp>
        <p:nvSpPr>
          <p:cNvPr id="102" name="TextBox 4"/>
          <p:cNvSpPr txBox="1"/>
          <p:nvPr/>
        </p:nvSpPr>
        <p:spPr>
          <a:xfrm>
            <a:off x="731519" y="777240"/>
            <a:ext cx="10728657" cy="3947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800">
                <a:solidFill>
                  <a:srgbClr val="D4AF3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Sumário da Apresentação</a:t>
            </a:r>
          </a:p>
        </p:txBody>
      </p:sp>
      <p:sp>
        <p:nvSpPr>
          <p:cNvPr id="103" name="TextBox 5"/>
          <p:cNvSpPr txBox="1"/>
          <p:nvPr/>
        </p:nvSpPr>
        <p:spPr>
          <a:xfrm>
            <a:off x="731519" y="1737360"/>
            <a:ext cx="10728657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D4AF3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1. Introdução e Contexto: </a:t>
            </a:r>
            <a:r>
              <a:rPr b="0">
                <a:solidFill>
                  <a:srgbClr val="E0E6ED"/>
                </a:solidFill>
              </a:rPr>
              <a:t>O conflito histórico de abundâncias químicas no disco local.</a:t>
            </a:r>
          </a:p>
        </p:txBody>
      </p:sp>
      <p:sp>
        <p:nvSpPr>
          <p:cNvPr id="104" name="TextBox 6"/>
          <p:cNvSpPr txBox="1"/>
          <p:nvPr/>
        </p:nvSpPr>
        <p:spPr>
          <a:xfrm>
            <a:off x="731519" y="2423160"/>
            <a:ext cx="10728657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D4AF3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2. Desafios Espectroscópicos: </a:t>
            </a:r>
            <a:r>
              <a:rPr b="0">
                <a:solidFill>
                  <a:srgbClr val="E0E6ED"/>
                </a:solidFill>
              </a:rPr>
              <a:t>A complexidade das atmosferas frias e bandas de TiO.</a:t>
            </a:r>
          </a:p>
        </p:txBody>
      </p:sp>
      <p:sp>
        <p:nvSpPr>
          <p:cNvPr id="105" name="TextBox 7"/>
          <p:cNvSpPr txBox="1"/>
          <p:nvPr/>
        </p:nvSpPr>
        <p:spPr>
          <a:xfrm>
            <a:off x="731519" y="3108960"/>
            <a:ext cx="10728657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D4AF3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3. Metodologia Observacional e Teórica: </a:t>
            </a:r>
            <a:r>
              <a:rPr b="0">
                <a:solidFill>
                  <a:srgbClr val="E0E6ED"/>
                </a:solidFill>
              </a:rPr>
              <a:t>Estudos benchmark 3D NLTE e modelos GCE (OMEGA+).</a:t>
            </a:r>
          </a:p>
        </p:txBody>
      </p:sp>
      <p:sp>
        <p:nvSpPr>
          <p:cNvPr id="106" name="TextBox 8"/>
          <p:cNvSpPr txBox="1"/>
          <p:nvPr/>
        </p:nvSpPr>
        <p:spPr>
          <a:xfrm>
            <a:off x="731519" y="3794759"/>
            <a:ext cx="10728657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D4AF3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4. Reconciliação Química: </a:t>
            </a:r>
            <a:r>
              <a:rPr b="0">
                <a:solidFill>
                  <a:srgbClr val="E0E6ED"/>
                </a:solidFill>
              </a:rPr>
              <a:t>Resultados de C, O, Na e Ni e o enigma persistente do Titânio.</a:t>
            </a:r>
          </a:p>
        </p:txBody>
      </p:sp>
      <p:sp>
        <p:nvSpPr>
          <p:cNvPr id="107" name="TextBox 9"/>
          <p:cNvSpPr txBox="1"/>
          <p:nvPr/>
        </p:nvSpPr>
        <p:spPr>
          <a:xfrm>
            <a:off x="731519" y="4480559"/>
            <a:ext cx="10728657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D4AF3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5. Conexão Exoplanetária e Conclusões: </a:t>
            </a:r>
            <a:r>
              <a:rPr b="0">
                <a:solidFill>
                  <a:srgbClr val="E0E6ED"/>
                </a:solidFill>
              </a:rPr>
              <a:t>Impacto na geofísica de planetas rochosos e a missão Ariel.</a:t>
            </a:r>
          </a:p>
        </p:txBody>
      </p:sp>
      <p:sp>
        <p:nvSpPr>
          <p:cNvPr id="108" name="TextBox 10"/>
          <p:cNvSpPr txBox="1"/>
          <p:nvPr/>
        </p:nvSpPr>
        <p:spPr>
          <a:xfrm>
            <a:off x="731519" y="5166359"/>
            <a:ext cx="10728657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D4AF3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6. Referências Bibliográficas: </a:t>
            </a:r>
            <a:r>
              <a:rPr b="0">
                <a:solidFill>
                  <a:srgbClr val="E0E6ED"/>
                </a:solidFill>
              </a:rPr>
              <a:t>Literatura fundamental utilizada no trabalho.</a:t>
            </a:r>
          </a:p>
        </p:txBody>
      </p:sp>
      <p:sp>
        <p:nvSpPr>
          <p:cNvPr id="109" name="Rectangle 11"/>
          <p:cNvSpPr/>
          <p:nvPr/>
        </p:nvSpPr>
        <p:spPr>
          <a:xfrm>
            <a:off x="-1" y="6581902"/>
            <a:ext cx="12191697" cy="12701"/>
          </a:xfrm>
          <a:prstGeom prst="rect">
            <a:avLst/>
          </a:prstGeom>
          <a:solidFill>
            <a:srgbClr val="50505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0" name="TextBox 12"/>
          <p:cNvSpPr txBox="1"/>
          <p:nvPr/>
        </p:nvSpPr>
        <p:spPr>
          <a:xfrm>
            <a:off x="731519" y="6620256"/>
            <a:ext cx="122630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900" u="sng">
                <a:solidFill>
                  <a:srgbClr val="D4AF37"/>
                </a:solidFill>
                <a:uFill>
                  <a:solidFill>
                    <a:srgbClr val="D4AF37"/>
                  </a:solidFill>
                </a:uFill>
                <a:latin typeface="Arial"/>
                <a:ea typeface="Arial"/>
                <a:cs typeface="Arial"/>
                <a:sym typeface="Arial"/>
                <a:hlinkClick r:id="rId2" invalidUrl="" action="" tgtFrame="" tooltip="" history="1" highlightClick="0" endSnd="0"/>
              </a:defRPr>
            </a:lvl1pPr>
          </a:lstStyle>
          <a:p>
            <a:pPr>
              <a:defRPr u="none">
                <a:solidFill>
                  <a:srgbClr val="E0E6ED"/>
                </a:solidFill>
                <a:uFillTx/>
              </a:defRPr>
            </a:pPr>
            <a:r>
              <a:rPr u="sng">
                <a:solidFill>
                  <a:srgbClr val="D4AF37"/>
                </a:solidFill>
                <a:uFill>
                  <a:solidFill>
                    <a:srgbClr val="D4AF37"/>
                  </a:solidFill>
                </a:uFill>
                <a:hlinkClick r:id="rId2" invalidUrl="" action="" tgtFrame="" tooltip="" history="1" highlightClick="0" endSnd="0"/>
              </a:rPr>
              <a:t>Pedro H. R. de Andrade</a:t>
            </a:r>
          </a:p>
        </p:txBody>
      </p:sp>
      <p:sp>
        <p:nvSpPr>
          <p:cNvPr id="111" name="TextBox 13"/>
          <p:cNvSpPr txBox="1"/>
          <p:nvPr/>
        </p:nvSpPr>
        <p:spPr>
          <a:xfrm>
            <a:off x="5078600" y="6620256"/>
            <a:ext cx="203449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900">
                <a:solidFill>
                  <a:srgbClr val="E0E6E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Reconciliação Química Estelar • MWBR</a:t>
            </a:r>
          </a:p>
        </p:txBody>
      </p:sp>
      <p:sp>
        <p:nvSpPr>
          <p:cNvPr id="112" name="TextBox 14"/>
          <p:cNvSpPr txBox="1"/>
          <p:nvPr>
            <p:ph type="sldNum" sz="quarter" idx="4294967295"/>
          </p:nvPr>
        </p:nvSpPr>
        <p:spPr>
          <a:xfrm>
            <a:off x="11333174" y="6620256"/>
            <a:ext cx="127001" cy="1270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t"/>
          <a:lstStyle>
            <a:lvl1pPr>
              <a:defRPr sz="900">
                <a:solidFill>
                  <a:srgbClr val="E0E6ED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Rectangle 1"/>
          <p:cNvSpPr/>
          <p:nvPr/>
        </p:nvSpPr>
        <p:spPr>
          <a:xfrm>
            <a:off x="-1" y="592581"/>
            <a:ext cx="12191697" cy="12701"/>
          </a:xfrm>
          <a:prstGeom prst="rect">
            <a:avLst/>
          </a:prstGeom>
          <a:solidFill>
            <a:srgbClr val="50505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5" name="TextBox 2"/>
          <p:cNvSpPr txBox="1"/>
          <p:nvPr/>
        </p:nvSpPr>
        <p:spPr>
          <a:xfrm>
            <a:off x="731519" y="182879"/>
            <a:ext cx="1472891" cy="2096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b="1" sz="1500">
                <a:solidFill>
                  <a:srgbClr val="D4AF3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[ LOGO MWBR ]</a:t>
            </a:r>
          </a:p>
        </p:txBody>
      </p:sp>
      <p:sp>
        <p:nvSpPr>
          <p:cNvPr id="116" name="TextBox 3"/>
          <p:cNvSpPr txBox="1"/>
          <p:nvPr/>
        </p:nvSpPr>
        <p:spPr>
          <a:xfrm>
            <a:off x="9954133" y="182879"/>
            <a:ext cx="1506042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r">
              <a:defRPr sz="1200">
                <a:solidFill>
                  <a:srgbClr val="E0E6E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Milky Way Brazil 2026</a:t>
            </a:r>
          </a:p>
        </p:txBody>
      </p:sp>
      <p:sp>
        <p:nvSpPr>
          <p:cNvPr id="117" name="TextBox 4"/>
          <p:cNvSpPr txBox="1"/>
          <p:nvPr/>
        </p:nvSpPr>
        <p:spPr>
          <a:xfrm>
            <a:off x="731519" y="777240"/>
            <a:ext cx="10728657" cy="3947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800">
                <a:solidFill>
                  <a:srgbClr val="D4AF3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1. Introdução e Contexto</a:t>
            </a:r>
          </a:p>
        </p:txBody>
      </p:sp>
      <p:sp>
        <p:nvSpPr>
          <p:cNvPr id="118" name="TextBox 5"/>
          <p:cNvSpPr txBox="1"/>
          <p:nvPr/>
        </p:nvSpPr>
        <p:spPr>
          <a:xfrm>
            <a:off x="731519" y="1737360"/>
            <a:ext cx="5120642" cy="6037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D4AF3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Anãs M na Galáxia: </a:t>
            </a:r>
            <a:r>
              <a:rPr b="0">
                <a:solidFill>
                  <a:srgbClr val="E0E6ED"/>
                </a:solidFill>
              </a:rPr>
              <a:t>Constituem cerca de 70% da população estelar da Via Láctea, alvos principais para buscas de exoplanetas.</a:t>
            </a:r>
          </a:p>
        </p:txBody>
      </p:sp>
      <p:sp>
        <p:nvSpPr>
          <p:cNvPr id="119" name="TextBox 6"/>
          <p:cNvSpPr txBox="1"/>
          <p:nvPr/>
        </p:nvSpPr>
        <p:spPr>
          <a:xfrm>
            <a:off x="731519" y="2926079"/>
            <a:ext cx="5120642" cy="4005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D4AF3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Preservação Química: </a:t>
            </a:r>
            <a:r>
              <a:rPr b="0">
                <a:solidFill>
                  <a:srgbClr val="E0E6ED"/>
                </a:solidFill>
              </a:rPr>
              <a:t>Sua evolução ultra lenta preserva na fotosfera a assinatura intacta da nuvem molecular original.</a:t>
            </a:r>
          </a:p>
        </p:txBody>
      </p:sp>
      <p:sp>
        <p:nvSpPr>
          <p:cNvPr id="120" name="TextBox 7"/>
          <p:cNvSpPr txBox="1"/>
          <p:nvPr/>
        </p:nvSpPr>
        <p:spPr>
          <a:xfrm>
            <a:off x="731519" y="4114800"/>
            <a:ext cx="5120642" cy="6037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D4AF3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Problema Científico: </a:t>
            </a:r>
            <a:r>
              <a:rPr b="0">
                <a:solidFill>
                  <a:srgbClr val="E0E6ED"/>
                </a:solidFill>
              </a:rPr>
              <a:t>Estudos anteriores encontravam discrepâncias químicas severas entre anãs M e FGK no disco local.</a:t>
            </a:r>
          </a:p>
        </p:txBody>
      </p:sp>
      <p:grpSp>
        <p:nvGrpSpPr>
          <p:cNvPr id="123" name="Rectangle 8"/>
          <p:cNvGrpSpPr/>
          <p:nvPr/>
        </p:nvGrpSpPr>
        <p:grpSpPr>
          <a:xfrm>
            <a:off x="6217920" y="1737359"/>
            <a:ext cx="5212081" cy="3931922"/>
            <a:chOff x="0" y="0"/>
            <a:chExt cx="5212079" cy="3931920"/>
          </a:xfrm>
        </p:grpSpPr>
        <p:sp>
          <p:nvSpPr>
            <p:cNvPr id="121" name="Rectangle"/>
            <p:cNvSpPr/>
            <p:nvPr/>
          </p:nvSpPr>
          <p:spPr>
            <a:xfrm>
              <a:off x="0" y="-1"/>
              <a:ext cx="5212080" cy="3931922"/>
            </a:xfrm>
            <a:prstGeom prst="rect">
              <a:avLst/>
            </a:prstGeom>
            <a:solidFill>
              <a:srgbClr val="0F0F0F"/>
            </a:solidFill>
            <a:ln w="12700" cap="flat">
              <a:solidFill>
                <a:srgbClr val="D4AF37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spcBef>
                  <a:spcPts val="1200"/>
                </a:spcBef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22" name="A Controvérsia Química…"/>
            <p:cNvSpPr txBox="1"/>
            <p:nvPr/>
          </p:nvSpPr>
          <p:spPr>
            <a:xfrm>
              <a:off x="6350" y="976998"/>
              <a:ext cx="5199380" cy="19779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274320" tIns="274320" rIns="274320" bIns="274320" numCol="1" anchor="ctr">
              <a:spAutoFit/>
            </a:bodyPr>
            <a:lstStyle/>
            <a:p>
              <a:pPr algn="ctr">
                <a:spcBef>
                  <a:spcPts val="1400"/>
                </a:spcBef>
                <a:defRPr b="1" sz="2000">
                  <a:solidFill>
                    <a:srgbClr val="D4AF37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A Controvérsia Química</a:t>
              </a:r>
            </a:p>
            <a:p>
              <a:pPr>
                <a:spcBef>
                  <a:spcPts val="1200"/>
                </a:spcBef>
                <a:defRPr b="1" sz="1400">
                  <a:solidFill>
                    <a:srgbClr val="D4AF37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Modelagem Física: </a:t>
              </a:r>
              <a:r>
                <a:rPr b="0">
                  <a:solidFill>
                    <a:srgbClr val="E0E6ED"/>
                  </a:solidFill>
                </a:rPr>
                <a:t>Vieses sistemáticos de 1D LTE distorciam a análise espectral nas anãs M.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200"/>
                </a:spcBef>
                <a:defRPr b="1" sz="1400">
                  <a:solidFill>
                    <a:srgbClr val="D4AF37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Questão-Chave: </a:t>
              </a:r>
              <a:r>
                <a:rPr b="0">
                  <a:solidFill>
                    <a:srgbClr val="E0E6ED"/>
                  </a:solidFill>
                </a:rPr>
                <a:t>Isso indica enriquecimento anômalo ou falhas de espectroscopia?</a:t>
              </a:r>
            </a:p>
          </p:txBody>
        </p:sp>
      </p:grpSp>
      <p:sp>
        <p:nvSpPr>
          <p:cNvPr id="124" name="Rectangle 9"/>
          <p:cNvSpPr/>
          <p:nvPr/>
        </p:nvSpPr>
        <p:spPr>
          <a:xfrm>
            <a:off x="-1" y="6581902"/>
            <a:ext cx="12191697" cy="12701"/>
          </a:xfrm>
          <a:prstGeom prst="rect">
            <a:avLst/>
          </a:prstGeom>
          <a:solidFill>
            <a:srgbClr val="50505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5" name="TextBox 10"/>
          <p:cNvSpPr txBox="1"/>
          <p:nvPr/>
        </p:nvSpPr>
        <p:spPr>
          <a:xfrm>
            <a:off x="731519" y="6620256"/>
            <a:ext cx="122630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900" u="sng">
                <a:solidFill>
                  <a:srgbClr val="D4AF37"/>
                </a:solidFill>
                <a:uFill>
                  <a:solidFill>
                    <a:srgbClr val="D4AF37"/>
                  </a:solidFill>
                </a:uFill>
                <a:latin typeface="Arial"/>
                <a:ea typeface="Arial"/>
                <a:cs typeface="Arial"/>
                <a:sym typeface="Arial"/>
                <a:hlinkClick r:id="rId2" invalidUrl="" action="" tgtFrame="" tooltip="" history="1" highlightClick="0" endSnd="0"/>
              </a:defRPr>
            </a:lvl1pPr>
          </a:lstStyle>
          <a:p>
            <a:pPr>
              <a:defRPr u="none">
                <a:solidFill>
                  <a:srgbClr val="E0E6ED"/>
                </a:solidFill>
                <a:uFillTx/>
              </a:defRPr>
            </a:pPr>
            <a:r>
              <a:rPr u="sng">
                <a:solidFill>
                  <a:srgbClr val="D4AF37"/>
                </a:solidFill>
                <a:uFill>
                  <a:solidFill>
                    <a:srgbClr val="D4AF37"/>
                  </a:solidFill>
                </a:uFill>
                <a:hlinkClick r:id="rId2" invalidUrl="" action="" tgtFrame="" tooltip="" history="1" highlightClick="0" endSnd="0"/>
              </a:rPr>
              <a:t>Pedro H. R. de Andrade</a:t>
            </a:r>
          </a:p>
        </p:txBody>
      </p:sp>
      <p:sp>
        <p:nvSpPr>
          <p:cNvPr id="126" name="TextBox 11"/>
          <p:cNvSpPr txBox="1"/>
          <p:nvPr/>
        </p:nvSpPr>
        <p:spPr>
          <a:xfrm>
            <a:off x="5078600" y="6620256"/>
            <a:ext cx="203449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900">
                <a:solidFill>
                  <a:srgbClr val="E0E6E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Reconciliação Química Estelar • MWBR</a:t>
            </a:r>
          </a:p>
        </p:txBody>
      </p:sp>
      <p:sp>
        <p:nvSpPr>
          <p:cNvPr id="127" name="TextBox 12"/>
          <p:cNvSpPr txBox="1"/>
          <p:nvPr>
            <p:ph type="sldNum" sz="quarter" idx="4294967295"/>
          </p:nvPr>
        </p:nvSpPr>
        <p:spPr>
          <a:xfrm>
            <a:off x="11333174" y="6620256"/>
            <a:ext cx="127001" cy="1270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t"/>
          <a:lstStyle>
            <a:lvl1pPr>
              <a:defRPr sz="900">
                <a:solidFill>
                  <a:srgbClr val="E0E6ED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Rectangle 1"/>
          <p:cNvSpPr/>
          <p:nvPr/>
        </p:nvSpPr>
        <p:spPr>
          <a:xfrm>
            <a:off x="-1" y="592581"/>
            <a:ext cx="12191697" cy="12701"/>
          </a:xfrm>
          <a:prstGeom prst="rect">
            <a:avLst/>
          </a:prstGeom>
          <a:solidFill>
            <a:srgbClr val="50505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0" name="TextBox 2"/>
          <p:cNvSpPr txBox="1"/>
          <p:nvPr/>
        </p:nvSpPr>
        <p:spPr>
          <a:xfrm>
            <a:off x="731519" y="182879"/>
            <a:ext cx="1472891" cy="2096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b="1" sz="1500">
                <a:solidFill>
                  <a:srgbClr val="D4AF3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[ LOGO MWBR ]</a:t>
            </a:r>
          </a:p>
        </p:txBody>
      </p:sp>
      <p:sp>
        <p:nvSpPr>
          <p:cNvPr id="131" name="TextBox 3"/>
          <p:cNvSpPr txBox="1"/>
          <p:nvPr/>
        </p:nvSpPr>
        <p:spPr>
          <a:xfrm>
            <a:off x="9954133" y="182879"/>
            <a:ext cx="1506042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r">
              <a:defRPr sz="1200">
                <a:solidFill>
                  <a:srgbClr val="E0E6E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Milky Way Brazil 2026</a:t>
            </a:r>
          </a:p>
        </p:txBody>
      </p:sp>
      <p:sp>
        <p:nvSpPr>
          <p:cNvPr id="132" name="TextBox 4"/>
          <p:cNvSpPr txBox="1"/>
          <p:nvPr/>
        </p:nvSpPr>
        <p:spPr>
          <a:xfrm>
            <a:off x="731519" y="777240"/>
            <a:ext cx="10728657" cy="3947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800">
                <a:solidFill>
                  <a:srgbClr val="D4AF3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2. Desafios Espectroscópicos em Estrelas Frias</a:t>
            </a:r>
          </a:p>
        </p:txBody>
      </p:sp>
      <p:sp>
        <p:nvSpPr>
          <p:cNvPr id="133" name="TextBox 5"/>
          <p:cNvSpPr txBox="1"/>
          <p:nvPr/>
        </p:nvSpPr>
        <p:spPr>
          <a:xfrm>
            <a:off x="731519" y="1737360"/>
            <a:ext cx="10728657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D4AF3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Temperaturas Baixas (&lt; 4000 K): </a:t>
            </a:r>
            <a:r>
              <a:rPr b="0">
                <a:solidFill>
                  <a:srgbClr val="E0E6ED"/>
                </a:solidFill>
              </a:rPr>
              <a:t>Permitem condensação molecular na fotosfera, saturando o espectro.</a:t>
            </a:r>
          </a:p>
        </p:txBody>
      </p:sp>
      <p:sp>
        <p:nvSpPr>
          <p:cNvPr id="134" name="TextBox 6"/>
          <p:cNvSpPr txBox="1"/>
          <p:nvPr/>
        </p:nvSpPr>
        <p:spPr>
          <a:xfrm>
            <a:off x="731519" y="2697479"/>
            <a:ext cx="10728657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D4AF3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Bandas de TiO: </a:t>
            </a:r>
            <a:r>
              <a:rPr b="0">
                <a:solidFill>
                  <a:srgbClr val="E0E6ED"/>
                </a:solidFill>
              </a:rPr>
              <a:t>Óxido de Titânio polui e bloqueia o contínuo óptico, cobrindo linhas atômicas livres.</a:t>
            </a:r>
          </a:p>
        </p:txBody>
      </p:sp>
      <p:sp>
        <p:nvSpPr>
          <p:cNvPr id="135" name="TextBox 7"/>
          <p:cNvSpPr txBox="1"/>
          <p:nvPr/>
        </p:nvSpPr>
        <p:spPr>
          <a:xfrm>
            <a:off x="731519" y="3657600"/>
            <a:ext cx="10728657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D4AF3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Vieses de 1D LTE: </a:t>
            </a:r>
            <a:r>
              <a:rPr b="0">
                <a:solidFill>
                  <a:srgbClr val="E0E6ED"/>
                </a:solidFill>
              </a:rPr>
              <a:t>Suposição clássica de LTE unidimensional distorce abundâncias obtidas de linhas de ressonância.</a:t>
            </a:r>
          </a:p>
        </p:txBody>
      </p:sp>
      <p:sp>
        <p:nvSpPr>
          <p:cNvPr id="136" name="TextBox 8"/>
          <p:cNvSpPr txBox="1"/>
          <p:nvPr/>
        </p:nvSpPr>
        <p:spPr>
          <a:xfrm>
            <a:off x="731519" y="4617720"/>
            <a:ext cx="10728657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D4AF3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Importância de NLTE 3D: </a:t>
            </a:r>
            <a:r>
              <a:rPr b="0">
                <a:solidFill>
                  <a:srgbClr val="E0E6ED"/>
                </a:solidFill>
              </a:rPr>
              <a:t>Modelos avançados são cruciais para isolar metalicidades e elementos refratários como Na e Al.</a:t>
            </a:r>
          </a:p>
        </p:txBody>
      </p:sp>
      <p:sp>
        <p:nvSpPr>
          <p:cNvPr id="137" name="TextBox 9"/>
          <p:cNvSpPr txBox="1"/>
          <p:nvPr/>
        </p:nvSpPr>
        <p:spPr>
          <a:xfrm>
            <a:off x="731519" y="6035040"/>
            <a:ext cx="2824499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i="1" sz="1000">
                <a:solidFill>
                  <a:srgbClr val="E0E6E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Ref: Amarsi et al. (2019), Bergemann et al. (2017)</a:t>
            </a:r>
          </a:p>
        </p:txBody>
      </p:sp>
      <p:sp>
        <p:nvSpPr>
          <p:cNvPr id="138" name="Rectangle 10"/>
          <p:cNvSpPr/>
          <p:nvPr/>
        </p:nvSpPr>
        <p:spPr>
          <a:xfrm>
            <a:off x="-1" y="6581902"/>
            <a:ext cx="12191697" cy="12701"/>
          </a:xfrm>
          <a:prstGeom prst="rect">
            <a:avLst/>
          </a:prstGeom>
          <a:solidFill>
            <a:srgbClr val="50505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9" name="TextBox 11"/>
          <p:cNvSpPr txBox="1"/>
          <p:nvPr/>
        </p:nvSpPr>
        <p:spPr>
          <a:xfrm>
            <a:off x="731519" y="6620256"/>
            <a:ext cx="122630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900" u="sng">
                <a:solidFill>
                  <a:srgbClr val="D4AF37"/>
                </a:solidFill>
                <a:uFill>
                  <a:solidFill>
                    <a:srgbClr val="D4AF37"/>
                  </a:solidFill>
                </a:uFill>
                <a:latin typeface="Arial"/>
                <a:ea typeface="Arial"/>
                <a:cs typeface="Arial"/>
                <a:sym typeface="Arial"/>
                <a:hlinkClick r:id="rId2" invalidUrl="" action="" tgtFrame="" tooltip="" history="1" highlightClick="0" endSnd="0"/>
              </a:defRPr>
            </a:lvl1pPr>
          </a:lstStyle>
          <a:p>
            <a:pPr>
              <a:defRPr u="none">
                <a:solidFill>
                  <a:srgbClr val="E0E6ED"/>
                </a:solidFill>
                <a:uFillTx/>
              </a:defRPr>
            </a:pPr>
            <a:r>
              <a:rPr u="sng">
                <a:solidFill>
                  <a:srgbClr val="D4AF37"/>
                </a:solidFill>
                <a:uFill>
                  <a:solidFill>
                    <a:srgbClr val="D4AF37"/>
                  </a:solidFill>
                </a:uFill>
                <a:hlinkClick r:id="rId2" invalidUrl="" action="" tgtFrame="" tooltip="" history="1" highlightClick="0" endSnd="0"/>
              </a:rPr>
              <a:t>Pedro H. R. de Andrade</a:t>
            </a:r>
          </a:p>
        </p:txBody>
      </p:sp>
      <p:sp>
        <p:nvSpPr>
          <p:cNvPr id="140" name="TextBox 12"/>
          <p:cNvSpPr txBox="1"/>
          <p:nvPr/>
        </p:nvSpPr>
        <p:spPr>
          <a:xfrm>
            <a:off x="5078600" y="6620256"/>
            <a:ext cx="203449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900">
                <a:solidFill>
                  <a:srgbClr val="E0E6E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Reconciliação Química Estelar • MWBR</a:t>
            </a:r>
          </a:p>
        </p:txBody>
      </p:sp>
      <p:sp>
        <p:nvSpPr>
          <p:cNvPr id="141" name="TextBox 13"/>
          <p:cNvSpPr txBox="1"/>
          <p:nvPr>
            <p:ph type="sldNum" sz="quarter" idx="4294967295"/>
          </p:nvPr>
        </p:nvSpPr>
        <p:spPr>
          <a:xfrm>
            <a:off x="11333174" y="6620256"/>
            <a:ext cx="127001" cy="1270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t"/>
          <a:lstStyle>
            <a:lvl1pPr>
              <a:defRPr sz="900">
                <a:solidFill>
                  <a:srgbClr val="E0E6ED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Rectangle 1"/>
          <p:cNvSpPr/>
          <p:nvPr/>
        </p:nvSpPr>
        <p:spPr>
          <a:xfrm>
            <a:off x="-1" y="592581"/>
            <a:ext cx="12191697" cy="12701"/>
          </a:xfrm>
          <a:prstGeom prst="rect">
            <a:avLst/>
          </a:prstGeom>
          <a:solidFill>
            <a:srgbClr val="50505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4" name="TextBox 2"/>
          <p:cNvSpPr txBox="1"/>
          <p:nvPr/>
        </p:nvSpPr>
        <p:spPr>
          <a:xfrm>
            <a:off x="731519" y="182879"/>
            <a:ext cx="1472891" cy="2096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b="1" sz="1500">
                <a:solidFill>
                  <a:srgbClr val="D4AF3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[ LOGO MWBR ]</a:t>
            </a:r>
          </a:p>
        </p:txBody>
      </p:sp>
      <p:sp>
        <p:nvSpPr>
          <p:cNvPr id="145" name="TextBox 3"/>
          <p:cNvSpPr txBox="1"/>
          <p:nvPr/>
        </p:nvSpPr>
        <p:spPr>
          <a:xfrm>
            <a:off x="9954133" y="182879"/>
            <a:ext cx="1506042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r">
              <a:defRPr sz="1200">
                <a:solidFill>
                  <a:srgbClr val="E0E6E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Milky Way Brazil 2026</a:t>
            </a:r>
          </a:p>
        </p:txBody>
      </p:sp>
      <p:sp>
        <p:nvSpPr>
          <p:cNvPr id="146" name="TextBox 4"/>
          <p:cNvSpPr txBox="1"/>
          <p:nvPr/>
        </p:nvSpPr>
        <p:spPr>
          <a:xfrm>
            <a:off x="731519" y="777240"/>
            <a:ext cx="10728657" cy="3947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800">
                <a:solidFill>
                  <a:srgbClr val="D4AF3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3. Metodologia Observacional: Amostra</a:t>
            </a:r>
          </a:p>
        </p:txBody>
      </p:sp>
      <p:sp>
        <p:nvSpPr>
          <p:cNvPr id="147" name="TextBox 5"/>
          <p:cNvSpPr txBox="1"/>
          <p:nvPr/>
        </p:nvSpPr>
        <p:spPr>
          <a:xfrm>
            <a:off x="731519" y="1737360"/>
            <a:ext cx="5303522" cy="4005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D4AF3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Amostra Benchmark: </a:t>
            </a:r>
            <a:r>
              <a:rPr b="0">
                <a:solidFill>
                  <a:srgbClr val="E0E6ED"/>
                </a:solidFill>
              </a:rPr>
              <a:t>47 estrelas anãs M selecionadas dos catálogos APOGEE, CARMENES e Subaru/IRD.</a:t>
            </a:r>
          </a:p>
        </p:txBody>
      </p:sp>
      <p:sp>
        <p:nvSpPr>
          <p:cNvPr id="148" name="TextBox 6"/>
          <p:cNvSpPr txBox="1"/>
          <p:nvPr/>
        </p:nvSpPr>
        <p:spPr>
          <a:xfrm>
            <a:off x="731519" y="2697479"/>
            <a:ext cx="5303522" cy="4005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D4AF3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Homogeneidade: </a:t>
            </a:r>
            <a:r>
              <a:rPr b="0">
                <a:solidFill>
                  <a:srgbClr val="E0E6ED"/>
                </a:solidFill>
              </a:rPr>
              <a:t>Uso exclusivo de atmosferas modelo MARCS para calibração espectral.</a:t>
            </a:r>
          </a:p>
        </p:txBody>
      </p:sp>
      <p:sp>
        <p:nvSpPr>
          <p:cNvPr id="149" name="TextBox 7"/>
          <p:cNvSpPr txBox="1"/>
          <p:nvPr/>
        </p:nvSpPr>
        <p:spPr>
          <a:xfrm>
            <a:off x="731519" y="3657600"/>
            <a:ext cx="5303522" cy="4005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D4AF3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FGK de Referência: </a:t>
            </a:r>
            <a:r>
              <a:rPr b="0">
                <a:solidFill>
                  <a:srgbClr val="E0E6ED"/>
                </a:solidFill>
              </a:rPr>
              <a:t>Dados compilados e corrigidos para efeitos tridimensionais Não-LTE no disco local.</a:t>
            </a:r>
          </a:p>
        </p:txBody>
      </p:sp>
      <p:sp>
        <p:nvSpPr>
          <p:cNvPr id="150" name="TextBox 8"/>
          <p:cNvSpPr txBox="1"/>
          <p:nvPr/>
        </p:nvSpPr>
        <p:spPr>
          <a:xfrm>
            <a:off x="731519" y="4617720"/>
            <a:ext cx="5303522" cy="4005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D4AF3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Faixa de Metalicidade: </a:t>
            </a:r>
            <a:r>
              <a:rPr b="0">
                <a:solidFill>
                  <a:srgbClr val="E0E6ED"/>
                </a:solidFill>
              </a:rPr>
              <a:t>Foco no disco fino galáctico cobrindo -0.5 &lt;= [Fe/H] &lt;= +0.4.</a:t>
            </a:r>
          </a:p>
        </p:txBody>
      </p:sp>
      <p:sp>
        <p:nvSpPr>
          <p:cNvPr id="151" name="TextBox 9"/>
          <p:cNvSpPr txBox="1"/>
          <p:nvPr/>
        </p:nvSpPr>
        <p:spPr>
          <a:xfrm>
            <a:off x="731519" y="6035040"/>
            <a:ext cx="2918633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i="1" sz="1000">
                <a:solidFill>
                  <a:srgbClr val="E0E6E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Ref: Gustafsson et al. (2008), Trueman et al. (2026)</a:t>
            </a:r>
          </a:p>
        </p:txBody>
      </p:sp>
      <p:grpSp>
        <p:nvGrpSpPr>
          <p:cNvPr id="154" name="Rectangle 10"/>
          <p:cNvGrpSpPr/>
          <p:nvPr/>
        </p:nvGrpSpPr>
        <p:grpSpPr>
          <a:xfrm>
            <a:off x="6400800" y="1737359"/>
            <a:ext cx="5029200" cy="3931922"/>
            <a:chOff x="0" y="0"/>
            <a:chExt cx="5029200" cy="3931920"/>
          </a:xfrm>
        </p:grpSpPr>
        <p:sp>
          <p:nvSpPr>
            <p:cNvPr id="152" name="Rectangle"/>
            <p:cNvSpPr/>
            <p:nvPr/>
          </p:nvSpPr>
          <p:spPr>
            <a:xfrm>
              <a:off x="0" y="-1"/>
              <a:ext cx="5029200" cy="3931922"/>
            </a:xfrm>
            <a:prstGeom prst="rect">
              <a:avLst/>
            </a:prstGeom>
            <a:solidFill>
              <a:srgbClr val="0F0F0F"/>
            </a:solidFill>
            <a:ln w="12700" cap="flat">
              <a:solidFill>
                <a:srgbClr val="D4AF37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b="1" sz="1400">
                  <a:solidFill>
                    <a:srgbClr val="D4AF37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53" name="[ Espaço Reservado para Figura: Espectros / Diagrama HR ]"/>
            <p:cNvSpPr txBox="1"/>
            <p:nvPr/>
          </p:nvSpPr>
          <p:spPr>
            <a:xfrm>
              <a:off x="52069" y="1313548"/>
              <a:ext cx="4925061" cy="1304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1400">
                  <a:solidFill>
                    <a:srgbClr val="D4AF37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br/>
              <a:br/>
              <a:br/>
              <a:br/>
              <a:r>
                <a:t>[ Espaço Reservado para Figura: Espectros / Diagrama HR ]</a:t>
              </a:r>
            </a:p>
          </p:txBody>
        </p:sp>
      </p:grpSp>
      <p:sp>
        <p:nvSpPr>
          <p:cNvPr id="155" name="Rectangle 11"/>
          <p:cNvSpPr/>
          <p:nvPr/>
        </p:nvSpPr>
        <p:spPr>
          <a:xfrm>
            <a:off x="-1" y="6581902"/>
            <a:ext cx="12191697" cy="12701"/>
          </a:xfrm>
          <a:prstGeom prst="rect">
            <a:avLst/>
          </a:prstGeom>
          <a:solidFill>
            <a:srgbClr val="50505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6" name="TextBox 12"/>
          <p:cNvSpPr txBox="1"/>
          <p:nvPr/>
        </p:nvSpPr>
        <p:spPr>
          <a:xfrm>
            <a:off x="731519" y="6620256"/>
            <a:ext cx="122630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900" u="sng">
                <a:solidFill>
                  <a:srgbClr val="D4AF37"/>
                </a:solidFill>
                <a:uFill>
                  <a:solidFill>
                    <a:srgbClr val="D4AF37"/>
                  </a:solidFill>
                </a:uFill>
                <a:latin typeface="Arial"/>
                <a:ea typeface="Arial"/>
                <a:cs typeface="Arial"/>
                <a:sym typeface="Arial"/>
                <a:hlinkClick r:id="rId2" invalidUrl="" action="" tgtFrame="" tooltip="" history="1" highlightClick="0" endSnd="0"/>
              </a:defRPr>
            </a:lvl1pPr>
          </a:lstStyle>
          <a:p>
            <a:pPr>
              <a:defRPr u="none">
                <a:solidFill>
                  <a:srgbClr val="E0E6ED"/>
                </a:solidFill>
                <a:uFillTx/>
              </a:defRPr>
            </a:pPr>
            <a:r>
              <a:rPr u="sng">
                <a:solidFill>
                  <a:srgbClr val="D4AF37"/>
                </a:solidFill>
                <a:uFill>
                  <a:solidFill>
                    <a:srgbClr val="D4AF37"/>
                  </a:solidFill>
                </a:uFill>
                <a:hlinkClick r:id="rId2" invalidUrl="" action="" tgtFrame="" tooltip="" history="1" highlightClick="0" endSnd="0"/>
              </a:rPr>
              <a:t>Pedro H. R. de Andrade</a:t>
            </a:r>
          </a:p>
        </p:txBody>
      </p:sp>
      <p:sp>
        <p:nvSpPr>
          <p:cNvPr id="157" name="TextBox 13"/>
          <p:cNvSpPr txBox="1"/>
          <p:nvPr/>
        </p:nvSpPr>
        <p:spPr>
          <a:xfrm>
            <a:off x="5078600" y="6620256"/>
            <a:ext cx="203449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900">
                <a:solidFill>
                  <a:srgbClr val="E0E6E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Reconciliação Química Estelar • MWBR</a:t>
            </a:r>
          </a:p>
        </p:txBody>
      </p:sp>
      <p:sp>
        <p:nvSpPr>
          <p:cNvPr id="158" name="TextBox 14"/>
          <p:cNvSpPr txBox="1"/>
          <p:nvPr>
            <p:ph type="sldNum" sz="quarter" idx="4294967295"/>
          </p:nvPr>
        </p:nvSpPr>
        <p:spPr>
          <a:xfrm>
            <a:off x="11333174" y="6620256"/>
            <a:ext cx="127001" cy="1270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t"/>
          <a:lstStyle>
            <a:lvl1pPr>
              <a:defRPr sz="900">
                <a:solidFill>
                  <a:srgbClr val="E0E6ED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Rectangle 1"/>
          <p:cNvSpPr/>
          <p:nvPr/>
        </p:nvSpPr>
        <p:spPr>
          <a:xfrm>
            <a:off x="-1" y="592581"/>
            <a:ext cx="12191697" cy="12701"/>
          </a:xfrm>
          <a:prstGeom prst="rect">
            <a:avLst/>
          </a:prstGeom>
          <a:solidFill>
            <a:srgbClr val="50505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1" name="TextBox 2"/>
          <p:cNvSpPr txBox="1"/>
          <p:nvPr/>
        </p:nvSpPr>
        <p:spPr>
          <a:xfrm>
            <a:off x="731519" y="182879"/>
            <a:ext cx="1472891" cy="2096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b="1" sz="1500">
                <a:solidFill>
                  <a:srgbClr val="D4AF3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[ LOGO MWBR ]</a:t>
            </a:r>
          </a:p>
        </p:txBody>
      </p:sp>
      <p:sp>
        <p:nvSpPr>
          <p:cNvPr id="162" name="TextBox 3"/>
          <p:cNvSpPr txBox="1"/>
          <p:nvPr/>
        </p:nvSpPr>
        <p:spPr>
          <a:xfrm>
            <a:off x="9954133" y="182879"/>
            <a:ext cx="1506042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r">
              <a:defRPr sz="1200">
                <a:solidFill>
                  <a:srgbClr val="E0E6E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Milky Way Brazil 2026</a:t>
            </a:r>
          </a:p>
        </p:txBody>
      </p:sp>
      <p:sp>
        <p:nvSpPr>
          <p:cNvPr id="163" name="TextBox 4"/>
          <p:cNvSpPr txBox="1"/>
          <p:nvPr/>
        </p:nvSpPr>
        <p:spPr>
          <a:xfrm>
            <a:off x="731519" y="777240"/>
            <a:ext cx="10728657" cy="3947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800">
                <a:solidFill>
                  <a:srgbClr val="D4AF3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4. Metodologia Teórica: Modelos GCE</a:t>
            </a:r>
          </a:p>
        </p:txBody>
      </p:sp>
      <p:sp>
        <p:nvSpPr>
          <p:cNvPr id="164" name="TextBox 5"/>
          <p:cNvSpPr txBox="1"/>
          <p:nvPr/>
        </p:nvSpPr>
        <p:spPr>
          <a:xfrm>
            <a:off x="731519" y="1737360"/>
            <a:ext cx="10728657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D4AF3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Código OMEGA+: </a:t>
            </a:r>
            <a:r>
              <a:rPr b="0">
                <a:solidFill>
                  <a:srgbClr val="E0E6ED"/>
                </a:solidFill>
              </a:rPr>
              <a:t>Simulações de enriquecimento químico baseadas em modelo de duas zonas (galáxia e meio circumgaláctico).</a:t>
            </a:r>
          </a:p>
        </p:txBody>
      </p:sp>
      <p:sp>
        <p:nvSpPr>
          <p:cNvPr id="165" name="TextBox 6"/>
          <p:cNvSpPr txBox="1"/>
          <p:nvPr/>
        </p:nvSpPr>
        <p:spPr>
          <a:xfrm>
            <a:off x="731519" y="2697479"/>
            <a:ext cx="10728657" cy="4005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D4AF3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Rendimentos de Nucleossíntese: </a:t>
            </a:r>
            <a:r>
              <a:rPr b="0">
                <a:solidFill>
                  <a:srgbClr val="E0E6ED"/>
                </a:solidFill>
              </a:rPr>
              <a:t>Modelos comparativos de supernovas core-collapse (CCSN) de Nomoto (2013) e Limongi &amp; Chieffi (2018).</a:t>
            </a:r>
          </a:p>
        </p:txBody>
      </p:sp>
      <p:sp>
        <p:nvSpPr>
          <p:cNvPr id="166" name="TextBox 7"/>
          <p:cNvSpPr txBox="1"/>
          <p:nvPr/>
        </p:nvSpPr>
        <p:spPr>
          <a:xfrm>
            <a:off x="731519" y="3657600"/>
            <a:ext cx="10728657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D4AF3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Supernovas Tipo Ia: </a:t>
            </a:r>
            <a:r>
              <a:rPr b="0">
                <a:solidFill>
                  <a:srgbClr val="E0E6ED"/>
                </a:solidFill>
              </a:rPr>
              <a:t>Delay-Time Distribution (DTD) calibrado com platô de 1 Gyr para ajuste dos elementos do grupo do ferro.</a:t>
            </a:r>
          </a:p>
        </p:txBody>
      </p:sp>
      <p:sp>
        <p:nvSpPr>
          <p:cNvPr id="167" name="TextBox 8"/>
          <p:cNvSpPr txBox="1"/>
          <p:nvPr/>
        </p:nvSpPr>
        <p:spPr>
          <a:xfrm>
            <a:off x="731519" y="4617720"/>
            <a:ext cx="10728657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D4AF3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Dispersão no Disco: </a:t>
            </a:r>
            <a:r>
              <a:rPr b="0">
                <a:solidFill>
                  <a:srgbClr val="E0E6ED"/>
                </a:solidFill>
              </a:rPr>
              <a:t>Simulação de 6 trilhas independentes mapeando o espalhamento de metalicidade solar local.</a:t>
            </a:r>
          </a:p>
        </p:txBody>
      </p:sp>
      <p:sp>
        <p:nvSpPr>
          <p:cNvPr id="168" name="TextBox 9"/>
          <p:cNvSpPr txBox="1"/>
          <p:nvPr/>
        </p:nvSpPr>
        <p:spPr>
          <a:xfrm>
            <a:off x="731519" y="6035040"/>
            <a:ext cx="2871566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i="1" sz="1000">
                <a:solidFill>
                  <a:srgbClr val="E0E6E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Ref: Nomoto et al. (2013), Limongi &amp; Chieffi (2018)</a:t>
            </a:r>
          </a:p>
        </p:txBody>
      </p:sp>
      <p:sp>
        <p:nvSpPr>
          <p:cNvPr id="169" name="Rectangle 10"/>
          <p:cNvSpPr/>
          <p:nvPr/>
        </p:nvSpPr>
        <p:spPr>
          <a:xfrm>
            <a:off x="-1" y="6581902"/>
            <a:ext cx="12191697" cy="12701"/>
          </a:xfrm>
          <a:prstGeom prst="rect">
            <a:avLst/>
          </a:prstGeom>
          <a:solidFill>
            <a:srgbClr val="50505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0" name="TextBox 11"/>
          <p:cNvSpPr txBox="1"/>
          <p:nvPr/>
        </p:nvSpPr>
        <p:spPr>
          <a:xfrm>
            <a:off x="731519" y="6620256"/>
            <a:ext cx="122630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900" u="sng">
                <a:solidFill>
                  <a:srgbClr val="D4AF37"/>
                </a:solidFill>
                <a:uFill>
                  <a:solidFill>
                    <a:srgbClr val="D4AF37"/>
                  </a:solidFill>
                </a:uFill>
                <a:latin typeface="Arial"/>
                <a:ea typeface="Arial"/>
                <a:cs typeface="Arial"/>
                <a:sym typeface="Arial"/>
                <a:hlinkClick r:id="rId2" invalidUrl="" action="" tgtFrame="" tooltip="" history="1" highlightClick="0" endSnd="0"/>
              </a:defRPr>
            </a:lvl1pPr>
          </a:lstStyle>
          <a:p>
            <a:pPr>
              <a:defRPr u="none">
                <a:solidFill>
                  <a:srgbClr val="E0E6ED"/>
                </a:solidFill>
                <a:uFillTx/>
              </a:defRPr>
            </a:pPr>
            <a:r>
              <a:rPr u="sng">
                <a:solidFill>
                  <a:srgbClr val="D4AF37"/>
                </a:solidFill>
                <a:uFill>
                  <a:solidFill>
                    <a:srgbClr val="D4AF37"/>
                  </a:solidFill>
                </a:uFill>
                <a:hlinkClick r:id="rId2" invalidUrl="" action="" tgtFrame="" tooltip="" history="1" highlightClick="0" endSnd="0"/>
              </a:rPr>
              <a:t>Pedro H. R. de Andrade</a:t>
            </a:r>
          </a:p>
        </p:txBody>
      </p:sp>
      <p:sp>
        <p:nvSpPr>
          <p:cNvPr id="171" name="TextBox 12"/>
          <p:cNvSpPr txBox="1"/>
          <p:nvPr/>
        </p:nvSpPr>
        <p:spPr>
          <a:xfrm>
            <a:off x="5078600" y="6620256"/>
            <a:ext cx="203449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900">
                <a:solidFill>
                  <a:srgbClr val="E0E6E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Reconciliação Química Estelar • MWBR</a:t>
            </a:r>
          </a:p>
        </p:txBody>
      </p:sp>
      <p:sp>
        <p:nvSpPr>
          <p:cNvPr id="172" name="TextBox 13"/>
          <p:cNvSpPr txBox="1"/>
          <p:nvPr>
            <p:ph type="sldNum" sz="quarter" idx="4294967295"/>
          </p:nvPr>
        </p:nvSpPr>
        <p:spPr>
          <a:xfrm>
            <a:off x="11333174" y="6620256"/>
            <a:ext cx="127001" cy="1270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t"/>
          <a:lstStyle>
            <a:lvl1pPr>
              <a:defRPr sz="900">
                <a:solidFill>
                  <a:srgbClr val="E0E6ED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Rectangle 1"/>
          <p:cNvSpPr/>
          <p:nvPr/>
        </p:nvSpPr>
        <p:spPr>
          <a:xfrm>
            <a:off x="-1" y="592581"/>
            <a:ext cx="12191697" cy="12701"/>
          </a:xfrm>
          <a:prstGeom prst="rect">
            <a:avLst/>
          </a:prstGeom>
          <a:solidFill>
            <a:srgbClr val="50505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5" name="TextBox 2"/>
          <p:cNvSpPr txBox="1"/>
          <p:nvPr/>
        </p:nvSpPr>
        <p:spPr>
          <a:xfrm>
            <a:off x="731519" y="182879"/>
            <a:ext cx="1472891" cy="2096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b="1" sz="1500">
                <a:solidFill>
                  <a:srgbClr val="D4AF3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[ LOGO MWBR ]</a:t>
            </a:r>
          </a:p>
        </p:txBody>
      </p:sp>
      <p:sp>
        <p:nvSpPr>
          <p:cNvPr id="176" name="TextBox 3"/>
          <p:cNvSpPr txBox="1"/>
          <p:nvPr/>
        </p:nvSpPr>
        <p:spPr>
          <a:xfrm>
            <a:off x="9954133" y="182879"/>
            <a:ext cx="1506042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r">
              <a:defRPr sz="1200">
                <a:solidFill>
                  <a:srgbClr val="E0E6E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Milky Way Brazil 2026</a:t>
            </a:r>
          </a:p>
        </p:txBody>
      </p:sp>
      <p:sp>
        <p:nvSpPr>
          <p:cNvPr id="177" name="TextBox 4"/>
          <p:cNvSpPr txBox="1"/>
          <p:nvPr/>
        </p:nvSpPr>
        <p:spPr>
          <a:xfrm>
            <a:off x="731519" y="777240"/>
            <a:ext cx="10728657" cy="3947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800">
                <a:solidFill>
                  <a:srgbClr val="D4AF3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5. Resultados: Reconciliação Química</a:t>
            </a:r>
          </a:p>
        </p:txBody>
      </p:sp>
      <p:sp>
        <p:nvSpPr>
          <p:cNvPr id="178" name="TextBox 5"/>
          <p:cNvSpPr txBox="1"/>
          <p:nvPr/>
        </p:nvSpPr>
        <p:spPr>
          <a:xfrm>
            <a:off x="731519" y="1737360"/>
            <a:ext cx="5303522" cy="4005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D4AF3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Slopes Equivalentes: </a:t>
            </a:r>
            <a:r>
              <a:rPr b="0">
                <a:solidFill>
                  <a:srgbClr val="E0E6ED"/>
                </a:solidFill>
              </a:rPr>
              <a:t>Abundâncias de [C/H], [O/H], [Na/Fe] e [Ni/Fe] nas anãs M e FGK apresentam a mesma inclinação.</a:t>
            </a:r>
          </a:p>
        </p:txBody>
      </p:sp>
      <p:sp>
        <p:nvSpPr>
          <p:cNvPr id="179" name="TextBox 6"/>
          <p:cNvSpPr txBox="1"/>
          <p:nvPr/>
        </p:nvSpPr>
        <p:spPr>
          <a:xfrm>
            <a:off x="731519" y="2697479"/>
            <a:ext cx="5303522" cy="4005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D4AF3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Ajuste por Regressão ODR: </a:t>
            </a:r>
            <a:r>
              <a:rPr b="0">
                <a:solidFill>
                  <a:srgbClr val="E0E6ED"/>
                </a:solidFill>
              </a:rPr>
              <a:t>Sobreposição completa de 1-sigma nas bandas de confiança estatística.</a:t>
            </a:r>
          </a:p>
        </p:txBody>
      </p:sp>
      <p:sp>
        <p:nvSpPr>
          <p:cNvPr id="180" name="TextBox 7"/>
          <p:cNvSpPr txBox="1"/>
          <p:nvPr/>
        </p:nvSpPr>
        <p:spPr>
          <a:xfrm>
            <a:off x="731519" y="3657600"/>
            <a:ext cx="5303522" cy="4005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D4AF3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Resolução de Divergências: </a:t>
            </a:r>
            <a:r>
              <a:rPr b="0">
                <a:solidFill>
                  <a:srgbClr val="E0E6ED"/>
                </a:solidFill>
              </a:rPr>
              <a:t>Estudos anteriores divergiam porque não corrigiam os dados de FGK com modelos 3D NLTE.</a:t>
            </a:r>
          </a:p>
        </p:txBody>
      </p:sp>
      <p:sp>
        <p:nvSpPr>
          <p:cNvPr id="181" name="TextBox 8"/>
          <p:cNvSpPr txBox="1"/>
          <p:nvPr/>
        </p:nvSpPr>
        <p:spPr>
          <a:xfrm>
            <a:off x="731519" y="4617720"/>
            <a:ext cx="5303522" cy="4005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D4AF3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Sucesso do OMEGA+: </a:t>
            </a:r>
            <a:r>
              <a:rPr b="0">
                <a:solidFill>
                  <a:srgbClr val="E0E6ED"/>
                </a:solidFill>
              </a:rPr>
              <a:t>Excelente acordo entre previsões dos modelos GCE e observações estelares.</a:t>
            </a:r>
          </a:p>
        </p:txBody>
      </p:sp>
      <p:grpSp>
        <p:nvGrpSpPr>
          <p:cNvPr id="184" name="Rectangle 9"/>
          <p:cNvGrpSpPr/>
          <p:nvPr/>
        </p:nvGrpSpPr>
        <p:grpSpPr>
          <a:xfrm>
            <a:off x="6400800" y="1737359"/>
            <a:ext cx="5029200" cy="3931922"/>
            <a:chOff x="0" y="0"/>
            <a:chExt cx="5029200" cy="3931920"/>
          </a:xfrm>
        </p:grpSpPr>
        <p:sp>
          <p:nvSpPr>
            <p:cNvPr id="182" name="Rectangle"/>
            <p:cNvSpPr/>
            <p:nvPr/>
          </p:nvSpPr>
          <p:spPr>
            <a:xfrm>
              <a:off x="0" y="-1"/>
              <a:ext cx="5029200" cy="3931922"/>
            </a:xfrm>
            <a:prstGeom prst="rect">
              <a:avLst/>
            </a:prstGeom>
            <a:solidFill>
              <a:srgbClr val="0F0F0F"/>
            </a:solidFill>
            <a:ln w="12700" cap="flat">
              <a:solidFill>
                <a:srgbClr val="D4AF37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b="1" sz="1400">
                  <a:solidFill>
                    <a:srgbClr val="D4AF37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83" name="[ Espaço Reservado para Figura: Regressão ODR / Abundâncias ]"/>
            <p:cNvSpPr txBox="1"/>
            <p:nvPr/>
          </p:nvSpPr>
          <p:spPr>
            <a:xfrm>
              <a:off x="52069" y="1313548"/>
              <a:ext cx="4925061" cy="1304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1400">
                  <a:solidFill>
                    <a:srgbClr val="D4AF37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br/>
              <a:br/>
              <a:br/>
              <a:br/>
              <a:r>
                <a:t>[ Espaço Reservado para Figura: Regressão ODR / Abundâncias ]</a:t>
              </a:r>
            </a:p>
          </p:txBody>
        </p:sp>
      </p:grpSp>
      <p:sp>
        <p:nvSpPr>
          <p:cNvPr id="185" name="Rectangle 10"/>
          <p:cNvSpPr/>
          <p:nvPr/>
        </p:nvSpPr>
        <p:spPr>
          <a:xfrm>
            <a:off x="-1" y="6581902"/>
            <a:ext cx="12191697" cy="12701"/>
          </a:xfrm>
          <a:prstGeom prst="rect">
            <a:avLst/>
          </a:prstGeom>
          <a:solidFill>
            <a:srgbClr val="50505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6" name="TextBox 11"/>
          <p:cNvSpPr txBox="1"/>
          <p:nvPr/>
        </p:nvSpPr>
        <p:spPr>
          <a:xfrm>
            <a:off x="731519" y="6620256"/>
            <a:ext cx="122630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900" u="sng">
                <a:solidFill>
                  <a:srgbClr val="D4AF37"/>
                </a:solidFill>
                <a:uFill>
                  <a:solidFill>
                    <a:srgbClr val="D4AF37"/>
                  </a:solidFill>
                </a:uFill>
                <a:latin typeface="Arial"/>
                <a:ea typeface="Arial"/>
                <a:cs typeface="Arial"/>
                <a:sym typeface="Arial"/>
                <a:hlinkClick r:id="rId2" invalidUrl="" action="" tgtFrame="" tooltip="" history="1" highlightClick="0" endSnd="0"/>
              </a:defRPr>
            </a:lvl1pPr>
          </a:lstStyle>
          <a:p>
            <a:pPr>
              <a:defRPr u="none">
                <a:solidFill>
                  <a:srgbClr val="E0E6ED"/>
                </a:solidFill>
                <a:uFillTx/>
              </a:defRPr>
            </a:pPr>
            <a:r>
              <a:rPr u="sng">
                <a:solidFill>
                  <a:srgbClr val="D4AF37"/>
                </a:solidFill>
                <a:uFill>
                  <a:solidFill>
                    <a:srgbClr val="D4AF37"/>
                  </a:solidFill>
                </a:uFill>
                <a:hlinkClick r:id="rId2" invalidUrl="" action="" tgtFrame="" tooltip="" history="1" highlightClick="0" endSnd="0"/>
              </a:rPr>
              <a:t>Pedro H. R. de Andrade</a:t>
            </a:r>
          </a:p>
        </p:txBody>
      </p:sp>
      <p:sp>
        <p:nvSpPr>
          <p:cNvPr id="187" name="TextBox 12"/>
          <p:cNvSpPr txBox="1"/>
          <p:nvPr/>
        </p:nvSpPr>
        <p:spPr>
          <a:xfrm>
            <a:off x="5078600" y="6620256"/>
            <a:ext cx="203449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900">
                <a:solidFill>
                  <a:srgbClr val="E0E6E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Reconciliação Química Estelar • MWBR</a:t>
            </a:r>
          </a:p>
        </p:txBody>
      </p:sp>
      <p:sp>
        <p:nvSpPr>
          <p:cNvPr id="188" name="TextBox 13"/>
          <p:cNvSpPr txBox="1"/>
          <p:nvPr>
            <p:ph type="sldNum" sz="quarter" idx="4294967295"/>
          </p:nvPr>
        </p:nvSpPr>
        <p:spPr>
          <a:xfrm>
            <a:off x="11333174" y="6620256"/>
            <a:ext cx="127001" cy="1270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t"/>
          <a:lstStyle>
            <a:lvl1pPr>
              <a:defRPr sz="900">
                <a:solidFill>
                  <a:srgbClr val="E0E6ED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Rectangle 1"/>
          <p:cNvSpPr/>
          <p:nvPr/>
        </p:nvSpPr>
        <p:spPr>
          <a:xfrm>
            <a:off x="-1" y="592581"/>
            <a:ext cx="12191697" cy="12701"/>
          </a:xfrm>
          <a:prstGeom prst="rect">
            <a:avLst/>
          </a:prstGeom>
          <a:solidFill>
            <a:srgbClr val="50505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1" name="TextBox 2"/>
          <p:cNvSpPr txBox="1"/>
          <p:nvPr/>
        </p:nvSpPr>
        <p:spPr>
          <a:xfrm>
            <a:off x="731519" y="182879"/>
            <a:ext cx="1472891" cy="2096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b="1" sz="1500">
                <a:solidFill>
                  <a:srgbClr val="D4AF3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[ LOGO MWBR ]</a:t>
            </a:r>
          </a:p>
        </p:txBody>
      </p:sp>
      <p:sp>
        <p:nvSpPr>
          <p:cNvPr id="192" name="TextBox 3"/>
          <p:cNvSpPr txBox="1"/>
          <p:nvPr/>
        </p:nvSpPr>
        <p:spPr>
          <a:xfrm>
            <a:off x="9954133" y="182879"/>
            <a:ext cx="1506042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r">
              <a:defRPr sz="1200">
                <a:solidFill>
                  <a:srgbClr val="E0E6E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Milky Way Brazil 2026</a:t>
            </a:r>
          </a:p>
        </p:txBody>
      </p:sp>
      <p:sp>
        <p:nvSpPr>
          <p:cNvPr id="193" name="TextBox 4"/>
          <p:cNvSpPr txBox="1"/>
          <p:nvPr/>
        </p:nvSpPr>
        <p:spPr>
          <a:xfrm>
            <a:off x="731519" y="777240"/>
            <a:ext cx="10728657" cy="3947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800">
                <a:solidFill>
                  <a:srgbClr val="D4AF3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6. A Exceção Singular do Titânio ([Ti/H])</a:t>
            </a:r>
          </a:p>
        </p:txBody>
      </p:sp>
      <p:sp>
        <p:nvSpPr>
          <p:cNvPr id="194" name="TextBox 5"/>
          <p:cNvSpPr txBox="1"/>
          <p:nvPr/>
        </p:nvSpPr>
        <p:spPr>
          <a:xfrm>
            <a:off x="731519" y="1737360"/>
            <a:ext cx="10728657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D4AF3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Incompatibilidade Estatística (p ~ 0.00): </a:t>
            </a:r>
            <a:r>
              <a:rPr b="0">
                <a:solidFill>
                  <a:srgbClr val="E0E6ED"/>
                </a:solidFill>
              </a:rPr>
              <a:t>O slope obtido para [Ti/H] em anãs M diverge severamente em relação às estrelas FGK.</a:t>
            </a:r>
          </a:p>
        </p:txBody>
      </p:sp>
      <p:sp>
        <p:nvSpPr>
          <p:cNvPr id="195" name="TextBox 6"/>
          <p:cNvSpPr txBox="1"/>
          <p:nvPr/>
        </p:nvSpPr>
        <p:spPr>
          <a:xfrm>
            <a:off x="731519" y="2697479"/>
            <a:ext cx="10728657" cy="4005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D4AF3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Gargalo de Condensação: </a:t>
            </a:r>
            <a:r>
              <a:rPr b="0">
                <a:solidFill>
                  <a:srgbClr val="E0E6ED"/>
                </a:solidFill>
              </a:rPr>
              <a:t>Em atmosferas frias de anãs M, o Ti é incorporado na formação de TiO, reduzindo as linhas atômicas livres.</a:t>
            </a:r>
          </a:p>
        </p:txBody>
      </p:sp>
      <p:sp>
        <p:nvSpPr>
          <p:cNvPr id="196" name="TextBox 7"/>
          <p:cNvSpPr txBox="1"/>
          <p:nvPr/>
        </p:nvSpPr>
        <p:spPr>
          <a:xfrm>
            <a:off x="731519" y="3657600"/>
            <a:ext cx="10728657" cy="4005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D4AF3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Vieses em Espectros: </a:t>
            </a:r>
            <a:r>
              <a:rPr b="0">
                <a:solidFill>
                  <a:srgbClr val="E0E6ED"/>
                </a:solidFill>
              </a:rPr>
              <a:t>Uso de linhas de Ti I atômico sem devidas correções de Não-LTE causa subestimação sistemática de abundâncias.</a:t>
            </a:r>
          </a:p>
        </p:txBody>
      </p:sp>
      <p:sp>
        <p:nvSpPr>
          <p:cNvPr id="197" name="TextBox 8"/>
          <p:cNvSpPr txBox="1"/>
          <p:nvPr/>
        </p:nvSpPr>
        <p:spPr>
          <a:xfrm>
            <a:off x="731519" y="4617720"/>
            <a:ext cx="10728657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D4AF3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Causa Identificada: </a:t>
            </a:r>
            <a:r>
              <a:rPr b="0">
                <a:solidFill>
                  <a:srgbClr val="E0E6ED"/>
                </a:solidFill>
              </a:rPr>
              <a:t>A discrepância é de natureza metodológica observacional, e não reflete uma anomalia química real galáctica.</a:t>
            </a:r>
          </a:p>
        </p:txBody>
      </p:sp>
      <p:sp>
        <p:nvSpPr>
          <p:cNvPr id="198" name="Rectangle 9"/>
          <p:cNvSpPr/>
          <p:nvPr/>
        </p:nvSpPr>
        <p:spPr>
          <a:xfrm>
            <a:off x="-1" y="6581902"/>
            <a:ext cx="12191697" cy="12701"/>
          </a:xfrm>
          <a:prstGeom prst="rect">
            <a:avLst/>
          </a:prstGeom>
          <a:solidFill>
            <a:srgbClr val="50505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" name="TextBox 10"/>
          <p:cNvSpPr txBox="1"/>
          <p:nvPr/>
        </p:nvSpPr>
        <p:spPr>
          <a:xfrm>
            <a:off x="731519" y="6620256"/>
            <a:ext cx="122630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900" u="sng">
                <a:solidFill>
                  <a:srgbClr val="D4AF37"/>
                </a:solidFill>
                <a:uFill>
                  <a:solidFill>
                    <a:srgbClr val="D4AF37"/>
                  </a:solidFill>
                </a:uFill>
                <a:latin typeface="Arial"/>
                <a:ea typeface="Arial"/>
                <a:cs typeface="Arial"/>
                <a:sym typeface="Arial"/>
                <a:hlinkClick r:id="rId2" invalidUrl="" action="" tgtFrame="" tooltip="" history="1" highlightClick="0" endSnd="0"/>
              </a:defRPr>
            </a:lvl1pPr>
          </a:lstStyle>
          <a:p>
            <a:pPr>
              <a:defRPr u="none">
                <a:solidFill>
                  <a:srgbClr val="E0E6ED"/>
                </a:solidFill>
                <a:uFillTx/>
              </a:defRPr>
            </a:pPr>
            <a:r>
              <a:rPr u="sng">
                <a:solidFill>
                  <a:srgbClr val="D4AF37"/>
                </a:solidFill>
                <a:uFill>
                  <a:solidFill>
                    <a:srgbClr val="D4AF37"/>
                  </a:solidFill>
                </a:uFill>
                <a:hlinkClick r:id="rId2" invalidUrl="" action="" tgtFrame="" tooltip="" history="1" highlightClick="0" endSnd="0"/>
              </a:rPr>
              <a:t>Pedro H. R. de Andrade</a:t>
            </a:r>
          </a:p>
        </p:txBody>
      </p:sp>
      <p:sp>
        <p:nvSpPr>
          <p:cNvPr id="200" name="TextBox 11"/>
          <p:cNvSpPr txBox="1"/>
          <p:nvPr/>
        </p:nvSpPr>
        <p:spPr>
          <a:xfrm>
            <a:off x="5078600" y="6620256"/>
            <a:ext cx="203449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900">
                <a:solidFill>
                  <a:srgbClr val="E0E6E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Reconciliação Química Estelar • MWBR</a:t>
            </a:r>
          </a:p>
        </p:txBody>
      </p:sp>
      <p:sp>
        <p:nvSpPr>
          <p:cNvPr id="201" name="TextBox 12"/>
          <p:cNvSpPr txBox="1"/>
          <p:nvPr>
            <p:ph type="sldNum" sz="quarter" idx="4294967295"/>
          </p:nvPr>
        </p:nvSpPr>
        <p:spPr>
          <a:xfrm>
            <a:off x="11333174" y="6620256"/>
            <a:ext cx="127001" cy="1270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t"/>
          <a:lstStyle>
            <a:lvl1pPr>
              <a:defRPr sz="900">
                <a:solidFill>
                  <a:srgbClr val="E0E6ED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Rectangle 1"/>
          <p:cNvSpPr/>
          <p:nvPr/>
        </p:nvSpPr>
        <p:spPr>
          <a:xfrm>
            <a:off x="-1" y="592581"/>
            <a:ext cx="12191697" cy="12701"/>
          </a:xfrm>
          <a:prstGeom prst="rect">
            <a:avLst/>
          </a:prstGeom>
          <a:solidFill>
            <a:srgbClr val="50505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4" name="TextBox 2"/>
          <p:cNvSpPr txBox="1"/>
          <p:nvPr/>
        </p:nvSpPr>
        <p:spPr>
          <a:xfrm>
            <a:off x="731519" y="182879"/>
            <a:ext cx="1472891" cy="2096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b="1" sz="1500">
                <a:solidFill>
                  <a:srgbClr val="D4AF3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[ LOGO MWBR ]</a:t>
            </a:r>
          </a:p>
        </p:txBody>
      </p:sp>
      <p:sp>
        <p:nvSpPr>
          <p:cNvPr id="205" name="TextBox 3"/>
          <p:cNvSpPr txBox="1"/>
          <p:nvPr/>
        </p:nvSpPr>
        <p:spPr>
          <a:xfrm>
            <a:off x="9954133" y="182879"/>
            <a:ext cx="1506042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r">
              <a:defRPr sz="1200">
                <a:solidFill>
                  <a:srgbClr val="E0E6E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Milky Way Brazil 2026</a:t>
            </a:r>
          </a:p>
        </p:txBody>
      </p:sp>
      <p:sp>
        <p:nvSpPr>
          <p:cNvPr id="206" name="TextBox 4"/>
          <p:cNvSpPr txBox="1"/>
          <p:nvPr/>
        </p:nvSpPr>
        <p:spPr>
          <a:xfrm>
            <a:off x="731519" y="777240"/>
            <a:ext cx="10728657" cy="3947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800">
                <a:solidFill>
                  <a:srgbClr val="D4AF3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7. Implicações na Caracterização Exoplanetária</a:t>
            </a:r>
          </a:p>
        </p:txBody>
      </p:sp>
      <p:sp>
        <p:nvSpPr>
          <p:cNvPr id="207" name="TextBox 5"/>
          <p:cNvSpPr txBox="1"/>
          <p:nvPr/>
        </p:nvSpPr>
        <p:spPr>
          <a:xfrm>
            <a:off x="731519" y="1737360"/>
            <a:ext cx="10728657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D4AF3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Composição do Disco: </a:t>
            </a:r>
            <a:r>
              <a:rPr b="0">
                <a:solidFill>
                  <a:srgbClr val="E0E6ED"/>
                </a:solidFill>
              </a:rPr>
              <a:t>As abundâncias estelares regulam as frações de refratários e voláteis no disco protoestelar.</a:t>
            </a:r>
          </a:p>
        </p:txBody>
      </p:sp>
      <p:sp>
        <p:nvSpPr>
          <p:cNvPr id="208" name="TextBox 6"/>
          <p:cNvSpPr txBox="1"/>
          <p:nvPr/>
        </p:nvSpPr>
        <p:spPr>
          <a:xfrm>
            <a:off x="731519" y="2697479"/>
            <a:ext cx="10728657" cy="4005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D4AF3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Geofísica de Mundos Rochosos: </a:t>
            </a:r>
            <a:r>
              <a:rPr b="0">
                <a:solidFill>
                  <a:srgbClr val="E0E6ED"/>
                </a:solidFill>
              </a:rPr>
              <a:t>Razões chaves como [Mg/Si] e [C/O] determinam mineralogia do manto e tamanho de núcleos de ferro planetários.</a:t>
            </a:r>
          </a:p>
        </p:txBody>
      </p:sp>
      <p:sp>
        <p:nvSpPr>
          <p:cNvPr id="209" name="TextBox 7"/>
          <p:cNvSpPr txBox="1"/>
          <p:nvPr/>
        </p:nvSpPr>
        <p:spPr>
          <a:xfrm>
            <a:off x="731519" y="3657600"/>
            <a:ext cx="10728657" cy="4005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D4AF3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Parâmetro Ariel: </a:t>
            </a:r>
            <a:r>
              <a:rPr b="0">
                <a:solidFill>
                  <a:srgbClr val="E0E6ED"/>
                </a:solidFill>
              </a:rPr>
              <a:t>A missão espacial Ariel usará a composição química estelar para estimar a geodinâmica e a atmosfera dos exoplanetas.</a:t>
            </a:r>
          </a:p>
        </p:txBody>
      </p:sp>
      <p:sp>
        <p:nvSpPr>
          <p:cNvPr id="210" name="TextBox 8"/>
          <p:cNvSpPr txBox="1"/>
          <p:nvPr/>
        </p:nvSpPr>
        <p:spPr>
          <a:xfrm>
            <a:off x="731519" y="4617720"/>
            <a:ext cx="10728657" cy="4005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D4AF3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GCE como Benchmark: </a:t>
            </a:r>
            <a:r>
              <a:rPr b="0">
                <a:solidFill>
                  <a:srgbClr val="E0E6ED"/>
                </a:solidFill>
              </a:rPr>
              <a:t>A consistência valida o uso de modelos galácticos para normalizar composições em surveys exoplanetários amplos.</a:t>
            </a:r>
          </a:p>
        </p:txBody>
      </p:sp>
      <p:sp>
        <p:nvSpPr>
          <p:cNvPr id="211" name="TextBox 9"/>
          <p:cNvSpPr txBox="1"/>
          <p:nvPr/>
        </p:nvSpPr>
        <p:spPr>
          <a:xfrm>
            <a:off x="731519" y="6035040"/>
            <a:ext cx="1666740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i="1" sz="1000">
                <a:solidFill>
                  <a:srgbClr val="E0E6E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Ref: Ariel White Paper (2021)</a:t>
            </a:r>
          </a:p>
        </p:txBody>
      </p:sp>
      <p:sp>
        <p:nvSpPr>
          <p:cNvPr id="212" name="Rectangle 10"/>
          <p:cNvSpPr/>
          <p:nvPr/>
        </p:nvSpPr>
        <p:spPr>
          <a:xfrm>
            <a:off x="-1" y="6581902"/>
            <a:ext cx="12191697" cy="12701"/>
          </a:xfrm>
          <a:prstGeom prst="rect">
            <a:avLst/>
          </a:prstGeom>
          <a:solidFill>
            <a:srgbClr val="50505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3" name="TextBox 11"/>
          <p:cNvSpPr txBox="1"/>
          <p:nvPr/>
        </p:nvSpPr>
        <p:spPr>
          <a:xfrm>
            <a:off x="731519" y="6620256"/>
            <a:ext cx="122630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900" u="sng">
                <a:solidFill>
                  <a:srgbClr val="D4AF37"/>
                </a:solidFill>
                <a:uFill>
                  <a:solidFill>
                    <a:srgbClr val="D4AF37"/>
                  </a:solidFill>
                </a:uFill>
                <a:latin typeface="Arial"/>
                <a:ea typeface="Arial"/>
                <a:cs typeface="Arial"/>
                <a:sym typeface="Arial"/>
                <a:hlinkClick r:id="rId2" invalidUrl="" action="" tgtFrame="" tooltip="" history="1" highlightClick="0" endSnd="0"/>
              </a:defRPr>
            </a:lvl1pPr>
          </a:lstStyle>
          <a:p>
            <a:pPr>
              <a:defRPr u="none">
                <a:solidFill>
                  <a:srgbClr val="E0E6ED"/>
                </a:solidFill>
                <a:uFillTx/>
              </a:defRPr>
            </a:pPr>
            <a:r>
              <a:rPr u="sng">
                <a:solidFill>
                  <a:srgbClr val="D4AF37"/>
                </a:solidFill>
                <a:uFill>
                  <a:solidFill>
                    <a:srgbClr val="D4AF37"/>
                  </a:solidFill>
                </a:uFill>
                <a:hlinkClick r:id="rId2" invalidUrl="" action="" tgtFrame="" tooltip="" history="1" highlightClick="0" endSnd="0"/>
              </a:rPr>
              <a:t>Pedro H. R. de Andrade</a:t>
            </a:r>
          </a:p>
        </p:txBody>
      </p:sp>
      <p:sp>
        <p:nvSpPr>
          <p:cNvPr id="214" name="TextBox 12"/>
          <p:cNvSpPr txBox="1"/>
          <p:nvPr/>
        </p:nvSpPr>
        <p:spPr>
          <a:xfrm>
            <a:off x="5078600" y="6620256"/>
            <a:ext cx="203449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900">
                <a:solidFill>
                  <a:srgbClr val="E0E6E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Reconciliação Química Estelar • MWBR</a:t>
            </a:r>
          </a:p>
        </p:txBody>
      </p:sp>
      <p:sp>
        <p:nvSpPr>
          <p:cNvPr id="215" name="TextBox 13"/>
          <p:cNvSpPr txBox="1"/>
          <p:nvPr>
            <p:ph type="sldNum" sz="quarter" idx="4294967295"/>
          </p:nvPr>
        </p:nvSpPr>
        <p:spPr>
          <a:xfrm>
            <a:off x="11333174" y="6620256"/>
            <a:ext cx="127001" cy="1270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t"/>
          <a:lstStyle>
            <a:lvl1pPr>
              <a:defRPr sz="900">
                <a:solidFill>
                  <a:srgbClr val="E0E6ED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Rectangle 1"/>
          <p:cNvSpPr/>
          <p:nvPr/>
        </p:nvSpPr>
        <p:spPr>
          <a:xfrm>
            <a:off x="-1" y="592581"/>
            <a:ext cx="12191697" cy="12701"/>
          </a:xfrm>
          <a:prstGeom prst="rect">
            <a:avLst/>
          </a:prstGeom>
          <a:solidFill>
            <a:srgbClr val="50505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8" name="TextBox 2"/>
          <p:cNvSpPr txBox="1"/>
          <p:nvPr/>
        </p:nvSpPr>
        <p:spPr>
          <a:xfrm>
            <a:off x="731519" y="182879"/>
            <a:ext cx="1472891" cy="2096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b="1" sz="1500">
                <a:solidFill>
                  <a:srgbClr val="D4AF3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[ LOGO MWBR ]</a:t>
            </a:r>
          </a:p>
        </p:txBody>
      </p:sp>
      <p:sp>
        <p:nvSpPr>
          <p:cNvPr id="219" name="TextBox 3"/>
          <p:cNvSpPr txBox="1"/>
          <p:nvPr/>
        </p:nvSpPr>
        <p:spPr>
          <a:xfrm>
            <a:off x="9954133" y="182879"/>
            <a:ext cx="1506042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r">
              <a:defRPr sz="1200">
                <a:solidFill>
                  <a:srgbClr val="E0E6E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Milky Way Brazil 2026</a:t>
            </a:r>
          </a:p>
        </p:txBody>
      </p:sp>
      <p:sp>
        <p:nvSpPr>
          <p:cNvPr id="220" name="TextBox 4"/>
          <p:cNvSpPr txBox="1"/>
          <p:nvPr/>
        </p:nvSpPr>
        <p:spPr>
          <a:xfrm>
            <a:off x="731519" y="777240"/>
            <a:ext cx="10728657" cy="3947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800">
                <a:solidFill>
                  <a:srgbClr val="D4AF3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8. Conclusões e Perspectivas Futuras</a:t>
            </a:r>
          </a:p>
        </p:txBody>
      </p:sp>
      <p:sp>
        <p:nvSpPr>
          <p:cNvPr id="221" name="TextBox 5"/>
          <p:cNvSpPr txBox="1"/>
          <p:nvPr/>
        </p:nvSpPr>
        <p:spPr>
          <a:xfrm>
            <a:off x="731519" y="1737360"/>
            <a:ext cx="10728657" cy="4005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D4AF3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Coerência Química: </a:t>
            </a:r>
            <a:r>
              <a:rPr b="0">
                <a:solidFill>
                  <a:srgbClr val="E0E6ED"/>
                </a:solidFill>
              </a:rPr>
              <a:t>Anãs M e estrelas FGK na vizinhança solar compartilham da mesma história de enriquecimento químico galáctico.</a:t>
            </a:r>
          </a:p>
        </p:txBody>
      </p:sp>
      <p:sp>
        <p:nvSpPr>
          <p:cNvPr id="222" name="TextBox 6"/>
          <p:cNvSpPr txBox="1"/>
          <p:nvPr/>
        </p:nvSpPr>
        <p:spPr>
          <a:xfrm>
            <a:off x="731519" y="2697479"/>
            <a:ext cx="10728657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D4AF3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Superação de Vieses: </a:t>
            </a:r>
            <a:r>
              <a:rPr b="0">
                <a:solidFill>
                  <a:srgbClr val="E0E6ED"/>
                </a:solidFill>
              </a:rPr>
              <a:t>Modelos tridimensionais fora de LTE são cruciais para reestabelecer concordâncias espectroscópicas.</a:t>
            </a:r>
          </a:p>
        </p:txBody>
      </p:sp>
      <p:sp>
        <p:nvSpPr>
          <p:cNvPr id="223" name="TextBox 7"/>
          <p:cNvSpPr txBox="1"/>
          <p:nvPr/>
        </p:nvSpPr>
        <p:spPr>
          <a:xfrm>
            <a:off x="731519" y="3657600"/>
            <a:ext cx="10728657" cy="4005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D4AF3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Calibração Teórica: </a:t>
            </a:r>
            <a:r>
              <a:rPr b="0">
                <a:solidFill>
                  <a:srgbClr val="E0E6ED"/>
                </a:solidFill>
              </a:rPr>
              <a:t>Códigos de evolução química como o OMEGA+ servem como verificação independente de discrepâncias espectrais.</a:t>
            </a:r>
          </a:p>
        </p:txBody>
      </p:sp>
      <p:sp>
        <p:nvSpPr>
          <p:cNvPr id="224" name="TextBox 8"/>
          <p:cNvSpPr txBox="1"/>
          <p:nvPr/>
        </p:nvSpPr>
        <p:spPr>
          <a:xfrm>
            <a:off x="731519" y="4617720"/>
            <a:ext cx="10728657" cy="4005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D4AF3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Apoio a Exoplanetas: </a:t>
            </a:r>
            <a:r>
              <a:rPr b="0">
                <a:solidFill>
                  <a:srgbClr val="E0E6ED"/>
                </a:solidFill>
              </a:rPr>
              <a:t>A determinação refinada das abundâncias estelares garante inferências precisas sobre interiores de exoplanetas.</a:t>
            </a:r>
          </a:p>
        </p:txBody>
      </p:sp>
      <p:sp>
        <p:nvSpPr>
          <p:cNvPr id="225" name="Rectangle 9"/>
          <p:cNvSpPr/>
          <p:nvPr/>
        </p:nvSpPr>
        <p:spPr>
          <a:xfrm>
            <a:off x="-1" y="6581902"/>
            <a:ext cx="12191697" cy="12701"/>
          </a:xfrm>
          <a:prstGeom prst="rect">
            <a:avLst/>
          </a:prstGeom>
          <a:solidFill>
            <a:srgbClr val="50505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6" name="TextBox 10"/>
          <p:cNvSpPr txBox="1"/>
          <p:nvPr/>
        </p:nvSpPr>
        <p:spPr>
          <a:xfrm>
            <a:off x="731519" y="6620256"/>
            <a:ext cx="122630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900" u="sng">
                <a:solidFill>
                  <a:srgbClr val="D4AF37"/>
                </a:solidFill>
                <a:uFill>
                  <a:solidFill>
                    <a:srgbClr val="D4AF37"/>
                  </a:solidFill>
                </a:uFill>
                <a:latin typeface="Arial"/>
                <a:ea typeface="Arial"/>
                <a:cs typeface="Arial"/>
                <a:sym typeface="Arial"/>
                <a:hlinkClick r:id="rId2" invalidUrl="" action="" tgtFrame="" tooltip="" history="1" highlightClick="0" endSnd="0"/>
              </a:defRPr>
            </a:lvl1pPr>
          </a:lstStyle>
          <a:p>
            <a:pPr>
              <a:defRPr u="none">
                <a:solidFill>
                  <a:srgbClr val="E0E6ED"/>
                </a:solidFill>
                <a:uFillTx/>
              </a:defRPr>
            </a:pPr>
            <a:r>
              <a:rPr u="sng">
                <a:solidFill>
                  <a:srgbClr val="D4AF37"/>
                </a:solidFill>
                <a:uFill>
                  <a:solidFill>
                    <a:srgbClr val="D4AF37"/>
                  </a:solidFill>
                </a:uFill>
                <a:hlinkClick r:id="rId2" invalidUrl="" action="" tgtFrame="" tooltip="" history="1" highlightClick="0" endSnd="0"/>
              </a:rPr>
              <a:t>Pedro H. R. de Andrade</a:t>
            </a:r>
          </a:p>
        </p:txBody>
      </p:sp>
      <p:sp>
        <p:nvSpPr>
          <p:cNvPr id="227" name="TextBox 11"/>
          <p:cNvSpPr txBox="1"/>
          <p:nvPr/>
        </p:nvSpPr>
        <p:spPr>
          <a:xfrm>
            <a:off x="5078600" y="6620256"/>
            <a:ext cx="203449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900">
                <a:solidFill>
                  <a:srgbClr val="E0E6E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Reconciliação Química Estelar • MWBR</a:t>
            </a:r>
          </a:p>
        </p:txBody>
      </p:sp>
      <p:sp>
        <p:nvSpPr>
          <p:cNvPr id="228" name="TextBox 12"/>
          <p:cNvSpPr txBox="1"/>
          <p:nvPr>
            <p:ph type="sldNum" sz="quarter" idx="4294967295"/>
          </p:nvPr>
        </p:nvSpPr>
        <p:spPr>
          <a:xfrm>
            <a:off x="11331612" y="6620256"/>
            <a:ext cx="128563" cy="1270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t"/>
          <a:lstStyle>
            <a:lvl1pPr>
              <a:defRPr sz="900">
                <a:solidFill>
                  <a:srgbClr val="E0E6ED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Rectangle 1"/>
          <p:cNvSpPr/>
          <p:nvPr/>
        </p:nvSpPr>
        <p:spPr>
          <a:xfrm>
            <a:off x="-1" y="592581"/>
            <a:ext cx="12191697" cy="12701"/>
          </a:xfrm>
          <a:prstGeom prst="rect">
            <a:avLst/>
          </a:prstGeom>
          <a:solidFill>
            <a:srgbClr val="50505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1" name="TextBox 2"/>
          <p:cNvSpPr txBox="1"/>
          <p:nvPr/>
        </p:nvSpPr>
        <p:spPr>
          <a:xfrm>
            <a:off x="731519" y="182879"/>
            <a:ext cx="1472891" cy="2096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b="1" sz="1500">
                <a:solidFill>
                  <a:srgbClr val="D4AF3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[ LOGO MWBR ]</a:t>
            </a:r>
          </a:p>
        </p:txBody>
      </p:sp>
      <p:sp>
        <p:nvSpPr>
          <p:cNvPr id="232" name="TextBox 3"/>
          <p:cNvSpPr txBox="1"/>
          <p:nvPr/>
        </p:nvSpPr>
        <p:spPr>
          <a:xfrm>
            <a:off x="9954133" y="182879"/>
            <a:ext cx="1506042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r">
              <a:defRPr sz="1200">
                <a:solidFill>
                  <a:srgbClr val="E0E6E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Milky Way Brazil 2026</a:t>
            </a:r>
          </a:p>
        </p:txBody>
      </p:sp>
      <p:sp>
        <p:nvSpPr>
          <p:cNvPr id="233" name="TextBox 4"/>
          <p:cNvSpPr txBox="1"/>
          <p:nvPr/>
        </p:nvSpPr>
        <p:spPr>
          <a:xfrm>
            <a:off x="731519" y="777240"/>
            <a:ext cx="10728657" cy="3947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800">
                <a:solidFill>
                  <a:srgbClr val="D4AF3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9. Síntese do Conteúdo</a:t>
            </a:r>
          </a:p>
        </p:txBody>
      </p:sp>
      <p:sp>
        <p:nvSpPr>
          <p:cNvPr id="234" name="TextBox 5"/>
          <p:cNvSpPr txBox="1"/>
          <p:nvPr/>
        </p:nvSpPr>
        <p:spPr>
          <a:xfrm>
            <a:off x="731519" y="1737360"/>
            <a:ext cx="10728657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D4AF3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Modelagem 3D NLTE: </a:t>
            </a:r>
            <a:r>
              <a:rPr b="0">
                <a:solidFill>
                  <a:srgbClr val="E0E6ED"/>
                </a:solidFill>
              </a:rPr>
              <a:t>Fundamental para eliminar discrepâncias artificiais nas anãs M.</a:t>
            </a:r>
          </a:p>
        </p:txBody>
      </p:sp>
      <p:sp>
        <p:nvSpPr>
          <p:cNvPr id="235" name="TextBox 6"/>
          <p:cNvSpPr txBox="1"/>
          <p:nvPr/>
        </p:nvSpPr>
        <p:spPr>
          <a:xfrm>
            <a:off x="731519" y="2697479"/>
            <a:ext cx="10728657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D4AF3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Harmonia Química Local: </a:t>
            </a:r>
            <a:r>
              <a:rPr b="0">
                <a:solidFill>
                  <a:srgbClr val="E0E6ED"/>
                </a:solidFill>
              </a:rPr>
              <a:t>Abundâncias de C, O, Na e Ni no disco local são homogêneas.</a:t>
            </a:r>
          </a:p>
        </p:txBody>
      </p:sp>
      <p:sp>
        <p:nvSpPr>
          <p:cNvPr id="236" name="TextBox 7"/>
          <p:cNvSpPr txBox="1"/>
          <p:nvPr/>
        </p:nvSpPr>
        <p:spPr>
          <a:xfrm>
            <a:off x="731519" y="3657600"/>
            <a:ext cx="10728657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D4AF3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Desvio Metodológico: </a:t>
            </a:r>
            <a:r>
              <a:rPr b="0">
                <a:solidFill>
                  <a:srgbClr val="E0E6ED"/>
                </a:solidFill>
              </a:rPr>
              <a:t>O desvio de [Ti/H] é físico-químico (TiO e LTE), não nucleossintético.</a:t>
            </a:r>
          </a:p>
        </p:txBody>
      </p:sp>
      <p:sp>
        <p:nvSpPr>
          <p:cNvPr id="237" name="TextBox 8"/>
          <p:cNvSpPr txBox="1"/>
          <p:nvPr/>
        </p:nvSpPr>
        <p:spPr>
          <a:xfrm>
            <a:off x="731519" y="4617720"/>
            <a:ext cx="10728657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D4AF3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Base para Exoplanetas: </a:t>
            </a:r>
            <a:r>
              <a:rPr b="0">
                <a:solidFill>
                  <a:srgbClr val="E0E6ED"/>
                </a:solidFill>
              </a:rPr>
              <a:t>Validação dos modelos GCE como referência para caracterizar outros mundos.</a:t>
            </a:r>
          </a:p>
        </p:txBody>
      </p:sp>
      <p:sp>
        <p:nvSpPr>
          <p:cNvPr id="238" name="Rectangle 9"/>
          <p:cNvSpPr/>
          <p:nvPr/>
        </p:nvSpPr>
        <p:spPr>
          <a:xfrm>
            <a:off x="-1" y="6581902"/>
            <a:ext cx="12191697" cy="12701"/>
          </a:xfrm>
          <a:prstGeom prst="rect">
            <a:avLst/>
          </a:prstGeom>
          <a:solidFill>
            <a:srgbClr val="50505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9" name="TextBox 10"/>
          <p:cNvSpPr txBox="1"/>
          <p:nvPr/>
        </p:nvSpPr>
        <p:spPr>
          <a:xfrm>
            <a:off x="731519" y="6620256"/>
            <a:ext cx="122630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900" u="sng">
                <a:solidFill>
                  <a:srgbClr val="D4AF37"/>
                </a:solidFill>
                <a:uFill>
                  <a:solidFill>
                    <a:srgbClr val="D4AF37"/>
                  </a:solidFill>
                </a:uFill>
                <a:latin typeface="Arial"/>
                <a:ea typeface="Arial"/>
                <a:cs typeface="Arial"/>
                <a:sym typeface="Arial"/>
                <a:hlinkClick r:id="rId2" invalidUrl="" action="" tgtFrame="" tooltip="" history="1" highlightClick="0" endSnd="0"/>
              </a:defRPr>
            </a:lvl1pPr>
          </a:lstStyle>
          <a:p>
            <a:pPr>
              <a:defRPr u="none">
                <a:solidFill>
                  <a:srgbClr val="E0E6ED"/>
                </a:solidFill>
                <a:uFillTx/>
              </a:defRPr>
            </a:pPr>
            <a:r>
              <a:rPr u="sng">
                <a:solidFill>
                  <a:srgbClr val="D4AF37"/>
                </a:solidFill>
                <a:uFill>
                  <a:solidFill>
                    <a:srgbClr val="D4AF37"/>
                  </a:solidFill>
                </a:uFill>
                <a:hlinkClick r:id="rId2" invalidUrl="" action="" tgtFrame="" tooltip="" history="1" highlightClick="0" endSnd="0"/>
              </a:rPr>
              <a:t>Pedro H. R. de Andrade</a:t>
            </a:r>
          </a:p>
        </p:txBody>
      </p:sp>
      <p:sp>
        <p:nvSpPr>
          <p:cNvPr id="240" name="TextBox 11"/>
          <p:cNvSpPr txBox="1"/>
          <p:nvPr/>
        </p:nvSpPr>
        <p:spPr>
          <a:xfrm>
            <a:off x="5078600" y="6620256"/>
            <a:ext cx="203449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900">
                <a:solidFill>
                  <a:srgbClr val="E0E6E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Reconciliação Química Estelar • MWBR</a:t>
            </a:r>
          </a:p>
        </p:txBody>
      </p:sp>
      <p:sp>
        <p:nvSpPr>
          <p:cNvPr id="241" name="TextBox 12"/>
          <p:cNvSpPr txBox="1"/>
          <p:nvPr>
            <p:ph type="sldNum" sz="quarter" idx="4294967295"/>
          </p:nvPr>
        </p:nvSpPr>
        <p:spPr>
          <a:xfrm>
            <a:off x="11331612" y="6620256"/>
            <a:ext cx="128563" cy="1270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t"/>
          <a:lstStyle>
            <a:lvl1pPr>
              <a:defRPr sz="900">
                <a:solidFill>
                  <a:srgbClr val="E0E6ED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Rectangle 1"/>
          <p:cNvSpPr/>
          <p:nvPr/>
        </p:nvSpPr>
        <p:spPr>
          <a:xfrm>
            <a:off x="-1" y="592581"/>
            <a:ext cx="12191697" cy="12701"/>
          </a:xfrm>
          <a:prstGeom prst="rect">
            <a:avLst/>
          </a:prstGeom>
          <a:solidFill>
            <a:srgbClr val="50505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4" name="TextBox 2"/>
          <p:cNvSpPr txBox="1"/>
          <p:nvPr/>
        </p:nvSpPr>
        <p:spPr>
          <a:xfrm>
            <a:off x="731519" y="182879"/>
            <a:ext cx="1472891" cy="2096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b="1" sz="1500">
                <a:solidFill>
                  <a:srgbClr val="D4AF3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[ LOGO MWBR ]</a:t>
            </a:r>
          </a:p>
        </p:txBody>
      </p:sp>
      <p:sp>
        <p:nvSpPr>
          <p:cNvPr id="245" name="TextBox 3"/>
          <p:cNvSpPr txBox="1"/>
          <p:nvPr/>
        </p:nvSpPr>
        <p:spPr>
          <a:xfrm>
            <a:off x="9954133" y="182879"/>
            <a:ext cx="1506042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r">
              <a:defRPr sz="1200">
                <a:solidFill>
                  <a:srgbClr val="E0E6E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Milky Way Brazil 2026</a:t>
            </a:r>
          </a:p>
        </p:txBody>
      </p:sp>
      <p:sp>
        <p:nvSpPr>
          <p:cNvPr id="246" name="TextBox 4"/>
          <p:cNvSpPr txBox="1"/>
          <p:nvPr/>
        </p:nvSpPr>
        <p:spPr>
          <a:xfrm>
            <a:off x="731519" y="777240"/>
            <a:ext cx="10728657" cy="3947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800">
                <a:solidFill>
                  <a:srgbClr val="D4AF3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Referências Bibliográficas</a:t>
            </a:r>
          </a:p>
        </p:txBody>
      </p:sp>
      <p:sp>
        <p:nvSpPr>
          <p:cNvPr id="247" name="TextBox 5"/>
          <p:cNvSpPr txBox="1"/>
          <p:nvPr/>
        </p:nvSpPr>
        <p:spPr>
          <a:xfrm>
            <a:off x="731519" y="1737360"/>
            <a:ext cx="10728657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D4AF3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• Trueman, T. C. L., et al. 2026, </a:t>
            </a:r>
            <a:r>
              <a:rPr b="0">
                <a:solidFill>
                  <a:srgbClr val="E0E6ED"/>
                </a:solidFill>
              </a:rPr>
              <a:t>ApJ, 1024, L15 (Paper base do MWBR)</a:t>
            </a:r>
          </a:p>
        </p:txBody>
      </p:sp>
      <p:sp>
        <p:nvSpPr>
          <p:cNvPr id="248" name="TextBox 6"/>
          <p:cNvSpPr txBox="1"/>
          <p:nvPr/>
        </p:nvSpPr>
        <p:spPr>
          <a:xfrm>
            <a:off x="731519" y="2423160"/>
            <a:ext cx="10728657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D4AF3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• Amarsi, A. M., et al. 2019, </a:t>
            </a:r>
            <a:r>
              <a:rPr b="0">
                <a:solidFill>
                  <a:srgbClr val="E0E6ED"/>
                </a:solidFill>
              </a:rPr>
              <a:t>A&amp;A, 624, A111 (Correções Não-LTE 3D para estrelas FGK)</a:t>
            </a:r>
          </a:p>
        </p:txBody>
      </p:sp>
      <p:sp>
        <p:nvSpPr>
          <p:cNvPr id="249" name="TextBox 7"/>
          <p:cNvSpPr txBox="1"/>
          <p:nvPr/>
        </p:nvSpPr>
        <p:spPr>
          <a:xfrm>
            <a:off x="731519" y="3108960"/>
            <a:ext cx="10728657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D4AF3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• Bergemann, M., et al. 2017, </a:t>
            </a:r>
            <a:r>
              <a:rPr b="0">
                <a:solidFill>
                  <a:srgbClr val="E0E6ED"/>
                </a:solidFill>
              </a:rPr>
              <a:t>MNRAS, 471, 331 (Modelos de atmosferas estelares em NLTE)</a:t>
            </a:r>
          </a:p>
        </p:txBody>
      </p:sp>
      <p:sp>
        <p:nvSpPr>
          <p:cNvPr id="250" name="TextBox 8"/>
          <p:cNvSpPr txBox="1"/>
          <p:nvPr/>
        </p:nvSpPr>
        <p:spPr>
          <a:xfrm>
            <a:off x="731519" y="3794759"/>
            <a:ext cx="10728657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D4AF3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• Nomoto, K., et al. 2013, </a:t>
            </a:r>
            <a:r>
              <a:rPr b="0">
                <a:solidFill>
                  <a:srgbClr val="E0E6ED"/>
                </a:solidFill>
              </a:rPr>
              <a:t>ARA&amp;A, 51, 457 (Rendimentos químicos galácticos para CCSN)</a:t>
            </a:r>
          </a:p>
        </p:txBody>
      </p:sp>
      <p:sp>
        <p:nvSpPr>
          <p:cNvPr id="251" name="TextBox 9"/>
          <p:cNvSpPr txBox="1"/>
          <p:nvPr/>
        </p:nvSpPr>
        <p:spPr>
          <a:xfrm>
            <a:off x="731519" y="4480559"/>
            <a:ext cx="10728657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D4AF3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• Limongi, M., &amp; Chieffi, A. 2018, </a:t>
            </a:r>
            <a:r>
              <a:rPr b="0">
                <a:solidFill>
                  <a:srgbClr val="E0E6ED"/>
                </a:solidFill>
              </a:rPr>
              <a:t>ApJS, 237, 13 (Nucleossíntese em estrelas massivas rotativas)</a:t>
            </a:r>
          </a:p>
        </p:txBody>
      </p:sp>
      <p:sp>
        <p:nvSpPr>
          <p:cNvPr id="252" name="TextBox 10"/>
          <p:cNvSpPr txBox="1"/>
          <p:nvPr/>
        </p:nvSpPr>
        <p:spPr>
          <a:xfrm>
            <a:off x="731519" y="5166359"/>
            <a:ext cx="10728657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D4AF3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• Gustafsson, B., et al. 2008, </a:t>
            </a:r>
            <a:r>
              <a:rPr b="0">
                <a:solidFill>
                  <a:srgbClr val="E0E6ED"/>
                </a:solidFill>
              </a:rPr>
              <a:t>A&amp;A, 486, 951 (Grade de atmosferas modelo MARCS)</a:t>
            </a:r>
          </a:p>
        </p:txBody>
      </p:sp>
      <p:sp>
        <p:nvSpPr>
          <p:cNvPr id="253" name="Rectangle 11"/>
          <p:cNvSpPr/>
          <p:nvPr/>
        </p:nvSpPr>
        <p:spPr>
          <a:xfrm>
            <a:off x="-1" y="6581902"/>
            <a:ext cx="12191697" cy="12701"/>
          </a:xfrm>
          <a:prstGeom prst="rect">
            <a:avLst/>
          </a:prstGeom>
          <a:solidFill>
            <a:srgbClr val="50505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4" name="TextBox 12"/>
          <p:cNvSpPr txBox="1"/>
          <p:nvPr/>
        </p:nvSpPr>
        <p:spPr>
          <a:xfrm>
            <a:off x="731519" y="6620256"/>
            <a:ext cx="122630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900" u="sng">
                <a:solidFill>
                  <a:srgbClr val="D4AF37"/>
                </a:solidFill>
                <a:uFill>
                  <a:solidFill>
                    <a:srgbClr val="D4AF37"/>
                  </a:solidFill>
                </a:uFill>
                <a:latin typeface="Arial"/>
                <a:ea typeface="Arial"/>
                <a:cs typeface="Arial"/>
                <a:sym typeface="Arial"/>
                <a:hlinkClick r:id="rId2" invalidUrl="" action="" tgtFrame="" tooltip="" history="1" highlightClick="0" endSnd="0"/>
              </a:defRPr>
            </a:lvl1pPr>
          </a:lstStyle>
          <a:p>
            <a:pPr>
              <a:defRPr u="none">
                <a:solidFill>
                  <a:srgbClr val="E0E6ED"/>
                </a:solidFill>
                <a:uFillTx/>
              </a:defRPr>
            </a:pPr>
            <a:r>
              <a:rPr u="sng">
                <a:solidFill>
                  <a:srgbClr val="D4AF37"/>
                </a:solidFill>
                <a:uFill>
                  <a:solidFill>
                    <a:srgbClr val="D4AF37"/>
                  </a:solidFill>
                </a:uFill>
                <a:hlinkClick r:id="rId2" invalidUrl="" action="" tgtFrame="" tooltip="" history="1" highlightClick="0" endSnd="0"/>
              </a:rPr>
              <a:t>Pedro H. R. de Andrade</a:t>
            </a:r>
          </a:p>
        </p:txBody>
      </p:sp>
      <p:sp>
        <p:nvSpPr>
          <p:cNvPr id="255" name="TextBox 13"/>
          <p:cNvSpPr txBox="1"/>
          <p:nvPr/>
        </p:nvSpPr>
        <p:spPr>
          <a:xfrm>
            <a:off x="5078600" y="6620256"/>
            <a:ext cx="203449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900">
                <a:solidFill>
                  <a:srgbClr val="E0E6E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Reconciliação Química Estelar • MWBR</a:t>
            </a:r>
          </a:p>
        </p:txBody>
      </p:sp>
      <p:sp>
        <p:nvSpPr>
          <p:cNvPr id="256" name="TextBox 14"/>
          <p:cNvSpPr txBox="1"/>
          <p:nvPr>
            <p:ph type="sldNum" sz="quarter" idx="4294967295"/>
          </p:nvPr>
        </p:nvSpPr>
        <p:spPr>
          <a:xfrm>
            <a:off x="11331612" y="6620256"/>
            <a:ext cx="128563" cy="1270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t"/>
          <a:lstStyle>
            <a:lvl1pPr>
              <a:defRPr sz="900">
                <a:solidFill>
                  <a:srgbClr val="E0E6ED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1696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259" name="TextBox 2"/>
          <p:cNvSpPr txBox="1"/>
          <p:nvPr/>
        </p:nvSpPr>
        <p:spPr>
          <a:xfrm>
            <a:off x="666069" y="598048"/>
            <a:ext cx="3744477" cy="18191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b="1" sz="6000">
                <a:solidFill>
                  <a:srgbClr val="D4AF3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Obrigado!</a:t>
            </a:r>
          </a:p>
          <a:p>
            <a:pPr>
              <a:defRPr b="1"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Dúvidas?</a:t>
            </a:r>
          </a:p>
        </p:txBody>
      </p:sp>
      <p:sp>
        <p:nvSpPr>
          <p:cNvPr id="260" name="TextBox 3"/>
          <p:cNvSpPr txBox="1"/>
          <p:nvPr/>
        </p:nvSpPr>
        <p:spPr>
          <a:xfrm>
            <a:off x="641365" y="2849554"/>
            <a:ext cx="4967936" cy="11588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400"/>
              </a:spcBef>
              <a:defRPr b="1" sz="3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Pedro H. R. de Andrade</a:t>
            </a:r>
            <a:endParaRPr>
              <a:solidFill>
                <a:srgbClr val="D4AF37"/>
              </a:solidFill>
            </a:endParaRPr>
          </a:p>
          <a:p>
            <a:pPr>
              <a:spcBef>
                <a:spcPts val="1400"/>
              </a:spcBef>
              <a:defRPr sz="2900">
                <a:solidFill>
                  <a:srgbClr val="D4AF3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E-mail: pedroiff0@gmail.com</a:t>
            </a:r>
          </a:p>
        </p:txBody>
      </p:sp>
      <p:pic>
        <p:nvPicPr>
          <p:cNvPr id="261" name="Picture 4" descr="Picture 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630639" y="-26774"/>
            <a:ext cx="6583023" cy="6583023"/>
          </a:xfrm>
          <a:prstGeom prst="rect">
            <a:avLst/>
          </a:prstGeom>
          <a:ln w="12700">
            <a:miter lim="400000"/>
          </a:ln>
        </p:spPr>
      </p:pic>
      <p:sp>
        <p:nvSpPr>
          <p:cNvPr id="262" name="TextBox 5"/>
          <p:cNvSpPr txBox="1"/>
          <p:nvPr/>
        </p:nvSpPr>
        <p:spPr>
          <a:xfrm>
            <a:off x="6316110" y="6131879"/>
            <a:ext cx="5212081" cy="4370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i="1" sz="2400">
                <a:solidFill>
                  <a:srgbClr val="CEB04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www.phrandrade.com/pt-br/resource</a:t>
            </a:r>
          </a:p>
        </p:txBody>
      </p:sp>
      <p:sp>
        <p:nvSpPr>
          <p:cNvPr id="263" name="Rectangle 6"/>
          <p:cNvSpPr/>
          <p:nvPr/>
        </p:nvSpPr>
        <p:spPr>
          <a:xfrm>
            <a:off x="-1" y="6581902"/>
            <a:ext cx="12191697" cy="12701"/>
          </a:xfrm>
          <a:prstGeom prst="rect">
            <a:avLst/>
          </a:prstGeom>
          <a:solidFill>
            <a:srgbClr val="50505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4" name="TextBox 7"/>
          <p:cNvSpPr txBox="1"/>
          <p:nvPr/>
        </p:nvSpPr>
        <p:spPr>
          <a:xfrm>
            <a:off x="731519" y="6620256"/>
            <a:ext cx="1765680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300" u="sng">
                <a:solidFill>
                  <a:srgbClr val="D4AF37"/>
                </a:solidFill>
                <a:uFill>
                  <a:solidFill>
                    <a:srgbClr val="D4AF37"/>
                  </a:solidFill>
                </a:uFill>
                <a:latin typeface="Arial"/>
                <a:ea typeface="Arial"/>
                <a:cs typeface="Arial"/>
                <a:sym typeface="Arial"/>
                <a:hlinkClick r:id="rId4" invalidUrl="" action="" tgtFrame="" tooltip="" history="1" highlightClick="0" endSnd="0"/>
              </a:defRPr>
            </a:lvl1pPr>
          </a:lstStyle>
          <a:p>
            <a:pPr>
              <a:defRPr u="none">
                <a:solidFill>
                  <a:srgbClr val="E0E6ED"/>
                </a:solidFill>
                <a:uFillTx/>
              </a:defRPr>
            </a:pPr>
            <a:r>
              <a:rPr u="sng">
                <a:solidFill>
                  <a:srgbClr val="D4AF37"/>
                </a:solidFill>
                <a:uFill>
                  <a:solidFill>
                    <a:srgbClr val="D4AF37"/>
                  </a:solidFill>
                </a:uFill>
                <a:hlinkClick r:id="rId4" invalidUrl="" action="" tgtFrame="" tooltip="" history="1" highlightClick="0" endSnd="0"/>
              </a:rPr>
              <a:t>Pedro H. R. de Andrade</a:t>
            </a:r>
          </a:p>
        </p:txBody>
      </p:sp>
      <p:sp>
        <p:nvSpPr>
          <p:cNvPr id="265" name="TextBox 8"/>
          <p:cNvSpPr txBox="1"/>
          <p:nvPr/>
        </p:nvSpPr>
        <p:spPr>
          <a:xfrm>
            <a:off x="4516991" y="6620256"/>
            <a:ext cx="3157712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400">
                <a:solidFill>
                  <a:srgbClr val="E0E6E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Reconciliação Química Estelar • MWBR</a:t>
            </a:r>
          </a:p>
        </p:txBody>
      </p:sp>
      <p:sp>
        <p:nvSpPr>
          <p:cNvPr id="266" name="TextBox 9"/>
          <p:cNvSpPr txBox="1"/>
          <p:nvPr>
            <p:ph type="sldNum" sz="quarter" idx="4294967295"/>
          </p:nvPr>
        </p:nvSpPr>
        <p:spPr>
          <a:xfrm>
            <a:off x="11018341" y="6620256"/>
            <a:ext cx="441834" cy="1893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t"/>
          <a:lstStyle>
            <a:lvl1pPr>
              <a:defRPr sz="1400">
                <a:solidFill>
                  <a:srgbClr val="E0E6ED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84"/>
            <a:ext cx="12191696" cy="685782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