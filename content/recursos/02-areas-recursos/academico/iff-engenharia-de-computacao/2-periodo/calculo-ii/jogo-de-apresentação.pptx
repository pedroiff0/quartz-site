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 Petit Cochon" charset="1" panose="00000500000000000000"/>
      <p:regular r:id="rId17"/>
    </p:embeddedFont>
    <p:embeddedFont>
      <p:font typeface="Canva Student Font" charset="1" panose="00000000000000000000"/>
      <p:regular r:id="rId18"/>
    </p:embeddedFont>
    <p:embeddedFont>
      <p:font typeface="Roca On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34285">
            <a:off x="2760005" y="1299299"/>
            <a:ext cx="2202764" cy="2090623"/>
          </a:xfrm>
          <a:custGeom>
            <a:avLst/>
            <a:gdLst/>
            <a:ahLst/>
            <a:cxnLst/>
            <a:rect r="r" b="b" t="t" l="l"/>
            <a:pathLst>
              <a:path h="2090623" w="2202764">
                <a:moveTo>
                  <a:pt x="0" y="0"/>
                </a:moveTo>
                <a:lnTo>
                  <a:pt x="2202764" y="0"/>
                </a:lnTo>
                <a:lnTo>
                  <a:pt x="2202764" y="2090623"/>
                </a:lnTo>
                <a:lnTo>
                  <a:pt x="0" y="2090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30172" y="1470330"/>
            <a:ext cx="1051152" cy="688027"/>
          </a:xfrm>
          <a:custGeom>
            <a:avLst/>
            <a:gdLst/>
            <a:ahLst/>
            <a:cxnLst/>
            <a:rect r="r" b="b" t="t" l="l"/>
            <a:pathLst>
              <a:path h="688027" w="1051152">
                <a:moveTo>
                  <a:pt x="0" y="0"/>
                </a:moveTo>
                <a:lnTo>
                  <a:pt x="1051152" y="0"/>
                </a:lnTo>
                <a:lnTo>
                  <a:pt x="1051152" y="688027"/>
                </a:lnTo>
                <a:lnTo>
                  <a:pt x="0" y="688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91987" y="8098544"/>
            <a:ext cx="1089338" cy="1045764"/>
          </a:xfrm>
          <a:custGeom>
            <a:avLst/>
            <a:gdLst/>
            <a:ahLst/>
            <a:cxnLst/>
            <a:rect r="r" b="b" t="t" l="l"/>
            <a:pathLst>
              <a:path h="1045764" w="1089338">
                <a:moveTo>
                  <a:pt x="0" y="0"/>
                </a:moveTo>
                <a:lnTo>
                  <a:pt x="1089337" y="0"/>
                </a:lnTo>
                <a:lnTo>
                  <a:pt x="1089337" y="1045765"/>
                </a:lnTo>
                <a:lnTo>
                  <a:pt x="0" y="1045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27716">
            <a:off x="13776477" y="682270"/>
            <a:ext cx="1512893" cy="2701595"/>
          </a:xfrm>
          <a:custGeom>
            <a:avLst/>
            <a:gdLst/>
            <a:ahLst/>
            <a:cxnLst/>
            <a:rect r="r" b="b" t="t" l="l"/>
            <a:pathLst>
              <a:path h="2701595" w="1512893">
                <a:moveTo>
                  <a:pt x="0" y="0"/>
                </a:moveTo>
                <a:lnTo>
                  <a:pt x="1512893" y="0"/>
                </a:lnTo>
                <a:lnTo>
                  <a:pt x="1512893" y="2701595"/>
                </a:lnTo>
                <a:lnTo>
                  <a:pt x="0" y="2701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8578" y="1470330"/>
            <a:ext cx="1140215" cy="2468970"/>
          </a:xfrm>
          <a:custGeom>
            <a:avLst/>
            <a:gdLst/>
            <a:ahLst/>
            <a:cxnLst/>
            <a:rect r="r" b="b" t="t" l="l"/>
            <a:pathLst>
              <a:path h="2468970" w="1140215">
                <a:moveTo>
                  <a:pt x="0" y="0"/>
                </a:moveTo>
                <a:lnTo>
                  <a:pt x="1140215" y="0"/>
                </a:lnTo>
                <a:lnTo>
                  <a:pt x="1140215" y="2468970"/>
                </a:lnTo>
                <a:lnTo>
                  <a:pt x="0" y="2468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1387" y="2834329"/>
            <a:ext cx="10855347" cy="367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77"/>
              </a:lnSpc>
            </a:pPr>
            <a:r>
              <a:rPr lang="en-US" sz="12064" spc="1134">
                <a:solidFill>
                  <a:srgbClr val="381F1B"/>
                </a:solidFill>
                <a:latin typeface="Le Petit Cochon"/>
              </a:rPr>
              <a:t>SÓLIDO DE REVOLUÇÃO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37236" y="6411959"/>
            <a:ext cx="8703650" cy="16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8"/>
              </a:lnSpc>
            </a:pPr>
            <a:r>
              <a:rPr lang="en-US" sz="4834" spc="580">
                <a:solidFill>
                  <a:srgbClr val="381F1B"/>
                </a:solidFill>
                <a:latin typeface="Canva Student Font"/>
              </a:rPr>
              <a:t>Joana Felizardo, Paola Gualande e Pedro Henrique Rocha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491226">
            <a:off x="16576227" y="1718262"/>
            <a:ext cx="1017134" cy="1468304"/>
          </a:xfrm>
          <a:custGeom>
            <a:avLst/>
            <a:gdLst/>
            <a:ahLst/>
            <a:cxnLst/>
            <a:rect r="r" b="b" t="t" l="l"/>
            <a:pathLst>
              <a:path h="1468304" w="1017134">
                <a:moveTo>
                  <a:pt x="0" y="0"/>
                </a:moveTo>
                <a:lnTo>
                  <a:pt x="1017134" y="0"/>
                </a:lnTo>
                <a:lnTo>
                  <a:pt x="1017134" y="1468304"/>
                </a:lnTo>
                <a:lnTo>
                  <a:pt x="0" y="14683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50025" y="5779700"/>
            <a:ext cx="4195887" cy="4507300"/>
          </a:xfrm>
          <a:custGeom>
            <a:avLst/>
            <a:gdLst/>
            <a:ahLst/>
            <a:cxnLst/>
            <a:rect r="r" b="b" t="t" l="l"/>
            <a:pathLst>
              <a:path h="4507300" w="4195887">
                <a:moveTo>
                  <a:pt x="0" y="0"/>
                </a:moveTo>
                <a:lnTo>
                  <a:pt x="4195886" y="0"/>
                </a:lnTo>
                <a:lnTo>
                  <a:pt x="4195886" y="4507300"/>
                </a:lnTo>
                <a:lnTo>
                  <a:pt x="0" y="4507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8578" y="5143500"/>
            <a:ext cx="3382123" cy="5054804"/>
          </a:xfrm>
          <a:custGeom>
            <a:avLst/>
            <a:gdLst/>
            <a:ahLst/>
            <a:cxnLst/>
            <a:rect r="r" b="b" t="t" l="l"/>
            <a:pathLst>
              <a:path h="5054804" w="3382123">
                <a:moveTo>
                  <a:pt x="0" y="0"/>
                </a:moveTo>
                <a:lnTo>
                  <a:pt x="3382123" y="0"/>
                </a:lnTo>
                <a:lnTo>
                  <a:pt x="3382123" y="5054804"/>
                </a:lnTo>
                <a:lnTo>
                  <a:pt x="0" y="5054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7554" y="1373991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35864">
            <a:off x="6461657" y="8241363"/>
            <a:ext cx="1468087" cy="2033873"/>
          </a:xfrm>
          <a:custGeom>
            <a:avLst/>
            <a:gdLst/>
            <a:ahLst/>
            <a:cxnLst/>
            <a:rect r="r" b="b" t="t" l="l"/>
            <a:pathLst>
              <a:path h="2033873" w="1468087">
                <a:moveTo>
                  <a:pt x="0" y="0"/>
                </a:moveTo>
                <a:lnTo>
                  <a:pt x="1468086" y="0"/>
                </a:lnTo>
                <a:lnTo>
                  <a:pt x="1468086" y="2033874"/>
                </a:lnTo>
                <a:lnTo>
                  <a:pt x="0" y="20338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9393" y="1470027"/>
            <a:ext cx="1867453" cy="892982"/>
          </a:xfrm>
          <a:custGeom>
            <a:avLst/>
            <a:gdLst/>
            <a:ahLst/>
            <a:cxnLst/>
            <a:rect r="r" b="b" t="t" l="l"/>
            <a:pathLst>
              <a:path h="892982" w="1867453">
                <a:moveTo>
                  <a:pt x="0" y="0"/>
                </a:moveTo>
                <a:lnTo>
                  <a:pt x="1867453" y="0"/>
                </a:lnTo>
                <a:lnTo>
                  <a:pt x="1867453" y="892983"/>
                </a:lnTo>
                <a:lnTo>
                  <a:pt x="0" y="892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7102" y="4018402"/>
            <a:ext cx="7255770" cy="317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876" spc="77">
                <a:solidFill>
                  <a:srgbClr val="381F1B"/>
                </a:solidFill>
                <a:latin typeface="Roca One"/>
              </a:rPr>
              <a:t>Um sólido de revolução é uma figura tridimensional gerada pela rotação de uma curva bidimensional ao redor de um eixo fixo.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5285" y="1612116"/>
            <a:ext cx="7555236" cy="173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0"/>
              </a:lnSpc>
            </a:pPr>
            <a:r>
              <a:rPr lang="en-US" sz="13000">
                <a:solidFill>
                  <a:srgbClr val="381F1B"/>
                </a:solidFill>
                <a:latin typeface="Le Petit Cochon"/>
              </a:rPr>
              <a:t>O QUE É?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82461" y="3699503"/>
            <a:ext cx="8100659" cy="3843827"/>
            <a:chOff x="0" y="0"/>
            <a:chExt cx="1268426" cy="6018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8426" cy="601878"/>
            </a:xfrm>
            <a:custGeom>
              <a:avLst/>
              <a:gdLst/>
              <a:ahLst/>
              <a:cxnLst/>
              <a:rect r="r" b="b" t="t" l="l"/>
              <a:pathLst>
                <a:path h="601878" w="1268426">
                  <a:moveTo>
                    <a:pt x="41096" y="0"/>
                  </a:moveTo>
                  <a:lnTo>
                    <a:pt x="1227330" y="0"/>
                  </a:lnTo>
                  <a:cubicBezTo>
                    <a:pt x="1250027" y="0"/>
                    <a:pt x="1268426" y="18399"/>
                    <a:pt x="1268426" y="41096"/>
                  </a:cubicBezTo>
                  <a:lnTo>
                    <a:pt x="1268426" y="560783"/>
                  </a:lnTo>
                  <a:cubicBezTo>
                    <a:pt x="1268426" y="583479"/>
                    <a:pt x="1250027" y="601878"/>
                    <a:pt x="1227330" y="601878"/>
                  </a:cubicBezTo>
                  <a:lnTo>
                    <a:pt x="41096" y="601878"/>
                  </a:lnTo>
                  <a:cubicBezTo>
                    <a:pt x="30196" y="601878"/>
                    <a:pt x="19744" y="597549"/>
                    <a:pt x="12037" y="589842"/>
                  </a:cubicBezTo>
                  <a:cubicBezTo>
                    <a:pt x="4330" y="582135"/>
                    <a:pt x="0" y="571682"/>
                    <a:pt x="0" y="560783"/>
                  </a:cubicBezTo>
                  <a:lnTo>
                    <a:pt x="0" y="41096"/>
                  </a:lnTo>
                  <a:cubicBezTo>
                    <a:pt x="0" y="18399"/>
                    <a:pt x="18399" y="0"/>
                    <a:pt x="41096" y="0"/>
                  </a:cubicBezTo>
                  <a:close/>
                </a:path>
              </a:pathLst>
            </a:custGeom>
            <a:solidFill>
              <a:srgbClr val="CB85A0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68426" cy="6495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203387" y="4126963"/>
            <a:ext cx="7458806" cy="2988908"/>
          </a:xfrm>
          <a:custGeom>
            <a:avLst/>
            <a:gdLst/>
            <a:ahLst/>
            <a:cxnLst/>
            <a:rect r="r" b="b" t="t" l="l"/>
            <a:pathLst>
              <a:path h="2988908" w="7458806">
                <a:moveTo>
                  <a:pt x="0" y="0"/>
                </a:moveTo>
                <a:lnTo>
                  <a:pt x="7458806" y="0"/>
                </a:lnTo>
                <a:lnTo>
                  <a:pt x="7458806" y="2988908"/>
                </a:lnTo>
                <a:lnTo>
                  <a:pt x="0" y="2988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74756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427716">
            <a:off x="15758296" y="1085033"/>
            <a:ext cx="1695648" cy="3027943"/>
          </a:xfrm>
          <a:custGeom>
            <a:avLst/>
            <a:gdLst/>
            <a:ahLst/>
            <a:cxnLst/>
            <a:rect r="r" b="b" t="t" l="l"/>
            <a:pathLst>
              <a:path h="3027943" w="1695648">
                <a:moveTo>
                  <a:pt x="0" y="0"/>
                </a:moveTo>
                <a:lnTo>
                  <a:pt x="1695648" y="0"/>
                </a:lnTo>
                <a:lnTo>
                  <a:pt x="1695648" y="3027944"/>
                </a:lnTo>
                <a:lnTo>
                  <a:pt x="0" y="302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5030" y="6893671"/>
            <a:ext cx="1677941" cy="1610823"/>
          </a:xfrm>
          <a:custGeom>
            <a:avLst/>
            <a:gdLst/>
            <a:ahLst/>
            <a:cxnLst/>
            <a:rect r="r" b="b" t="t" l="l"/>
            <a:pathLst>
              <a:path h="1610823" w="1677941">
                <a:moveTo>
                  <a:pt x="0" y="0"/>
                </a:moveTo>
                <a:lnTo>
                  <a:pt x="1677940" y="0"/>
                </a:lnTo>
                <a:lnTo>
                  <a:pt x="1677940" y="1610823"/>
                </a:lnTo>
                <a:lnTo>
                  <a:pt x="0" y="1610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34" y="1668767"/>
            <a:ext cx="1129731" cy="1630846"/>
          </a:xfrm>
          <a:custGeom>
            <a:avLst/>
            <a:gdLst/>
            <a:ahLst/>
            <a:cxnLst/>
            <a:rect r="r" b="b" t="t" l="l"/>
            <a:pathLst>
              <a:path h="1630846" w="1129731">
                <a:moveTo>
                  <a:pt x="0" y="0"/>
                </a:moveTo>
                <a:lnTo>
                  <a:pt x="1129732" y="0"/>
                </a:lnTo>
                <a:lnTo>
                  <a:pt x="1129732" y="1630846"/>
                </a:lnTo>
                <a:lnTo>
                  <a:pt x="0" y="16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64019">
            <a:off x="8591327" y="320967"/>
            <a:ext cx="1585553" cy="1415466"/>
          </a:xfrm>
          <a:custGeom>
            <a:avLst/>
            <a:gdLst/>
            <a:ahLst/>
            <a:cxnLst/>
            <a:rect r="r" b="b" t="t" l="l"/>
            <a:pathLst>
              <a:path h="1415466" w="1585553">
                <a:moveTo>
                  <a:pt x="0" y="0"/>
                </a:moveTo>
                <a:lnTo>
                  <a:pt x="1585552" y="0"/>
                </a:lnTo>
                <a:lnTo>
                  <a:pt x="1585552" y="1415466"/>
                </a:lnTo>
                <a:lnTo>
                  <a:pt x="0" y="14154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59408" y="7463917"/>
            <a:ext cx="1620181" cy="1620181"/>
          </a:xfrm>
          <a:custGeom>
            <a:avLst/>
            <a:gdLst/>
            <a:ahLst/>
            <a:cxnLst/>
            <a:rect r="r" b="b" t="t" l="l"/>
            <a:pathLst>
              <a:path h="1620181" w="1620181">
                <a:moveTo>
                  <a:pt x="0" y="0"/>
                </a:moveTo>
                <a:lnTo>
                  <a:pt x="1620180" y="0"/>
                </a:lnTo>
                <a:lnTo>
                  <a:pt x="1620180" y="1620181"/>
                </a:lnTo>
                <a:lnTo>
                  <a:pt x="0" y="1620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48681" y="4029992"/>
            <a:ext cx="11670844" cy="219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87"/>
              </a:lnSpc>
            </a:pPr>
            <a:r>
              <a:rPr lang="en-US" sz="17144">
                <a:solidFill>
                  <a:srgbClr val="195E21"/>
                </a:solidFill>
                <a:latin typeface="Le Petit Cochon"/>
              </a:rPr>
              <a:t>PROCESSO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089885"/>
            <a:ext cx="4413183" cy="3994213"/>
            <a:chOff x="0" y="0"/>
            <a:chExt cx="5884244" cy="532561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665018" y="4898116"/>
              <a:ext cx="4766221" cy="427501"/>
              <a:chOff x="0" y="0"/>
              <a:chExt cx="1136982" cy="1019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36982" cy="101980"/>
              </a:xfrm>
              <a:custGeom>
                <a:avLst/>
                <a:gdLst/>
                <a:ahLst/>
                <a:cxnLst/>
                <a:rect r="r" b="b" t="t" l="l"/>
                <a:pathLst>
                  <a:path h="101980" w="1136982">
                    <a:moveTo>
                      <a:pt x="568491" y="0"/>
                    </a:moveTo>
                    <a:cubicBezTo>
                      <a:pt x="254522" y="0"/>
                      <a:pt x="0" y="22829"/>
                      <a:pt x="0" y="50990"/>
                    </a:cubicBezTo>
                    <a:cubicBezTo>
                      <a:pt x="0" y="79151"/>
                      <a:pt x="254522" y="101980"/>
                      <a:pt x="568491" y="101980"/>
                    </a:cubicBezTo>
                    <a:cubicBezTo>
                      <a:pt x="882460" y="101980"/>
                      <a:pt x="1136982" y="79151"/>
                      <a:pt x="1136982" y="50990"/>
                    </a:cubicBezTo>
                    <a:cubicBezTo>
                      <a:pt x="1136982" y="22829"/>
                      <a:pt x="882460" y="0"/>
                      <a:pt x="568491" y="0"/>
                    </a:cubicBezTo>
                    <a:close/>
                  </a:path>
                </a:pathLst>
              </a:custGeom>
              <a:solidFill>
                <a:srgbClr val="01524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6592" y="-28539"/>
                <a:ext cx="923798" cy="12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665018" y="0"/>
              <a:ext cx="4554209" cy="5111867"/>
            </a:xfrm>
            <a:custGeom>
              <a:avLst/>
              <a:gdLst/>
              <a:ahLst/>
              <a:cxnLst/>
              <a:rect r="r" b="b" t="t" l="l"/>
              <a:pathLst>
                <a:path h="5111867" w="4554209">
                  <a:moveTo>
                    <a:pt x="0" y="0"/>
                  </a:moveTo>
                  <a:lnTo>
                    <a:pt x="4554208" y="0"/>
                  </a:lnTo>
                  <a:lnTo>
                    <a:pt x="4554208" y="5111867"/>
                  </a:lnTo>
                  <a:lnTo>
                    <a:pt x="0" y="5111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282736" y="2942868"/>
              <a:ext cx="417214" cy="417214"/>
            </a:xfrm>
            <a:custGeom>
              <a:avLst/>
              <a:gdLst/>
              <a:ahLst/>
              <a:cxnLst/>
              <a:rect r="r" b="b" t="t" l="l"/>
              <a:pathLst>
                <a:path h="417214" w="417214">
                  <a:moveTo>
                    <a:pt x="0" y="0"/>
                  </a:moveTo>
                  <a:lnTo>
                    <a:pt x="417214" y="0"/>
                  </a:lnTo>
                  <a:lnTo>
                    <a:pt x="417214" y="417214"/>
                  </a:lnTo>
                  <a:lnTo>
                    <a:pt x="0" y="41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408825"/>
              <a:ext cx="417214" cy="417214"/>
            </a:xfrm>
            <a:custGeom>
              <a:avLst/>
              <a:gdLst/>
              <a:ahLst/>
              <a:cxnLst/>
              <a:rect r="r" b="b" t="t" l="l"/>
              <a:pathLst>
                <a:path h="417214" w="417214">
                  <a:moveTo>
                    <a:pt x="0" y="0"/>
                  </a:moveTo>
                  <a:lnTo>
                    <a:pt x="417214" y="0"/>
                  </a:lnTo>
                  <a:lnTo>
                    <a:pt x="417214" y="417214"/>
                  </a:lnTo>
                  <a:lnTo>
                    <a:pt x="0" y="41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17214" y="1544729"/>
              <a:ext cx="417214" cy="417214"/>
            </a:xfrm>
            <a:custGeom>
              <a:avLst/>
              <a:gdLst/>
              <a:ahLst/>
              <a:cxnLst/>
              <a:rect r="r" b="b" t="t" l="l"/>
              <a:pathLst>
                <a:path h="417214" w="417214">
                  <a:moveTo>
                    <a:pt x="0" y="0"/>
                  </a:moveTo>
                  <a:lnTo>
                    <a:pt x="417214" y="0"/>
                  </a:lnTo>
                  <a:lnTo>
                    <a:pt x="417214" y="417214"/>
                  </a:lnTo>
                  <a:lnTo>
                    <a:pt x="0" y="41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447607" y="1378668"/>
              <a:ext cx="436636" cy="436636"/>
            </a:xfrm>
            <a:custGeom>
              <a:avLst/>
              <a:gdLst/>
              <a:ahLst/>
              <a:cxnLst/>
              <a:rect r="r" b="b" t="t" l="l"/>
              <a:pathLst>
                <a:path h="436636" w="436636">
                  <a:moveTo>
                    <a:pt x="0" y="0"/>
                  </a:moveTo>
                  <a:lnTo>
                    <a:pt x="436637" y="0"/>
                  </a:lnTo>
                  <a:lnTo>
                    <a:pt x="436637" y="436637"/>
                  </a:lnTo>
                  <a:lnTo>
                    <a:pt x="0" y="43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7637" y="528750"/>
            <a:ext cx="3634239" cy="865610"/>
          </a:xfrm>
          <a:custGeom>
            <a:avLst/>
            <a:gdLst/>
            <a:ahLst/>
            <a:cxnLst/>
            <a:rect r="r" b="b" t="t" l="l"/>
            <a:pathLst>
              <a:path h="865610" w="3634239">
                <a:moveTo>
                  <a:pt x="0" y="0"/>
                </a:moveTo>
                <a:lnTo>
                  <a:pt x="3634239" y="0"/>
                </a:lnTo>
                <a:lnTo>
                  <a:pt x="3634239" y="865610"/>
                </a:lnTo>
                <a:lnTo>
                  <a:pt x="0" y="86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2666" y="3577566"/>
            <a:ext cx="1319211" cy="2856560"/>
          </a:xfrm>
          <a:custGeom>
            <a:avLst/>
            <a:gdLst/>
            <a:ahLst/>
            <a:cxnLst/>
            <a:rect r="r" b="b" t="t" l="l"/>
            <a:pathLst>
              <a:path h="2856560" w="1319211">
                <a:moveTo>
                  <a:pt x="0" y="0"/>
                </a:moveTo>
                <a:lnTo>
                  <a:pt x="1319211" y="0"/>
                </a:lnTo>
                <a:lnTo>
                  <a:pt x="1319211" y="2856559"/>
                </a:lnTo>
                <a:lnTo>
                  <a:pt x="0" y="285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72055" y="8661636"/>
            <a:ext cx="1353258" cy="1193327"/>
          </a:xfrm>
          <a:custGeom>
            <a:avLst/>
            <a:gdLst/>
            <a:ahLst/>
            <a:cxnLst/>
            <a:rect r="r" b="b" t="t" l="l"/>
            <a:pathLst>
              <a:path h="1193327" w="1353258">
                <a:moveTo>
                  <a:pt x="0" y="0"/>
                </a:moveTo>
                <a:lnTo>
                  <a:pt x="1353258" y="0"/>
                </a:lnTo>
                <a:lnTo>
                  <a:pt x="1353258" y="1193328"/>
                </a:lnTo>
                <a:lnTo>
                  <a:pt x="0" y="1193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69796" y="3099453"/>
            <a:ext cx="5869560" cy="4742080"/>
            <a:chOff x="0" y="0"/>
            <a:chExt cx="919074" cy="742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9074" cy="742530"/>
            </a:xfrm>
            <a:custGeom>
              <a:avLst/>
              <a:gdLst/>
              <a:ahLst/>
              <a:cxnLst/>
              <a:rect r="r" b="b" t="t" l="l"/>
              <a:pathLst>
                <a:path h="742530" w="919074">
                  <a:moveTo>
                    <a:pt x="56717" y="0"/>
                  </a:moveTo>
                  <a:lnTo>
                    <a:pt x="862357" y="0"/>
                  </a:lnTo>
                  <a:cubicBezTo>
                    <a:pt x="893681" y="0"/>
                    <a:pt x="919074" y="25393"/>
                    <a:pt x="919074" y="56717"/>
                  </a:cubicBezTo>
                  <a:lnTo>
                    <a:pt x="919074" y="685813"/>
                  </a:lnTo>
                  <a:cubicBezTo>
                    <a:pt x="919074" y="700855"/>
                    <a:pt x="913098" y="715281"/>
                    <a:pt x="902462" y="725918"/>
                  </a:cubicBezTo>
                  <a:cubicBezTo>
                    <a:pt x="891825" y="736554"/>
                    <a:pt x="877399" y="742530"/>
                    <a:pt x="862357" y="742530"/>
                  </a:cubicBezTo>
                  <a:lnTo>
                    <a:pt x="56717" y="742530"/>
                  </a:lnTo>
                  <a:cubicBezTo>
                    <a:pt x="41675" y="742530"/>
                    <a:pt x="27248" y="736554"/>
                    <a:pt x="16612" y="725918"/>
                  </a:cubicBezTo>
                  <a:cubicBezTo>
                    <a:pt x="5976" y="715281"/>
                    <a:pt x="0" y="700855"/>
                    <a:pt x="0" y="685813"/>
                  </a:cubicBezTo>
                  <a:lnTo>
                    <a:pt x="0" y="56717"/>
                  </a:lnTo>
                  <a:cubicBezTo>
                    <a:pt x="0" y="41675"/>
                    <a:pt x="5976" y="27248"/>
                    <a:pt x="16612" y="16612"/>
                  </a:cubicBezTo>
                  <a:cubicBezTo>
                    <a:pt x="27248" y="5976"/>
                    <a:pt x="41675" y="0"/>
                    <a:pt x="56717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9074" cy="79015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94028" y="8197217"/>
            <a:ext cx="5221097" cy="781068"/>
          </a:xfrm>
          <a:custGeom>
            <a:avLst/>
            <a:gdLst/>
            <a:ahLst/>
            <a:cxnLst/>
            <a:rect r="r" b="b" t="t" l="l"/>
            <a:pathLst>
              <a:path h="781068" w="5221097">
                <a:moveTo>
                  <a:pt x="0" y="0"/>
                </a:moveTo>
                <a:lnTo>
                  <a:pt x="5221097" y="0"/>
                </a:lnTo>
                <a:lnTo>
                  <a:pt x="5221097" y="781067"/>
                </a:lnTo>
                <a:lnTo>
                  <a:pt x="0" y="781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862753" y="3504240"/>
            <a:ext cx="5170371" cy="3932506"/>
            <a:chOff x="0" y="0"/>
            <a:chExt cx="1068651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8651" cy="812800"/>
            </a:xfrm>
            <a:custGeom>
              <a:avLst/>
              <a:gdLst/>
              <a:ahLst/>
              <a:cxnLst/>
              <a:rect r="r" b="b" t="t" l="l"/>
              <a:pathLst>
                <a:path h="812800" w="1068651">
                  <a:moveTo>
                    <a:pt x="46418" y="0"/>
                  </a:moveTo>
                  <a:lnTo>
                    <a:pt x="1022233" y="0"/>
                  </a:lnTo>
                  <a:cubicBezTo>
                    <a:pt x="1047869" y="0"/>
                    <a:pt x="1068651" y="20782"/>
                    <a:pt x="1068651" y="46418"/>
                  </a:cubicBezTo>
                  <a:lnTo>
                    <a:pt x="1068651" y="766382"/>
                  </a:lnTo>
                  <a:cubicBezTo>
                    <a:pt x="1068651" y="792018"/>
                    <a:pt x="1047869" y="812800"/>
                    <a:pt x="1022233" y="812800"/>
                  </a:cubicBezTo>
                  <a:lnTo>
                    <a:pt x="46418" y="812800"/>
                  </a:lnTo>
                  <a:cubicBezTo>
                    <a:pt x="20782" y="812800"/>
                    <a:pt x="0" y="792018"/>
                    <a:pt x="0" y="766382"/>
                  </a:cubicBezTo>
                  <a:lnTo>
                    <a:pt x="0" y="46418"/>
                  </a:lnTo>
                  <a:cubicBezTo>
                    <a:pt x="0" y="20782"/>
                    <a:pt x="20782" y="0"/>
                    <a:pt x="46418" y="0"/>
                  </a:cubicBezTo>
                  <a:close/>
                </a:path>
              </a:pathLst>
            </a:custGeom>
            <a:blipFill>
              <a:blip r:embed="rId9"/>
              <a:stretch>
                <a:fillRect l="-15470" t="-5229" r="-20968" b="-1236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92271" y="1565810"/>
            <a:ext cx="9787378" cy="117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5"/>
              </a:lnSpc>
            </a:pPr>
            <a:r>
              <a:rPr lang="en-US" sz="8895">
                <a:solidFill>
                  <a:srgbClr val="503530"/>
                </a:solidFill>
                <a:latin typeface="Le Petit Cochon"/>
              </a:rPr>
              <a:t>OBJETO UTILIZADO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871099"/>
            <a:ext cx="7255770" cy="317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876" spc="77">
                <a:solidFill>
                  <a:srgbClr val="381F1B"/>
                </a:solidFill>
                <a:latin typeface="Roca One"/>
              </a:rPr>
              <a:t>Para criar o nosso sólido de revolução, começamos com um pequeno vaso de planta que possui dois lados simétricos e com curvatura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71707" y="2891994"/>
            <a:ext cx="5738201" cy="5725881"/>
            <a:chOff x="0" y="0"/>
            <a:chExt cx="898505" cy="89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8505" cy="896576"/>
            </a:xfrm>
            <a:custGeom>
              <a:avLst/>
              <a:gdLst/>
              <a:ahLst/>
              <a:cxnLst/>
              <a:rect r="r" b="b" t="t" l="l"/>
              <a:pathLst>
                <a:path h="896576" w="898505">
                  <a:moveTo>
                    <a:pt x="58015" y="0"/>
                  </a:moveTo>
                  <a:lnTo>
                    <a:pt x="840490" y="0"/>
                  </a:lnTo>
                  <a:cubicBezTo>
                    <a:pt x="872531" y="0"/>
                    <a:pt x="898505" y="25974"/>
                    <a:pt x="898505" y="58015"/>
                  </a:cubicBezTo>
                  <a:lnTo>
                    <a:pt x="898505" y="838561"/>
                  </a:lnTo>
                  <a:cubicBezTo>
                    <a:pt x="898505" y="870602"/>
                    <a:pt x="872531" y="896576"/>
                    <a:pt x="840490" y="896576"/>
                  </a:cubicBezTo>
                  <a:lnTo>
                    <a:pt x="58015" y="896576"/>
                  </a:lnTo>
                  <a:cubicBezTo>
                    <a:pt x="25974" y="896576"/>
                    <a:pt x="0" y="870602"/>
                    <a:pt x="0" y="838561"/>
                  </a:cubicBezTo>
                  <a:lnTo>
                    <a:pt x="0" y="58015"/>
                  </a:lnTo>
                  <a:cubicBezTo>
                    <a:pt x="0" y="25974"/>
                    <a:pt x="25974" y="0"/>
                    <a:pt x="58015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98505" cy="94420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51154" y="3229802"/>
            <a:ext cx="4779308" cy="5050264"/>
            <a:chOff x="0" y="0"/>
            <a:chExt cx="76919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192" cy="812800"/>
            </a:xfrm>
            <a:custGeom>
              <a:avLst/>
              <a:gdLst/>
              <a:ahLst/>
              <a:cxnLst/>
              <a:rect r="r" b="b" t="t" l="l"/>
              <a:pathLst>
                <a:path h="812800" w="769192">
                  <a:moveTo>
                    <a:pt x="50216" y="0"/>
                  </a:moveTo>
                  <a:lnTo>
                    <a:pt x="718975" y="0"/>
                  </a:lnTo>
                  <a:cubicBezTo>
                    <a:pt x="746709" y="0"/>
                    <a:pt x="769192" y="22483"/>
                    <a:pt x="769192" y="50216"/>
                  </a:cubicBezTo>
                  <a:lnTo>
                    <a:pt x="769192" y="762584"/>
                  </a:lnTo>
                  <a:cubicBezTo>
                    <a:pt x="769192" y="775902"/>
                    <a:pt x="763901" y="788675"/>
                    <a:pt x="754484" y="798092"/>
                  </a:cubicBezTo>
                  <a:cubicBezTo>
                    <a:pt x="745066" y="807509"/>
                    <a:pt x="732294" y="812800"/>
                    <a:pt x="718975" y="812800"/>
                  </a:cubicBezTo>
                  <a:lnTo>
                    <a:pt x="50216" y="812800"/>
                  </a:lnTo>
                  <a:cubicBezTo>
                    <a:pt x="36898" y="812800"/>
                    <a:pt x="24125" y="807509"/>
                    <a:pt x="14708" y="798092"/>
                  </a:cubicBezTo>
                  <a:cubicBezTo>
                    <a:pt x="5291" y="788675"/>
                    <a:pt x="0" y="775902"/>
                    <a:pt x="0" y="762584"/>
                  </a:cubicBezTo>
                  <a:lnTo>
                    <a:pt x="0" y="50216"/>
                  </a:lnTo>
                  <a:cubicBezTo>
                    <a:pt x="0" y="36898"/>
                    <a:pt x="5291" y="24125"/>
                    <a:pt x="14708" y="14708"/>
                  </a:cubicBezTo>
                  <a:cubicBezTo>
                    <a:pt x="24125" y="5291"/>
                    <a:pt x="36898" y="0"/>
                    <a:pt x="50216" y="0"/>
                  </a:cubicBezTo>
                  <a:close/>
                </a:path>
              </a:pathLst>
            </a:custGeom>
            <a:blipFill>
              <a:blip r:embed="rId8"/>
              <a:stretch>
                <a:fillRect l="-718" t="0" r="-718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449906" y="3393094"/>
            <a:ext cx="7288844" cy="440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4"/>
              </a:lnSpc>
            </a:pPr>
            <a:r>
              <a:rPr lang="en-US" sz="3357" spc="67">
                <a:solidFill>
                  <a:srgbClr val="381F1B"/>
                </a:solidFill>
                <a:latin typeface="Roca One"/>
              </a:rPr>
              <a:t>Para criar o nosso sólido de revolução, começamos posicionando a imagem do nosso “vasinho” no eixo X e ajustando-o proporcionalmente ao tamanho original. Em seguida, marcamos pontos ao longo do vasinho para demarcar seu contorno.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1707" y="1409096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1: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35447" y="6154984"/>
            <a:ext cx="7949754" cy="2862940"/>
            <a:chOff x="0" y="0"/>
            <a:chExt cx="1244797" cy="448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71707" y="2891994"/>
            <a:ext cx="5738201" cy="5725881"/>
            <a:chOff x="0" y="0"/>
            <a:chExt cx="898505" cy="8965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8505" cy="896576"/>
            </a:xfrm>
            <a:custGeom>
              <a:avLst/>
              <a:gdLst/>
              <a:ahLst/>
              <a:cxnLst/>
              <a:rect r="r" b="b" t="t" l="l"/>
              <a:pathLst>
                <a:path h="896576" w="898505">
                  <a:moveTo>
                    <a:pt x="58015" y="0"/>
                  </a:moveTo>
                  <a:lnTo>
                    <a:pt x="840490" y="0"/>
                  </a:lnTo>
                  <a:cubicBezTo>
                    <a:pt x="872531" y="0"/>
                    <a:pt x="898505" y="25974"/>
                    <a:pt x="898505" y="58015"/>
                  </a:cubicBezTo>
                  <a:lnTo>
                    <a:pt x="898505" y="838561"/>
                  </a:lnTo>
                  <a:cubicBezTo>
                    <a:pt x="898505" y="870602"/>
                    <a:pt x="872531" y="896576"/>
                    <a:pt x="840490" y="896576"/>
                  </a:cubicBezTo>
                  <a:lnTo>
                    <a:pt x="58015" y="896576"/>
                  </a:lnTo>
                  <a:cubicBezTo>
                    <a:pt x="25974" y="896576"/>
                    <a:pt x="0" y="870602"/>
                    <a:pt x="0" y="838561"/>
                  </a:cubicBezTo>
                  <a:lnTo>
                    <a:pt x="0" y="58015"/>
                  </a:lnTo>
                  <a:cubicBezTo>
                    <a:pt x="0" y="25974"/>
                    <a:pt x="25974" y="0"/>
                    <a:pt x="58015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8505" cy="94420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51154" y="3229802"/>
            <a:ext cx="4779308" cy="5050264"/>
            <a:chOff x="0" y="0"/>
            <a:chExt cx="76919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192" cy="812800"/>
            </a:xfrm>
            <a:custGeom>
              <a:avLst/>
              <a:gdLst/>
              <a:ahLst/>
              <a:cxnLst/>
              <a:rect r="r" b="b" t="t" l="l"/>
              <a:pathLst>
                <a:path h="812800" w="769192">
                  <a:moveTo>
                    <a:pt x="50216" y="0"/>
                  </a:moveTo>
                  <a:lnTo>
                    <a:pt x="718975" y="0"/>
                  </a:lnTo>
                  <a:cubicBezTo>
                    <a:pt x="746709" y="0"/>
                    <a:pt x="769192" y="22483"/>
                    <a:pt x="769192" y="50216"/>
                  </a:cubicBezTo>
                  <a:lnTo>
                    <a:pt x="769192" y="762584"/>
                  </a:lnTo>
                  <a:cubicBezTo>
                    <a:pt x="769192" y="775902"/>
                    <a:pt x="763901" y="788675"/>
                    <a:pt x="754484" y="798092"/>
                  </a:cubicBezTo>
                  <a:cubicBezTo>
                    <a:pt x="745066" y="807509"/>
                    <a:pt x="732294" y="812800"/>
                    <a:pt x="718975" y="812800"/>
                  </a:cubicBezTo>
                  <a:lnTo>
                    <a:pt x="50216" y="812800"/>
                  </a:lnTo>
                  <a:cubicBezTo>
                    <a:pt x="36898" y="812800"/>
                    <a:pt x="24125" y="807509"/>
                    <a:pt x="14708" y="798092"/>
                  </a:cubicBezTo>
                  <a:cubicBezTo>
                    <a:pt x="5291" y="788675"/>
                    <a:pt x="0" y="775902"/>
                    <a:pt x="0" y="762584"/>
                  </a:cubicBezTo>
                  <a:lnTo>
                    <a:pt x="0" y="50216"/>
                  </a:lnTo>
                  <a:cubicBezTo>
                    <a:pt x="0" y="36898"/>
                    <a:pt x="5291" y="24125"/>
                    <a:pt x="14708" y="14708"/>
                  </a:cubicBezTo>
                  <a:cubicBezTo>
                    <a:pt x="24125" y="5291"/>
                    <a:pt x="36898" y="0"/>
                    <a:pt x="50216" y="0"/>
                  </a:cubicBezTo>
                  <a:close/>
                </a:path>
              </a:pathLst>
            </a:custGeom>
            <a:blipFill>
              <a:blip r:embed="rId8"/>
              <a:stretch>
                <a:fillRect l="-2324" t="0" r="-232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571707" y="1409096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2: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5437" y="2932278"/>
            <a:ext cx="6869773" cy="282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2"/>
              </a:lnSpc>
              <a:spcBef>
                <a:spcPct val="0"/>
              </a:spcBef>
            </a:pPr>
            <a:r>
              <a:rPr lang="en-US" sz="4080">
                <a:solidFill>
                  <a:srgbClr val="381F1B"/>
                </a:solidFill>
                <a:latin typeface="Roca One"/>
              </a:rPr>
              <a:t>Depois, usamos o comando spline para criar uma linha ligando todos os pontos utilizados.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205442" y="6404088"/>
            <a:ext cx="7409763" cy="2364732"/>
          </a:xfrm>
          <a:custGeom>
            <a:avLst/>
            <a:gdLst/>
            <a:ahLst/>
            <a:cxnLst/>
            <a:rect r="r" b="b" t="t" l="l"/>
            <a:pathLst>
              <a:path h="2364732" w="7409763">
                <a:moveTo>
                  <a:pt x="0" y="0"/>
                </a:moveTo>
                <a:lnTo>
                  <a:pt x="7409763" y="0"/>
                </a:lnTo>
                <a:lnTo>
                  <a:pt x="7409763" y="2364732"/>
                </a:lnTo>
                <a:lnTo>
                  <a:pt x="0" y="23647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757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35447" y="6154984"/>
            <a:ext cx="7949754" cy="2862940"/>
            <a:chOff x="0" y="0"/>
            <a:chExt cx="1244797" cy="448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71707" y="2891994"/>
            <a:ext cx="5738201" cy="5725881"/>
            <a:chOff x="0" y="0"/>
            <a:chExt cx="898505" cy="8965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8505" cy="896576"/>
            </a:xfrm>
            <a:custGeom>
              <a:avLst/>
              <a:gdLst/>
              <a:ahLst/>
              <a:cxnLst/>
              <a:rect r="r" b="b" t="t" l="l"/>
              <a:pathLst>
                <a:path h="896576" w="898505">
                  <a:moveTo>
                    <a:pt x="58015" y="0"/>
                  </a:moveTo>
                  <a:lnTo>
                    <a:pt x="840490" y="0"/>
                  </a:lnTo>
                  <a:cubicBezTo>
                    <a:pt x="872531" y="0"/>
                    <a:pt x="898505" y="25974"/>
                    <a:pt x="898505" y="58015"/>
                  </a:cubicBezTo>
                  <a:lnTo>
                    <a:pt x="898505" y="838561"/>
                  </a:lnTo>
                  <a:cubicBezTo>
                    <a:pt x="898505" y="870602"/>
                    <a:pt x="872531" y="896576"/>
                    <a:pt x="840490" y="896576"/>
                  </a:cubicBezTo>
                  <a:lnTo>
                    <a:pt x="58015" y="896576"/>
                  </a:lnTo>
                  <a:cubicBezTo>
                    <a:pt x="25974" y="896576"/>
                    <a:pt x="0" y="870602"/>
                    <a:pt x="0" y="838561"/>
                  </a:cubicBezTo>
                  <a:lnTo>
                    <a:pt x="0" y="58015"/>
                  </a:lnTo>
                  <a:cubicBezTo>
                    <a:pt x="0" y="25974"/>
                    <a:pt x="25974" y="0"/>
                    <a:pt x="58015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8505" cy="94420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51154" y="3229802"/>
            <a:ext cx="4779308" cy="5050264"/>
            <a:chOff x="0" y="0"/>
            <a:chExt cx="76919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192" cy="812800"/>
            </a:xfrm>
            <a:custGeom>
              <a:avLst/>
              <a:gdLst/>
              <a:ahLst/>
              <a:cxnLst/>
              <a:rect r="r" b="b" t="t" l="l"/>
              <a:pathLst>
                <a:path h="812800" w="769192">
                  <a:moveTo>
                    <a:pt x="50216" y="0"/>
                  </a:moveTo>
                  <a:lnTo>
                    <a:pt x="718975" y="0"/>
                  </a:lnTo>
                  <a:cubicBezTo>
                    <a:pt x="746709" y="0"/>
                    <a:pt x="769192" y="22483"/>
                    <a:pt x="769192" y="50216"/>
                  </a:cubicBezTo>
                  <a:lnTo>
                    <a:pt x="769192" y="762584"/>
                  </a:lnTo>
                  <a:cubicBezTo>
                    <a:pt x="769192" y="775902"/>
                    <a:pt x="763901" y="788675"/>
                    <a:pt x="754484" y="798092"/>
                  </a:cubicBezTo>
                  <a:cubicBezTo>
                    <a:pt x="745066" y="807509"/>
                    <a:pt x="732294" y="812800"/>
                    <a:pt x="718975" y="812800"/>
                  </a:cubicBezTo>
                  <a:lnTo>
                    <a:pt x="50216" y="812800"/>
                  </a:lnTo>
                  <a:cubicBezTo>
                    <a:pt x="36898" y="812800"/>
                    <a:pt x="24125" y="807509"/>
                    <a:pt x="14708" y="798092"/>
                  </a:cubicBezTo>
                  <a:cubicBezTo>
                    <a:pt x="5291" y="788675"/>
                    <a:pt x="0" y="775902"/>
                    <a:pt x="0" y="762584"/>
                  </a:cubicBezTo>
                  <a:lnTo>
                    <a:pt x="0" y="50216"/>
                  </a:lnTo>
                  <a:cubicBezTo>
                    <a:pt x="0" y="36898"/>
                    <a:pt x="5291" y="24125"/>
                    <a:pt x="14708" y="14708"/>
                  </a:cubicBezTo>
                  <a:cubicBezTo>
                    <a:pt x="24125" y="5291"/>
                    <a:pt x="36898" y="0"/>
                    <a:pt x="50216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820" r="0" b="-182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245038" y="6461524"/>
            <a:ext cx="7306708" cy="2249861"/>
          </a:xfrm>
          <a:custGeom>
            <a:avLst/>
            <a:gdLst/>
            <a:ahLst/>
            <a:cxnLst/>
            <a:rect r="r" b="b" t="t" l="l"/>
            <a:pathLst>
              <a:path h="2249861" w="7306708">
                <a:moveTo>
                  <a:pt x="0" y="0"/>
                </a:moveTo>
                <a:lnTo>
                  <a:pt x="7306708" y="0"/>
                </a:lnTo>
                <a:lnTo>
                  <a:pt x="7306708" y="2249861"/>
                </a:lnTo>
                <a:lnTo>
                  <a:pt x="0" y="22498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643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71707" y="1409096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3: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21313" y="2762834"/>
            <a:ext cx="6978021" cy="316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1"/>
              </a:lnSpc>
              <a:spcBef>
                <a:spcPct val="0"/>
              </a:spcBef>
            </a:pPr>
            <a:r>
              <a:rPr lang="en-US" sz="3657">
                <a:solidFill>
                  <a:srgbClr val="381F1B"/>
                </a:solidFill>
                <a:latin typeface="Roca One"/>
              </a:rPr>
              <a:t>Logo depois, foi utilizado o comando sequência, para aperfeiçoar os pontos no spline, sendo a(i) a função do spline, e i a  variável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4999" y="82045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9631" y="2898363"/>
            <a:ext cx="7949754" cy="2862940"/>
            <a:chOff x="0" y="0"/>
            <a:chExt cx="1244797" cy="448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1765" y="3391672"/>
            <a:ext cx="7605485" cy="1876322"/>
          </a:xfrm>
          <a:custGeom>
            <a:avLst/>
            <a:gdLst/>
            <a:ahLst/>
            <a:cxnLst/>
            <a:rect r="r" b="b" t="t" l="l"/>
            <a:pathLst>
              <a:path h="1876322" w="7605485">
                <a:moveTo>
                  <a:pt x="0" y="0"/>
                </a:moveTo>
                <a:lnTo>
                  <a:pt x="7605485" y="0"/>
                </a:lnTo>
                <a:lnTo>
                  <a:pt x="7605485" y="1876322"/>
                </a:lnTo>
                <a:lnTo>
                  <a:pt x="0" y="187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70759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99631" y="6144694"/>
            <a:ext cx="7949754" cy="2862940"/>
            <a:chOff x="0" y="0"/>
            <a:chExt cx="1244797" cy="448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1765" y="6469167"/>
            <a:ext cx="7572235" cy="2213995"/>
          </a:xfrm>
          <a:custGeom>
            <a:avLst/>
            <a:gdLst/>
            <a:ahLst/>
            <a:cxnLst/>
            <a:rect r="r" b="b" t="t" l="l"/>
            <a:pathLst>
              <a:path h="2213995" w="7572235">
                <a:moveTo>
                  <a:pt x="0" y="0"/>
                </a:moveTo>
                <a:lnTo>
                  <a:pt x="7572235" y="0"/>
                </a:lnTo>
                <a:lnTo>
                  <a:pt x="7572235" y="2213995"/>
                </a:lnTo>
                <a:lnTo>
                  <a:pt x="0" y="2213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761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71707" y="1651002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4: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2155" y="3824809"/>
            <a:ext cx="6978021" cy="380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1"/>
              </a:lnSpc>
              <a:spcBef>
                <a:spcPct val="0"/>
              </a:spcBef>
            </a:pPr>
            <a:r>
              <a:rPr lang="en-US" sz="3657">
                <a:solidFill>
                  <a:srgbClr val="381F1B"/>
                </a:solidFill>
                <a:latin typeface="Roca One"/>
              </a:rPr>
              <a:t>Com isso, foi possível criar um polinómio de acordo com a sequência criada anteriormente com os pontos definidos pelo controle deslizante.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88669" y="4924221"/>
            <a:ext cx="8041507" cy="1180083"/>
            <a:chOff x="0" y="0"/>
            <a:chExt cx="1259164" cy="1847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164" cy="184781"/>
            </a:xfrm>
            <a:custGeom>
              <a:avLst/>
              <a:gdLst/>
              <a:ahLst/>
              <a:cxnLst/>
              <a:rect r="r" b="b" t="t" l="l"/>
              <a:pathLst>
                <a:path h="184781" w="1259164">
                  <a:moveTo>
                    <a:pt x="41398" y="0"/>
                  </a:moveTo>
                  <a:lnTo>
                    <a:pt x="1217766" y="0"/>
                  </a:lnTo>
                  <a:cubicBezTo>
                    <a:pt x="1228745" y="0"/>
                    <a:pt x="1239275" y="4362"/>
                    <a:pt x="1247039" y="12125"/>
                  </a:cubicBezTo>
                  <a:cubicBezTo>
                    <a:pt x="1254802" y="19889"/>
                    <a:pt x="1259164" y="30419"/>
                    <a:pt x="1259164" y="41398"/>
                  </a:cubicBezTo>
                  <a:lnTo>
                    <a:pt x="1259164" y="143383"/>
                  </a:lnTo>
                  <a:cubicBezTo>
                    <a:pt x="1259164" y="154363"/>
                    <a:pt x="1254802" y="164892"/>
                    <a:pt x="1247039" y="172656"/>
                  </a:cubicBezTo>
                  <a:cubicBezTo>
                    <a:pt x="1239275" y="180420"/>
                    <a:pt x="1228745" y="184781"/>
                    <a:pt x="1217766" y="184781"/>
                  </a:cubicBezTo>
                  <a:lnTo>
                    <a:pt x="41398" y="184781"/>
                  </a:lnTo>
                  <a:cubicBezTo>
                    <a:pt x="30419" y="184781"/>
                    <a:pt x="19889" y="180420"/>
                    <a:pt x="12125" y="172656"/>
                  </a:cubicBezTo>
                  <a:cubicBezTo>
                    <a:pt x="4362" y="164892"/>
                    <a:pt x="0" y="154363"/>
                    <a:pt x="0" y="143383"/>
                  </a:cubicBezTo>
                  <a:lnTo>
                    <a:pt x="0" y="41398"/>
                  </a:lnTo>
                  <a:cubicBezTo>
                    <a:pt x="0" y="30419"/>
                    <a:pt x="4362" y="19889"/>
                    <a:pt x="12125" y="12125"/>
                  </a:cubicBezTo>
                  <a:cubicBezTo>
                    <a:pt x="19889" y="4362"/>
                    <a:pt x="30419" y="0"/>
                    <a:pt x="41398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59164" cy="2324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71707" y="2891994"/>
            <a:ext cx="5738201" cy="5725881"/>
            <a:chOff x="0" y="0"/>
            <a:chExt cx="898505" cy="8965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8505" cy="896576"/>
            </a:xfrm>
            <a:custGeom>
              <a:avLst/>
              <a:gdLst/>
              <a:ahLst/>
              <a:cxnLst/>
              <a:rect r="r" b="b" t="t" l="l"/>
              <a:pathLst>
                <a:path h="896576" w="898505">
                  <a:moveTo>
                    <a:pt x="58015" y="0"/>
                  </a:moveTo>
                  <a:lnTo>
                    <a:pt x="840490" y="0"/>
                  </a:lnTo>
                  <a:cubicBezTo>
                    <a:pt x="872531" y="0"/>
                    <a:pt x="898505" y="25974"/>
                    <a:pt x="898505" y="58015"/>
                  </a:cubicBezTo>
                  <a:lnTo>
                    <a:pt x="898505" y="838561"/>
                  </a:lnTo>
                  <a:cubicBezTo>
                    <a:pt x="898505" y="870602"/>
                    <a:pt x="872531" y="896576"/>
                    <a:pt x="840490" y="896576"/>
                  </a:cubicBezTo>
                  <a:lnTo>
                    <a:pt x="58015" y="896576"/>
                  </a:lnTo>
                  <a:cubicBezTo>
                    <a:pt x="25974" y="896576"/>
                    <a:pt x="0" y="870602"/>
                    <a:pt x="0" y="838561"/>
                  </a:cubicBezTo>
                  <a:lnTo>
                    <a:pt x="0" y="58015"/>
                  </a:lnTo>
                  <a:cubicBezTo>
                    <a:pt x="0" y="25974"/>
                    <a:pt x="25974" y="0"/>
                    <a:pt x="58015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8505" cy="94420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51154" y="3229802"/>
            <a:ext cx="4779308" cy="5050264"/>
            <a:chOff x="0" y="0"/>
            <a:chExt cx="76919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192" cy="812800"/>
            </a:xfrm>
            <a:custGeom>
              <a:avLst/>
              <a:gdLst/>
              <a:ahLst/>
              <a:cxnLst/>
              <a:rect r="r" b="b" t="t" l="l"/>
              <a:pathLst>
                <a:path h="812800" w="769192">
                  <a:moveTo>
                    <a:pt x="50216" y="0"/>
                  </a:moveTo>
                  <a:lnTo>
                    <a:pt x="718975" y="0"/>
                  </a:lnTo>
                  <a:cubicBezTo>
                    <a:pt x="746709" y="0"/>
                    <a:pt x="769192" y="22483"/>
                    <a:pt x="769192" y="50216"/>
                  </a:cubicBezTo>
                  <a:lnTo>
                    <a:pt x="769192" y="762584"/>
                  </a:lnTo>
                  <a:cubicBezTo>
                    <a:pt x="769192" y="775902"/>
                    <a:pt x="763901" y="788675"/>
                    <a:pt x="754484" y="798092"/>
                  </a:cubicBezTo>
                  <a:cubicBezTo>
                    <a:pt x="745066" y="807509"/>
                    <a:pt x="732294" y="812800"/>
                    <a:pt x="718975" y="812800"/>
                  </a:cubicBezTo>
                  <a:lnTo>
                    <a:pt x="50216" y="812800"/>
                  </a:lnTo>
                  <a:cubicBezTo>
                    <a:pt x="36898" y="812800"/>
                    <a:pt x="24125" y="807509"/>
                    <a:pt x="14708" y="798092"/>
                  </a:cubicBezTo>
                  <a:cubicBezTo>
                    <a:pt x="5291" y="788675"/>
                    <a:pt x="0" y="775902"/>
                    <a:pt x="0" y="762584"/>
                  </a:cubicBezTo>
                  <a:lnTo>
                    <a:pt x="0" y="50216"/>
                  </a:lnTo>
                  <a:cubicBezTo>
                    <a:pt x="0" y="36898"/>
                    <a:pt x="5291" y="24125"/>
                    <a:pt x="14708" y="14708"/>
                  </a:cubicBezTo>
                  <a:cubicBezTo>
                    <a:pt x="24125" y="5291"/>
                    <a:pt x="36898" y="0"/>
                    <a:pt x="50216" y="0"/>
                  </a:cubicBezTo>
                  <a:close/>
                </a:path>
              </a:pathLst>
            </a:custGeom>
            <a:blipFill>
              <a:blip r:embed="rId8"/>
              <a:stretch>
                <a:fillRect l="-11570" t="0" r="-1157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775156" y="5143500"/>
            <a:ext cx="7868532" cy="793710"/>
          </a:xfrm>
          <a:custGeom>
            <a:avLst/>
            <a:gdLst/>
            <a:ahLst/>
            <a:cxnLst/>
            <a:rect r="r" b="b" t="t" l="l"/>
            <a:pathLst>
              <a:path h="793710" w="7868532">
                <a:moveTo>
                  <a:pt x="0" y="0"/>
                </a:moveTo>
                <a:lnTo>
                  <a:pt x="7868532" y="0"/>
                </a:lnTo>
                <a:lnTo>
                  <a:pt x="7868532" y="793710"/>
                </a:lnTo>
                <a:lnTo>
                  <a:pt x="0" y="793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14858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71707" y="1409096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5: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0644" y="2825319"/>
            <a:ext cx="7177090" cy="168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9"/>
              </a:lnSpc>
              <a:spcBef>
                <a:spcPct val="0"/>
              </a:spcBef>
            </a:pPr>
            <a:r>
              <a:rPr lang="en-US" sz="3220">
                <a:solidFill>
                  <a:srgbClr val="381F1B"/>
                </a:solidFill>
                <a:latin typeface="Roca One"/>
              </a:rPr>
              <a:t>Foi utilizado o comando "círculo" para girar em torno do eixo definido, montando o objeto em 3D.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85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4999" y="82045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9631" y="2898363"/>
            <a:ext cx="7949754" cy="2862940"/>
            <a:chOff x="0" y="0"/>
            <a:chExt cx="1244797" cy="448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7554" y="820459"/>
            <a:ext cx="2344153" cy="1299138"/>
          </a:xfrm>
          <a:custGeom>
            <a:avLst/>
            <a:gdLst/>
            <a:ahLst/>
            <a:cxnLst/>
            <a:rect r="r" b="b" t="t" l="l"/>
            <a:pathLst>
              <a:path h="1299138" w="2344153">
                <a:moveTo>
                  <a:pt x="0" y="0"/>
                </a:moveTo>
                <a:lnTo>
                  <a:pt x="2344153" y="0"/>
                </a:lnTo>
                <a:lnTo>
                  <a:pt x="2344153" y="1299137"/>
                </a:lnTo>
                <a:lnTo>
                  <a:pt x="0" y="129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1721" y="450352"/>
            <a:ext cx="1782025" cy="1156696"/>
          </a:xfrm>
          <a:custGeom>
            <a:avLst/>
            <a:gdLst/>
            <a:ahLst/>
            <a:cxnLst/>
            <a:rect r="r" b="b" t="t" l="l"/>
            <a:pathLst>
              <a:path h="1156696" w="1782025">
                <a:moveTo>
                  <a:pt x="0" y="0"/>
                </a:moveTo>
                <a:lnTo>
                  <a:pt x="1782025" y="0"/>
                </a:lnTo>
                <a:lnTo>
                  <a:pt x="1782025" y="1156696"/>
                </a:lnTo>
                <a:lnTo>
                  <a:pt x="0" y="115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3505" y="1470027"/>
            <a:ext cx="2373342" cy="1134889"/>
          </a:xfrm>
          <a:custGeom>
            <a:avLst/>
            <a:gdLst/>
            <a:ahLst/>
            <a:cxnLst/>
            <a:rect r="r" b="b" t="t" l="l"/>
            <a:pathLst>
              <a:path h="1134889" w="2373342">
                <a:moveTo>
                  <a:pt x="0" y="0"/>
                </a:moveTo>
                <a:lnTo>
                  <a:pt x="2373341" y="0"/>
                </a:lnTo>
                <a:lnTo>
                  <a:pt x="2373341" y="1134889"/>
                </a:lnTo>
                <a:lnTo>
                  <a:pt x="0" y="113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99631" y="6144694"/>
            <a:ext cx="7949754" cy="2862940"/>
            <a:chOff x="0" y="0"/>
            <a:chExt cx="1244797" cy="448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4797" cy="448288"/>
            </a:xfrm>
            <a:custGeom>
              <a:avLst/>
              <a:gdLst/>
              <a:ahLst/>
              <a:cxnLst/>
              <a:rect r="r" b="b" t="t" l="l"/>
              <a:pathLst>
                <a:path h="448288" w="1244797">
                  <a:moveTo>
                    <a:pt x="41876" y="0"/>
                  </a:moveTo>
                  <a:lnTo>
                    <a:pt x="1202921" y="0"/>
                  </a:lnTo>
                  <a:cubicBezTo>
                    <a:pt x="1226049" y="0"/>
                    <a:pt x="1244797" y="18748"/>
                    <a:pt x="1244797" y="41876"/>
                  </a:cubicBezTo>
                  <a:lnTo>
                    <a:pt x="1244797" y="406412"/>
                  </a:lnTo>
                  <a:cubicBezTo>
                    <a:pt x="1244797" y="429540"/>
                    <a:pt x="1226049" y="448288"/>
                    <a:pt x="1202921" y="448288"/>
                  </a:cubicBezTo>
                  <a:lnTo>
                    <a:pt x="41876" y="448288"/>
                  </a:lnTo>
                  <a:cubicBezTo>
                    <a:pt x="18748" y="448288"/>
                    <a:pt x="0" y="429540"/>
                    <a:pt x="0" y="406412"/>
                  </a:cubicBezTo>
                  <a:lnTo>
                    <a:pt x="0" y="41876"/>
                  </a:lnTo>
                  <a:cubicBezTo>
                    <a:pt x="0" y="18748"/>
                    <a:pt x="18748" y="0"/>
                    <a:pt x="41876" y="0"/>
                  </a:cubicBezTo>
                  <a:close/>
                </a:path>
              </a:pathLst>
            </a:custGeom>
            <a:solidFill>
              <a:srgbClr val="BD7893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44797" cy="4959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36320" y="3405975"/>
            <a:ext cx="5598844" cy="1847717"/>
          </a:xfrm>
          <a:custGeom>
            <a:avLst/>
            <a:gdLst/>
            <a:ahLst/>
            <a:cxnLst/>
            <a:rect r="r" b="b" t="t" l="l"/>
            <a:pathLst>
              <a:path h="1847717" w="5598844">
                <a:moveTo>
                  <a:pt x="0" y="0"/>
                </a:moveTo>
                <a:lnTo>
                  <a:pt x="5598844" y="0"/>
                </a:lnTo>
                <a:lnTo>
                  <a:pt x="5598844" y="1847717"/>
                </a:lnTo>
                <a:lnTo>
                  <a:pt x="0" y="18477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77930" b="-13190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71707" y="6341193"/>
            <a:ext cx="5128070" cy="2469942"/>
          </a:xfrm>
          <a:custGeom>
            <a:avLst/>
            <a:gdLst/>
            <a:ahLst/>
            <a:cxnLst/>
            <a:rect r="r" b="b" t="t" l="l"/>
            <a:pathLst>
              <a:path h="2469942" w="5128070">
                <a:moveTo>
                  <a:pt x="0" y="0"/>
                </a:moveTo>
                <a:lnTo>
                  <a:pt x="5128070" y="0"/>
                </a:lnTo>
                <a:lnTo>
                  <a:pt x="5128070" y="2469942"/>
                </a:lnTo>
                <a:lnTo>
                  <a:pt x="0" y="24699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6571" r="-20885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71707" y="1651002"/>
            <a:ext cx="5903092" cy="11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9048">
                <a:solidFill>
                  <a:srgbClr val="381F1B"/>
                </a:solidFill>
                <a:latin typeface="Le Petit Cochon"/>
              </a:rPr>
              <a:t>PASSO 5: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2155" y="3824809"/>
            <a:ext cx="6978021" cy="18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1"/>
              </a:lnSpc>
              <a:spcBef>
                <a:spcPct val="0"/>
              </a:spcBef>
            </a:pPr>
            <a:r>
              <a:rPr lang="en-US" sz="3657">
                <a:solidFill>
                  <a:srgbClr val="381F1B"/>
                </a:solidFill>
                <a:latin typeface="Roca One"/>
              </a:rPr>
              <a:t>Depois foi calculado a área da parte demarcada, e com a área, foi calculada a integral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A0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850" y="736909"/>
            <a:ext cx="16704301" cy="8813181"/>
            <a:chOff x="0" y="0"/>
            <a:chExt cx="4399487" cy="232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9486" cy="2321167"/>
            </a:xfrm>
            <a:custGeom>
              <a:avLst/>
              <a:gdLst/>
              <a:ahLst/>
              <a:cxnLst/>
              <a:rect r="r" b="b" t="t" l="l"/>
              <a:pathLst>
                <a:path h="2321167" w="4399486">
                  <a:moveTo>
                    <a:pt x="23637" y="0"/>
                  </a:moveTo>
                  <a:lnTo>
                    <a:pt x="4375850" y="0"/>
                  </a:lnTo>
                  <a:cubicBezTo>
                    <a:pt x="4382119" y="0"/>
                    <a:pt x="4388131" y="2490"/>
                    <a:pt x="4392563" y="6923"/>
                  </a:cubicBezTo>
                  <a:cubicBezTo>
                    <a:pt x="4396996" y="11356"/>
                    <a:pt x="4399486" y="17368"/>
                    <a:pt x="4399486" y="23637"/>
                  </a:cubicBezTo>
                  <a:lnTo>
                    <a:pt x="4399486" y="2297530"/>
                  </a:lnTo>
                  <a:cubicBezTo>
                    <a:pt x="4399486" y="2303799"/>
                    <a:pt x="4396996" y="2309811"/>
                    <a:pt x="4392563" y="2314244"/>
                  </a:cubicBezTo>
                  <a:cubicBezTo>
                    <a:pt x="4388131" y="2318677"/>
                    <a:pt x="4382119" y="2321167"/>
                    <a:pt x="4375850" y="2321167"/>
                  </a:cubicBezTo>
                  <a:lnTo>
                    <a:pt x="23637" y="2321167"/>
                  </a:lnTo>
                  <a:cubicBezTo>
                    <a:pt x="10583" y="2321167"/>
                    <a:pt x="0" y="2310584"/>
                    <a:pt x="0" y="229753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EDE8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9487" cy="235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9126" y="3527802"/>
            <a:ext cx="11688591" cy="36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3"/>
              </a:lnSpc>
            </a:pPr>
            <a:r>
              <a:rPr lang="en-US" sz="14938" spc="1269">
                <a:solidFill>
                  <a:srgbClr val="755852"/>
                </a:solidFill>
                <a:latin typeface="Le Petit Cochon"/>
              </a:rPr>
              <a:t>MUITO</a:t>
            </a:r>
          </a:p>
          <a:p>
            <a:pPr algn="ctr">
              <a:lnSpc>
                <a:spcPts val="13743"/>
              </a:lnSpc>
            </a:pPr>
            <a:r>
              <a:rPr lang="en-US" sz="14938" spc="1269">
                <a:solidFill>
                  <a:srgbClr val="755852"/>
                </a:solidFill>
                <a:latin typeface="Le Petit Cochon"/>
              </a:rPr>
              <a:t>OBRIGADA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14048" y="3378722"/>
            <a:ext cx="4461198" cy="3794750"/>
            <a:chOff x="0" y="0"/>
            <a:chExt cx="597347" cy="508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7347" cy="508111"/>
            </a:xfrm>
            <a:custGeom>
              <a:avLst/>
              <a:gdLst/>
              <a:ahLst/>
              <a:cxnLst/>
              <a:rect r="r" b="b" t="t" l="l"/>
              <a:pathLst>
                <a:path h="508111" w="597347">
                  <a:moveTo>
                    <a:pt x="74622" y="0"/>
                  </a:moveTo>
                  <a:lnTo>
                    <a:pt x="522725" y="0"/>
                  </a:lnTo>
                  <a:cubicBezTo>
                    <a:pt x="542516" y="0"/>
                    <a:pt x="561497" y="7862"/>
                    <a:pt x="575491" y="21856"/>
                  </a:cubicBezTo>
                  <a:cubicBezTo>
                    <a:pt x="589485" y="35851"/>
                    <a:pt x="597347" y="54831"/>
                    <a:pt x="597347" y="74622"/>
                  </a:cubicBezTo>
                  <a:lnTo>
                    <a:pt x="597347" y="433489"/>
                  </a:lnTo>
                  <a:cubicBezTo>
                    <a:pt x="597347" y="474702"/>
                    <a:pt x="563938" y="508111"/>
                    <a:pt x="522725" y="508111"/>
                  </a:cubicBezTo>
                  <a:lnTo>
                    <a:pt x="74622" y="508111"/>
                  </a:lnTo>
                  <a:cubicBezTo>
                    <a:pt x="33409" y="508111"/>
                    <a:pt x="0" y="474702"/>
                    <a:pt x="0" y="433489"/>
                  </a:cubicBezTo>
                  <a:lnTo>
                    <a:pt x="0" y="74622"/>
                  </a:lnTo>
                  <a:cubicBezTo>
                    <a:pt x="0" y="33409"/>
                    <a:pt x="33409" y="0"/>
                    <a:pt x="74622" y="0"/>
                  </a:cubicBezTo>
                  <a:close/>
                </a:path>
              </a:pathLst>
            </a:custGeom>
            <a:solidFill>
              <a:srgbClr val="FFBAEC"/>
            </a:solidFill>
            <a:ln w="19050" cap="rnd">
              <a:solidFill>
                <a:srgbClr val="40246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97347" cy="55573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21615" y="3269874"/>
            <a:ext cx="6866385" cy="5692857"/>
          </a:xfrm>
          <a:custGeom>
            <a:avLst/>
            <a:gdLst/>
            <a:ahLst/>
            <a:cxnLst/>
            <a:rect r="r" b="b" t="t" l="l"/>
            <a:pathLst>
              <a:path h="5692857" w="6866385">
                <a:moveTo>
                  <a:pt x="0" y="0"/>
                </a:moveTo>
                <a:lnTo>
                  <a:pt x="6866385" y="0"/>
                </a:lnTo>
                <a:lnTo>
                  <a:pt x="6866385" y="5692858"/>
                </a:lnTo>
                <a:lnTo>
                  <a:pt x="0" y="5692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34285">
            <a:off x="596133" y="422948"/>
            <a:ext cx="1870931" cy="1775683"/>
          </a:xfrm>
          <a:custGeom>
            <a:avLst/>
            <a:gdLst/>
            <a:ahLst/>
            <a:cxnLst/>
            <a:rect r="r" b="b" t="t" l="l"/>
            <a:pathLst>
              <a:path h="1775683" w="1870931">
                <a:moveTo>
                  <a:pt x="0" y="0"/>
                </a:moveTo>
                <a:lnTo>
                  <a:pt x="1870931" y="0"/>
                </a:lnTo>
                <a:lnTo>
                  <a:pt x="1870931" y="1775683"/>
                </a:lnTo>
                <a:lnTo>
                  <a:pt x="0" y="1775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90518" y="7149723"/>
            <a:ext cx="1605808" cy="1051074"/>
          </a:xfrm>
          <a:custGeom>
            <a:avLst/>
            <a:gdLst/>
            <a:ahLst/>
            <a:cxnLst/>
            <a:rect r="r" b="b" t="t" l="l"/>
            <a:pathLst>
              <a:path h="1051074" w="1605808">
                <a:moveTo>
                  <a:pt x="0" y="0"/>
                </a:moveTo>
                <a:lnTo>
                  <a:pt x="1605808" y="0"/>
                </a:lnTo>
                <a:lnTo>
                  <a:pt x="1605808" y="1051074"/>
                </a:lnTo>
                <a:lnTo>
                  <a:pt x="0" y="1051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91226">
            <a:off x="16566977" y="259631"/>
            <a:ext cx="1065510" cy="1538138"/>
          </a:xfrm>
          <a:custGeom>
            <a:avLst/>
            <a:gdLst/>
            <a:ahLst/>
            <a:cxnLst/>
            <a:rect r="r" b="b" t="t" l="l"/>
            <a:pathLst>
              <a:path h="1538138" w="1065510">
                <a:moveTo>
                  <a:pt x="0" y="0"/>
                </a:moveTo>
                <a:lnTo>
                  <a:pt x="1065510" y="0"/>
                </a:lnTo>
                <a:lnTo>
                  <a:pt x="1065510" y="1538138"/>
                </a:lnTo>
                <a:lnTo>
                  <a:pt x="0" y="15381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9126" y="7173472"/>
            <a:ext cx="1162395" cy="2516997"/>
          </a:xfrm>
          <a:custGeom>
            <a:avLst/>
            <a:gdLst/>
            <a:ahLst/>
            <a:cxnLst/>
            <a:rect r="r" b="b" t="t" l="l"/>
            <a:pathLst>
              <a:path h="2516997" w="1162395">
                <a:moveTo>
                  <a:pt x="0" y="0"/>
                </a:moveTo>
                <a:lnTo>
                  <a:pt x="1162396" y="0"/>
                </a:lnTo>
                <a:lnTo>
                  <a:pt x="1162396" y="2516997"/>
                </a:lnTo>
                <a:lnTo>
                  <a:pt x="0" y="2516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14048" y="1343602"/>
            <a:ext cx="1087910" cy="1044394"/>
          </a:xfrm>
          <a:custGeom>
            <a:avLst/>
            <a:gdLst/>
            <a:ahLst/>
            <a:cxnLst/>
            <a:rect r="r" b="b" t="t" l="l"/>
            <a:pathLst>
              <a:path h="1044394" w="1087910">
                <a:moveTo>
                  <a:pt x="0" y="0"/>
                </a:moveTo>
                <a:lnTo>
                  <a:pt x="1087910" y="0"/>
                </a:lnTo>
                <a:lnTo>
                  <a:pt x="1087910" y="1044394"/>
                </a:lnTo>
                <a:lnTo>
                  <a:pt x="0" y="10443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DAGFWj9q-N8</dc:identifier>
  <dcterms:modified xsi:type="dcterms:W3CDTF">2011-08-01T06:04:30Z</dcterms:modified>
  <cp:revision>1</cp:revision>
  <dc:title>Jogo de apresentação</dc:title>
</cp:coreProperties>
</file>