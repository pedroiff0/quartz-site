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 showMasterSp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LogoMaster" Type="http://schemas.openxmlformats.org/officeDocument/2006/relationships/image" Target="../media/logo_master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1. Logo IFF no Cabeçalho Superior Esquerdo -->
      <p:pic>
        <p:nvPicPr>
          <p:cNvPr id="1001" name="LogoIFFMaster"/>
          <p:cNvPicPr>
            <a:picLocks noChangeAspect="1"/>
          </p:cNvPicPr>
          <p:nvPr/>
        </p:nvPicPr>
        <p:blipFill>
          <a:blip r:embed="rIdLogoMaster"/>
          <a:stretch>
            <a:fillRect/>
          </a:stretch>
        </p:blipFill>
        <p:spPr>
          <a:xfrm>
            <a:off x="731520" y="73152"/>
            <a:ext cx="1591056" cy="438912"/>
          </a:xfrm>
          <a:prstGeom prst="rect">
            <a:avLst/>
          </a:prstGeom>
        </p:spPr>
      </p:pic>
      <!-- 2. Linha Divisória Superior (Verde IFF / Dourado) -->
      <p:sp>
        <p:nvSpPr>
          <p:cNvPr id="1002" name="LinhaDivisoriaSuperior"/>
          <p:cNvSpPr/>
          <p:nvPr/>
        </p:nvSpPr>
        <p:spPr>
          <a:xfrm>
            <a:off x="0" y="621792"/>
            <a:ext cx="12192000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</p:sp>
      <!-- 3. Disciplina & Tópico no Cabeçalho Superior Direito -->
      <p:sp>
        <p:nvSpPr>
          <p:cNvPr id="1003" name="CabecalhoDisciplinaTopico"/>
          <p:cNvSpPr/>
          <p:nvPr/>
        </p:nvSpPr>
        <p:spPr>
          <a:xfrm>
            <a:off x="6217920" y="73152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pPr algn="r"/>
            <a:r>
              <a:rPr lang="pt-BR" sz="1800" b="1">
                <a:solidFill>
                  <a:srgbClr val="DCB437"/>
                </a:solidFill>
                <a:latin typeface="Arial"/>
              </a:rPr>
              <a:t>Análise de Software Orientada a Objetos</a:t>
            </a:r>
            <a:r>
              <a:rPr lang="pt-BR" sz="1800">
                <a:solidFill>
                  <a:srgbClr val="B4B4B4"/>
                </a:solidFill>
                <a:latin typeface="Arial"/>
              </a:rPr>
              <a:t>  |  </a:t>
            </a:r>
            <a:r>
              <a:rPr lang="pt-BR" sz="1800" b="1">
                <a:solidFill>
                  <a:srgbClr val="DCB437"/>
                </a:solidFill>
                <a:latin typeface="Arial"/>
              </a:rPr>
              <a:t>Seminário | Coesão \&amp; Acoplamento --- ASOO</a:t>
            </a:r>
          </a:p>
        </p:txBody>
      </p:sp>
      <!-- 4. Linha Divisória Inferior (Verde IFF / Dourado) -->
      <p:sp>
        <p:nvSpPr>
          <p:cNvPr id="1004" name="LinhaDivisoriaInferior"/>
          <p:cNvSpPr/>
          <p:nvPr/>
        </p:nvSpPr>
        <p:spPr>
          <a:xfrm>
            <a:off x="0" y="6510528"/>
            <a:ext cx="12192000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</p:sp>
      <!-- 5. Rodapé: Autor à Esquerda -->
      <p:sp>
        <p:nvSpPr>
          <p:cNvPr id="1005" name="RodapeAutor"/>
          <p:cNvSpPr/>
          <p:nvPr/>
        </p:nvSpPr>
        <p:spPr>
          <a:xfrm>
            <a:off x="548640" y="653796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r>
              <a:rPr lang="pt-BR" sz="1050" b="1">
                <a:solidFill>
                  <a:srgbClr val="DCB437"/>
                </a:solidFill>
                <a:latin typeface="Arial"/>
              </a:rPr>
              <a:t>Pedro Henrique Rocha de Andrade</a:t>
            </a:r>
          </a:p>
        </p:txBody>
      </p:sp>
      <!-- 6. Rodapé: Título do Trabalho no Centro -->
      <p:sp>
        <p:nvSpPr>
          <p:cNvPr id="1006" name="RodapeTituloTrabalho"/>
          <p:cNvSpPr/>
          <p:nvPr/>
        </p:nvSpPr>
        <p:spPr>
          <a:xfrm>
            <a:off x="4480560" y="6537960"/>
            <a:ext cx="3593592" cy="25603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pPr algn="ctr"/>
            <a:r>
              <a:rPr lang="pt-BR" sz="1050" b="1">
                <a:solidFill>
                  <a:srgbClr val="F0F0F0"/>
                </a:solidFill>
                <a:latin typeface="Arial"/>
              </a:rPr>
              <a:t>Coesão \&amp; Acoplamento --- Análise de Software OO</a:t>
            </a:r>
          </a:p>
        </p:txBody>
      </p:sp>
      <!-- 7. Rodapé: Placeholder de Numeração do Slide à Direita -->
      <p:sp>
        <p:nvSpPr>
          <p:cNvPr id="100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5752" y="653796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ctr"/>
          <a:lstStyle/>
          <a:p>
            <a:pPr algn="r"/>
            <a:fld id="{B6B8CE0B-97CD-45E9-85EC-3FEBD145DE74}" type="slidenum">
              <a:rPr lang="pt-BR" sz="1050" b="1">
                <a:solidFill>
                  <a:srgbClr val="F0F0F0"/>
                </a:solidFill>
                <a:latin typeface="Arial"/>
              </a:rPr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defRPr sz="2000" b="1">
          <a:solidFill>
            <a:srgbClr val="DCB437"/>
          </a:solidFill>
          <a:latin typeface="Arial"/>
        </a:defRPr>
      </a:lvl1pPr>
    </p:titleStyle>
    <p:bodyStyle>
      <a:lvl1pPr>
        <a:defRPr sz="1500">
          <a:solidFill>
            <a:srgbClr val="F0F0F0"/>
          </a:solidFill>
          <a:latin typeface="Arial"/>
        </a:defRPr>
      </a:lvl1pPr>
    </p:bodyStyle>
    <p:otherStyle>
      <a:defPPr>
        <a:defRPr lang="pt-BR"/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engenharia-de-computacao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/pt-br/resource/engenharia-de-computacao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ww.phrandrade.com/pt-br/resource/engenharia-de-computacao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phrandrade.com/pt-br/resource/engenharia-de-computacao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hyperlink" Target="https://www.phrandrade.com/pt-br/resource/engenharia-de-computacao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www.phrandrade.com/pt-br/resource/engenharia-de-computacao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236" y="274320"/>
            <a:ext cx="5813526" cy="1600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57400"/>
            <a:ext cx="10728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DCB437"/>
                </a:solidFill>
                <a:latin typeface="Arial"/>
                <a:hlinkClick r:id="rId3"/>
              </a:rPr>
              <a:t>ANÁLISE DE SOFTWARE ORIENTADA A OBJETOS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72895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CB437"/>
                </a:solidFill>
                <a:latin typeface="Arial"/>
                <a:hlinkClick r:id="rId3"/>
              </a:rPr>
              <a:t>Coesão \&amp; Acoplamento --- Análise de Software OO</a:t>
            </a:r>
          </a:p>
          <a:p>
            <a:pPr algn="ctr"/>
            <a:r>
              <a:rPr sz="1600">
                <a:solidFill>
                  <a:srgbClr val="F0F0F0"/>
                </a:solidFill>
                <a:latin typeface="Arial"/>
              </a:rPr>
              <a:t>Revisão Prática, Métricas CK (LCOM \&amp; CBO) e Paradigmas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728959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50" b="1">
                <a:solidFill>
                  <a:srgbClr val="F0F0F0"/>
                </a:solidFill>
                <a:latin typeface="Arial"/>
              </a:rPr>
              <a:t>Pedro Henrique Rocha de Andrade</a:t>
            </a:r>
          </a:p>
          <a:p>
            <a:pPr algn="ctr">
              <a:spcBef>
                <a:spcPts val="300"/>
              </a:spcBef>
            </a:pPr>
            <a:r>
              <a:rPr sz="1450" b="1">
                <a:solidFill>
                  <a:srgbClr val="F0F0F0"/>
                </a:solidFill>
                <a:latin typeface="Arial"/>
              </a:rPr>
              <a:t>Ana Cecília Soja</a:t>
            </a:r>
          </a:p>
          <a:p>
            <a:pPr algn="ctr">
              <a:spcBef>
                <a:spcPts val="300"/>
              </a:spcBef>
            </a:pPr>
            <a:r>
              <a:rPr sz="1450" b="1">
                <a:solidFill>
                  <a:srgbClr val="F0F0F0"/>
                </a:solidFill>
                <a:latin typeface="Arial"/>
              </a:rPr>
              <a:t>Maria Luiza Dantas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72895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0F0F0"/>
                </a:solidFill>
                <a:latin typeface="Arial"/>
              </a:rPr>
              <a:t>Bom Jesus do Itabapoana — RJ</a:t>
            </a:r>
          </a:p>
          <a:p>
            <a:pPr algn="ctr">
              <a:spcBef>
                <a:spcPts val="300"/>
              </a:spcBef>
            </a:pPr>
            <a:r>
              <a:rPr sz="1250" b="1">
                <a:solidFill>
                  <a:srgbClr val="DCB437"/>
                </a:solidFill>
                <a:latin typeface="Arial"/>
              </a:rPr>
              <a:t>02 de Setembro de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Sumário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Estrutura da Apresentação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1.  Conceitos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2.  Trade-off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3.  Paradigmas</a:t>
            </a:r>
          </a:p>
          <a:p>
            <a:pPr>
              <a:spcAft>
                <a:spcPts val="1800"/>
              </a:spcAft>
              <a:defRPr sz="1800" b="1">
                <a:solidFill>
                  <a:srgbClr val="DCB437"/>
                </a:solidFill>
                <a:latin typeface="Arial"/>
              </a:defRPr>
            </a:pPr>
            <a:r>
              <a:t>4.  Métricas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Conceitos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O que são Coesão e Acoplamento?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O que é Coesão: Mede o foco interno. Uma classe coesa faz apenas uma coisa e faz bem feita.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F05050"/>
                </a:solidFill>
                <a:latin typeface="Arial"/>
              </a:defRPr>
            </a:pPr>
            <a:r>
              <a:t>•  O que é Acoplamento: Mede a dependência externa. O quanto uma classe depende das outras para funcionar.</a:t>
            </a:r>
          </a:p>
          <a:p>
            <a:pPr>
              <a:spcAft>
                <a:spcPts val="1200"/>
              </a:spcAft>
              <a:defRPr sz="1450" b="0" i="1">
                <a:solidFill>
                  <a:srgbClr val="F0F0F0"/>
                </a:solidFill>
                <a:latin typeface="Arial"/>
              </a:defRPr>
            </a:pPr>
            <a:r>
              <a:t>•  Meta do Design: Buscar a melhoria arquitetural máxima: **Alta Coesão e Baixo Acoplamento**.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50C878"/>
                </a:solidFill>
                <a:latin typeface="Arial"/>
              </a:defRPr>
            </a:pPr>
            <a:r>
              <a:t>•  Métricas de Projeto: Ambos são quantificáveis em engenharia de software para aferir a qualidade do código.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804672"/>
            <a:ext cx="6062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Arial"/>
              </a:rPr>
              <a:t>Figura 1 - Coesão vs Acoplamento</a:t>
            </a:r>
          </a:p>
        </p:txBody>
      </p:sp>
      <p:pic>
        <p:nvPicPr>
          <p:cNvPr id="7" name="Picture 6" descr="anatom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5907024"/>
            <a:ext cx="60624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B4B4B4"/>
                </a:solidFill>
                <a:latin typeface="Arial"/>
              </a:rPr>
              <a:t>Fonte: Elaboração dos Autores (2026)</a:t>
            </a:r>
          </a:p>
          <a:p>
            <a:pPr algn="ctr"/>
            <a:r>
              <a:rPr sz="1050" b="1">
                <a:solidFill>
                  <a:srgbClr val="DCB437"/>
                </a:solidFill>
                <a:latin typeface="Arial"/>
                <a:hlinkClick r:id="rId3"/>
              </a:rPr>
              <a:t>Roteiro Técnico | Notas de Aula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A Relação Oposta (O Trade-off de Design)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F05050"/>
                </a:solidFill>
                <a:latin typeface="Arial"/>
              </a:defRPr>
            </a:pPr>
            <a:r>
              <a:t>•  Opostos: Coesão e acoplamento puxam a complexidade do sistema em sentidos opostos.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Acoplamento Zero: Uma única classe gigante que faz tudo. Não tem acoplamento, mas a coesão é zero (*God Class*).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50C878"/>
                </a:solidFill>
                <a:latin typeface="Arial"/>
              </a:defRPr>
            </a:pPr>
            <a:r>
              <a:t>•  Coesão Absoluta: Classes com apenas um método cada. Coesão total, mas o acoplamento explode.</a:t>
            </a:r>
          </a:p>
          <a:p>
            <a:pPr>
              <a:spcAft>
                <a:spcPts val="1200"/>
              </a:spcAft>
              <a:defRPr sz="1450" b="0" i="1">
                <a:solidFill>
                  <a:srgbClr val="F0F0F0"/>
                </a:solidFill>
                <a:latin typeface="Arial"/>
              </a:defRPr>
            </a:pPr>
            <a:r>
              <a:t>•  A Meta: Encontrar a divisão ideal de responsabilidades para equilibrar ambos.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804672"/>
            <a:ext cx="6062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Arial"/>
              </a:rPr>
              <a:t>Figura 2 - O Equilíbrio de Forças</a:t>
            </a:r>
          </a:p>
        </p:txBody>
      </p:sp>
      <p:pic>
        <p:nvPicPr>
          <p:cNvPr id="7" name="Picture 6" descr="espectogra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5907024"/>
            <a:ext cx="60624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B4B4B4"/>
                </a:solidFill>
                <a:latin typeface="Arial"/>
              </a:rPr>
              <a:t>Fonte: Elaboração dos Autores (2026)</a:t>
            </a:r>
          </a:p>
          <a:p>
            <a:pPr algn="ctr"/>
            <a:r>
              <a:rPr sz="1050" b="1">
                <a:solidFill>
                  <a:srgbClr val="DCB437"/>
                </a:solidFill>
                <a:latin typeface="Arial"/>
                <a:hlinkClick r:id="rId3"/>
              </a:rPr>
              <a:t>Roteiro Técnico | Notas de Aula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Paradigmas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Coesão e Acoplamento nos Paradigmas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Paradigma Estruturado: Foco em funções independentes e parametrização de dados para evitar variáveis globais.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Paradigma Orientado a Objetos: Foco em classes que encapsulam estado e comportamento, isoladas por interfaces abstratas.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50C878"/>
                </a:solidFill>
                <a:latin typeface="Arial"/>
              </a:defRPr>
            </a:pPr>
            <a:r>
              <a:t>•  Paradigma Funcional: Foco em funções matemáticas puras e imutabilidade, zerando o acoplamento de estado.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804672"/>
            <a:ext cx="6062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Arial"/>
              </a:rPr>
              <a:t>Figura 3 - Evolução do Design de Código</a:t>
            </a:r>
          </a:p>
        </p:txBody>
      </p:sp>
      <p:pic>
        <p:nvPicPr>
          <p:cNvPr id="7" name="Picture 6" descr="TCC_Kiel_Demonst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5907024"/>
            <a:ext cx="60624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B4B4B4"/>
                </a:solidFill>
                <a:latin typeface="Arial"/>
              </a:rPr>
              <a:t>Fonte: Elaboração dos Autores (2026)</a:t>
            </a:r>
          </a:p>
          <a:p>
            <a:pPr algn="ctr"/>
            <a:r>
              <a:rPr sz="1050" b="1">
                <a:solidFill>
                  <a:srgbClr val="DCB437"/>
                </a:solidFill>
                <a:latin typeface="Arial"/>
                <a:hlinkClick r:id="rId3"/>
              </a:rPr>
              <a:t>Roteiro Técnico | Notas de Aula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Métricas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Métricas CK de Coesão e Acoplamento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Lack of Cohesion (LCOM): Mede se os métodos compartilham as mesmas variáveis. LCOM alto = falta de coesão.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DCB437"/>
                </a:solidFill>
                <a:latin typeface="Arial"/>
              </a:defRPr>
            </a:pPr>
            <a:r>
              <a:t>•  Coupling Between Objects (CBO): Conta quantas outras classes estão acopladas a uma determinada classe.</a:t>
            </a:r>
          </a:p>
          <a:p>
            <a:pPr>
              <a:spcAft>
                <a:spcPts val="1200"/>
              </a:spcAft>
              <a:defRPr sz="1450" b="1" i="0">
                <a:solidFill>
                  <a:srgbClr val="F05050"/>
                </a:solidFill>
                <a:latin typeface="Arial"/>
              </a:defRPr>
            </a:pPr>
            <a:r>
              <a:t>•  Alerta Estático: Se LCOM ou CBO estiverem elevados, a classe precisa ser refatorada.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88736" y="722376"/>
            <a:ext cx="6172200" cy="5596128"/>
          </a:xfrm>
          <a:prstGeom prst="roundRect">
            <a:avLst>
              <a:gd name="adj" fmla="val 3000"/>
            </a:avLst>
          </a:prstGeom>
          <a:solidFill>
            <a:srgbClr val="1C1C1C"/>
          </a:solidFill>
          <a:ln w="12700"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804672"/>
            <a:ext cx="60624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F0F0"/>
                </a:solidFill>
                <a:latin typeface="Arial"/>
              </a:rPr>
              <a:t>Figura 4 - Métricas CK no Código</a:t>
            </a:r>
          </a:p>
        </p:txBody>
      </p:sp>
      <p:pic>
        <p:nvPicPr>
          <p:cNvPr id="7" name="Picture 6" descr="diagramaH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5896" y="1078992"/>
            <a:ext cx="5897880" cy="4718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5907024"/>
            <a:ext cx="6062472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B4B4B4"/>
                </a:solidFill>
                <a:latin typeface="Arial"/>
              </a:rPr>
              <a:t>Fonte: Baseado em Chidamber \&amp; Kemerer (1994)</a:t>
            </a:r>
          </a:p>
          <a:p>
            <a:pPr algn="ctr"/>
            <a:r>
              <a:rPr sz="1050" b="1">
                <a:solidFill>
                  <a:srgbClr val="DCB437"/>
                </a:solidFill>
                <a:latin typeface="Arial"/>
                <a:hlinkClick r:id="rId3"/>
              </a:rPr>
              <a:t>Roteiro Técnico | Notas de Aula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B437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7289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CB437"/>
                </a:solidFill>
                <a:latin typeface="Arial"/>
              </a:rPr>
              <a:t>Obrigado!</a:t>
            </a:r>
            <a:r>
              <a:rPr sz="1800" b="1">
                <a:solidFill>
                  <a:srgbClr val="DCB437"/>
                </a:solidFill>
                <a:latin typeface="Arial"/>
              </a:rPr>
              <a:t>   —   Perguntas &amp; Discussão</a:t>
            </a:r>
          </a:p>
          <a:p>
            <a:pPr algn="ctr">
              <a:spcBef>
                <a:spcPts val="200"/>
              </a:spcBef>
            </a:pPr>
            <a:r>
              <a:rPr sz="1300" b="1">
                <a:solidFill>
                  <a:srgbClr val="DCB437"/>
                </a:solidFill>
                <a:latin typeface="Arial"/>
              </a:rPr>
              <a:t>Contatos: pedro.henrique.rocha.de.andrade@iff.edu.br  |  ana.soja@iff.edu.br  |  maria.dantas@iff.edu.br</a:t>
            </a:r>
          </a:p>
        </p:txBody>
      </p:sp>
      <p:pic>
        <p:nvPicPr>
          <p:cNvPr id="4" name="Picture 3" descr="qrcode_iff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679" y="1188720"/>
            <a:ext cx="5120640" cy="511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263640"/>
            <a:ext cx="107289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DCB437"/>
                </a:solidFill>
                <a:latin typeface="Arial"/>
                <a:hlinkClick r:id="rId3"/>
              </a:rPr>
              <a:t>https://www.phrandrade.com/pt-br/resource/engenharia-de-computacao/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50592" y="27432"/>
            <a:ext cx="43891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4B4B4"/>
                </a:solidFill>
                <a:latin typeface="Arial"/>
              </a:rPr>
              <a:t> |   </a:t>
            </a:r>
            <a:r>
              <a:rPr sz="2400" b="1">
                <a:solidFill>
                  <a:srgbClr val="F0F0F0"/>
                </a:solidFill>
                <a:latin typeface="Arial"/>
              </a:rPr>
              <a:t>Referências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0"/>
            <a:ext cx="4983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