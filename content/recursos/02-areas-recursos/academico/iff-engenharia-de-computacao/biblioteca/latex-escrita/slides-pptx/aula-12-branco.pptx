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hyperlink" Target="https://www.phrandrade.com/pt-br/resource/latex/aula-12-sintaxe-matematica-amsmath-e-tabelas-booktabs" TargetMode="External"/><Relationship Id="rId4" Type="http://schemas.openxmlformats.org/officeDocument/2006/relationships/hyperlink" Target="mailto:pedroiff0@gmail.com" TargetMode="Externa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.png"/><Relationship Id="rId3" Type="http://schemas.openxmlformats.org/officeDocument/2006/relationships/hyperlink" Target="https://www.phrandrade.com/pt-br/resource/latex/aula-12-sintaxe-matematica-amsmath-e-tabelas-booktabs" TargetMode="External"/><Relationship Id="rId4" Type="http://schemas.openxmlformats.org/officeDocument/2006/relationships/hyperlink" Target="mailto:pedroiff0@gmail.com" TargetMode="Externa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hyperlink" Target="https://www.phrandrade.com/pt-br/resource/latex/aula-12-sintaxe-matematica-amsmath-e-tabelas-booktabs" TargetMode="External"/><Relationship Id="rId4" Type="http://schemas.openxmlformats.org/officeDocument/2006/relationships/hyperlink" Target="mailto:pedroiff0@gmail.com" TargetMode="Externa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hyperlink" Target="https://www.phrandrade.com/pt-br/resource/latex/aula-12-sintaxe-matematica-amsmath-e-tabelas-booktabs" TargetMode="External"/><Relationship Id="rId4" Type="http://schemas.openxmlformats.org/officeDocument/2006/relationships/hyperlink" Target="mailto:pedroiff0@gmail.com" TargetMode="Externa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hyperlink" Target="https://www.phrandrade.com/pt-br/resource/latex/aula-12-sintaxe-matematica-amsmath-e-tabelas-booktabs" TargetMode="External"/><Relationship Id="rId4" Type="http://schemas.openxmlformats.org/officeDocument/2006/relationships/hyperlink" Target="mailto:pedroiff0@gmail.com" TargetMode="Externa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hyperlink" Target="https://www.phrandrade.com/pt-br/resource/latex/aula-12-sintaxe-matematica-amsmath-e-tabelas-booktabs" TargetMode="External"/><Relationship Id="rId4" Type="http://schemas.openxmlformats.org/officeDocument/2006/relationships/hyperlink" Target="mailto:pedroiff0@gmail.com" TargetMode="Externa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hyperlink" Target="https://www.phrandrade.com/pt-br/resource/latex/aula-12-sintaxe-matematica-amsmath-e-tabelas-booktabs" TargetMode="External"/><Relationship Id="rId4" Type="http://schemas.openxmlformats.org/officeDocument/2006/relationships/hyperlink" Target="mailto:pedroiff0@gmail.com" TargetMode="Externa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hyperlink" Target="https://www.phrandrade.com/pt-br/resource/latex/aula-12-sintaxe-matematica-amsmath-e-tabelas-booktabs" TargetMode="External"/><Relationship Id="rId4" Type="http://schemas.openxmlformats.org/officeDocument/2006/relationships/hyperlink" Target="mailto:pedroiff0@gmail.com" TargetMode="Externa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1.png"/><Relationship Id="rId4" Type="http://schemas.openxmlformats.org/officeDocument/2006/relationships/hyperlink" Target="https://www.phrandrade.com/pt-br/resource/latex/aula-12-sintaxe-matematica-amsmath-e-tabelas-booktabs" TargetMode="External"/><Relationship Id="rId5" Type="http://schemas.openxmlformats.org/officeDocument/2006/relationships/hyperlink" Target="mailto:pedroiff0@gmail.com" TargetMode="External"/><Relationship Id="rId6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_iff_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02554" y="640080"/>
            <a:ext cx="3986891" cy="10972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2011680"/>
            <a:ext cx="11277599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1">
                <a:solidFill>
                  <a:srgbClr val="58187C"/>
                </a:solidFill>
                <a:hlinkClick r:id="rId3"/>
              </a:rPr>
              <a:t>[DISCIPLINA]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651760"/>
            <a:ext cx="11277599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800" b="1">
                <a:solidFill>
                  <a:srgbClr val="58187C"/>
                </a:solidFill>
              </a:rPr>
              <a:t>Aula 12: Sintaxe Canônica, Ambientes Matemáticos Avançados (amsmath) e Tabelas (booktabs)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206240"/>
            <a:ext cx="11277599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58187C"/>
                </a:solidFill>
                <a:hlinkClick r:id="rId4"/>
              </a:rPr>
              <a:t>Prof. Pedro Henrique Rocha de Andrade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937760"/>
            <a:ext cx="11277599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>
                <a:solidFill>
                  <a:srgbClr val="5A5A5A"/>
                </a:solidFill>
              </a:rPr>
              <a:t>Instituto Federal Fluminense --- Campus Bom Jesus do Itabapoana
Semestre Letivo 2026 | Bom Jesus do Itabapoana - RJ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_iff_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46304"/>
            <a:ext cx="1461860" cy="40233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657600" y="137160"/>
            <a:ext cx="8168639" cy="402336"/>
          </a:xfrm>
          <a:prstGeom prst="rect">
            <a:avLst/>
          </a:prstGeom>
          <a:noFill/>
        </p:spPr>
        <p:txBody>
          <a:bodyPr wrap="none" tIns="27432">
            <a:spAutoFit/>
          </a:bodyPr>
          <a:lstStyle/>
          <a:p>
            <a:pPr algn="r"/>
            <a:r>
              <a:rPr sz="1300" b="1">
                <a:solidFill>
                  <a:srgbClr val="58187C"/>
                </a:solidFill>
                <a:hlinkClick r:id="rId3"/>
              </a:rPr>
              <a:t>[DISCIPLINA]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21792"/>
            <a:ext cx="12191999" cy="13716"/>
          </a:xfrm>
          <a:prstGeom prst="rect">
            <a:avLst/>
          </a:prstGeom>
          <a:solidFill>
            <a:srgbClr val="58187C"/>
          </a:solidFill>
          <a:ln>
            <a:solidFill>
              <a:srgbClr val="5818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713232"/>
            <a:ext cx="11460479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58187C"/>
                </a:solidFill>
              </a:defRPr>
            </a:pPr>
            <a:r>
              <a:t>Sumário da Aula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999" cy="13716"/>
          </a:xfrm>
          <a:prstGeom prst="rect">
            <a:avLst/>
          </a:prstGeom>
          <a:solidFill>
            <a:srgbClr val="58187C"/>
          </a:solidFill>
          <a:ln>
            <a:solidFill>
              <a:srgbClr val="5818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6464808"/>
            <a:ext cx="426719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l"/>
            <a:r>
              <a:rPr sz="1400" b="1">
                <a:solidFill>
                  <a:srgbClr val="58187C"/>
                </a:solidFill>
                <a:hlinkClick r:id="rId4"/>
              </a:rPr>
              <a:t>Prof. Pedro Henrique Rocha de Andrade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67199" y="6464808"/>
            <a:ext cx="426719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ctr"/>
            <a:r>
              <a:rPr sz="1400">
                <a:solidFill>
                  <a:srgbClr val="5A5A5A"/>
                </a:solidFill>
              </a:rPr>
              <a:t>Aula 12: Sintaxe Canônica, Ambientes Matemáticos Avançados (amsmath) e Tabelas (booktabs)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34399" y="6464808"/>
            <a:ext cx="316991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r"/>
            <p:fld id="{2A0A0A0-1111-2222-3333-444444444444}" type="slidenum">
              <a:rPr lang="pt-BR" b="1" sz="1400">
                <a:solidFill>
                  <a:srgbClr val="58187C"/>
                </a:solidFill>
              </a:rPr>
              <p:t>2</p:t>
            </p:fld>
            <a:r>
              <a:rPr sz="1400" b="1">
                <a:solidFill>
                  <a:srgbClr val="58187C"/>
                </a:solidFill>
              </a:rPr>
              <a:t> / 9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1371600"/>
            <a:ext cx="1109471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1800" b="1">
                <a:solidFill>
                  <a:srgbClr val="58187C"/>
                </a:solidFill>
              </a:defRPr>
            </a:pPr>
            <a:r>
              <a:t>1. O Pacote amsmath: O Coração da Matemática no LaTeX</a:t>
            </a:r>
          </a:p>
          <a:p>
            <a:pPr>
              <a:spcAft>
                <a:spcPts val="1000"/>
              </a:spcAft>
              <a:defRPr sz="1800" b="1">
                <a:solidFill>
                  <a:srgbClr val="58187C"/>
                </a:solidFill>
              </a:defRPr>
            </a:pPr>
            <a:r>
              <a:t>2. Diagramação de Tabelas Profissionais com booktabs</a:t>
            </a:r>
          </a:p>
          <a:p>
            <a:pPr>
              <a:spcAft>
                <a:spcPts val="1000"/>
              </a:spcAft>
              <a:defRPr sz="1800" b="1">
                <a:solidFill>
                  <a:srgbClr val="58187C"/>
                </a:solidFill>
              </a:defRPr>
            </a:pPr>
            <a:r>
              <a:t>3. Estudo de Caso: Adequação Visual de uma Dissertação</a:t>
            </a:r>
          </a:p>
          <a:p>
            <a:pPr>
              <a:spcAft>
                <a:spcPts val="1000"/>
              </a:spcAft>
              <a:defRPr sz="1800" b="1">
                <a:solidFill>
                  <a:srgbClr val="58187C"/>
                </a:solidFill>
              </a:defRPr>
            </a:pPr>
            <a:r>
              <a:t>4. Diagrama de Estrutura de Tabela</a:t>
            </a:r>
          </a:p>
          <a:p>
            <a:pPr>
              <a:spcAft>
                <a:spcPts val="1000"/>
              </a:spcAft>
              <a:defRPr sz="1800" b="1">
                <a:solidFill>
                  <a:srgbClr val="58187C"/>
                </a:solidFill>
              </a:defRPr>
            </a:pPr>
            <a:r>
              <a:t>5. Exercício Prático</a:t>
            </a:r>
          </a:p>
          <a:p>
            <a:pPr>
              <a:spcAft>
                <a:spcPts val="1000"/>
              </a:spcAft>
              <a:defRPr sz="1800" b="1">
                <a:solidFill>
                  <a:srgbClr val="58187C"/>
                </a:solidFill>
              </a:defRPr>
            </a:pPr>
            <a:r>
              <a:t>6. Referências Bibliográficas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_iff_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46304"/>
            <a:ext cx="1461860" cy="40233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657600" y="137160"/>
            <a:ext cx="8168639" cy="402336"/>
          </a:xfrm>
          <a:prstGeom prst="rect">
            <a:avLst/>
          </a:prstGeom>
          <a:noFill/>
        </p:spPr>
        <p:txBody>
          <a:bodyPr wrap="none" tIns="27432">
            <a:spAutoFit/>
          </a:bodyPr>
          <a:lstStyle/>
          <a:p>
            <a:pPr algn="r"/>
            <a:r>
              <a:rPr sz="1300" b="1">
                <a:solidFill>
                  <a:srgbClr val="58187C"/>
                </a:solidFill>
                <a:hlinkClick r:id="rId3"/>
              </a:rPr>
              <a:t>[DISCIPLINA]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21792"/>
            <a:ext cx="12191999" cy="13716"/>
          </a:xfrm>
          <a:prstGeom prst="rect">
            <a:avLst/>
          </a:prstGeom>
          <a:solidFill>
            <a:srgbClr val="58187C"/>
          </a:solidFill>
          <a:ln>
            <a:solidFill>
              <a:srgbClr val="5818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713232"/>
            <a:ext cx="11460479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58187C"/>
                </a:solidFill>
              </a:defRPr>
            </a:pPr>
            <a:r>
              <a:t>1. O Pacote amsmath: O Coração da Matemática no La...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999" cy="13716"/>
          </a:xfrm>
          <a:prstGeom prst="rect">
            <a:avLst/>
          </a:prstGeom>
          <a:solidFill>
            <a:srgbClr val="58187C"/>
          </a:solidFill>
          <a:ln>
            <a:solidFill>
              <a:srgbClr val="5818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6464808"/>
            <a:ext cx="426719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l"/>
            <a:r>
              <a:rPr sz="1400" b="1">
                <a:solidFill>
                  <a:srgbClr val="58187C"/>
                </a:solidFill>
                <a:hlinkClick r:id="rId4"/>
              </a:rPr>
              <a:t>Prof. Pedro Henrique Rocha de Andrade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67199" y="6464808"/>
            <a:ext cx="426719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ctr"/>
            <a:r>
              <a:rPr sz="1400">
                <a:solidFill>
                  <a:srgbClr val="5A5A5A"/>
                </a:solidFill>
              </a:rPr>
              <a:t>Aula 12: Sintaxe Canônica, Ambientes Matemáticos Avançados (amsmath) e Tabelas (booktabs)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34399" y="6464808"/>
            <a:ext cx="316991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r"/>
            <p:fld id="{3A0A0A0-1111-2222-3333-444444444444}" type="slidenum">
              <a:rPr lang="pt-BR" b="1" sz="1400">
                <a:solidFill>
                  <a:srgbClr val="58187C"/>
                </a:solidFill>
              </a:rPr>
              <p:t>3</p:t>
            </p:fld>
            <a:r>
              <a:rPr sz="1400" b="1">
                <a:solidFill>
                  <a:srgbClr val="58187C"/>
                </a:solidFill>
              </a:rPr>
              <a:t> / 9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1371600"/>
            <a:ext cx="1109471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  <a:defRPr sz="1700">
                <a:solidFill>
                  <a:srgbClr val="141414"/>
                </a:solidFill>
              </a:defRPr>
            </a:pPr>
            <a:r>
              <a:t>• O LaTeX possui capacidades matemáticas nativas robustas, mas foi a Sociedade Americana de Matemática (American Mathematical Society - AMS) que elevou a tipografia matemática a um patamar definitivo com o pacote `amsmath` (e suas extensões `amssymb`, `amsthm`, e o moderno `mathtools`).</a:t>
            </a:r>
          </a:p>
          <a:p>
            <a:pPr>
              <a:spcAft>
                <a:spcPts val="800"/>
              </a:spcAft>
              <a:defRPr sz="1700">
                <a:solidFill>
                  <a:srgbClr val="141414"/>
                </a:solidFill>
              </a:defRPr>
            </a:pPr>
            <a:r>
              <a:t>• A sintaxe matemática exige clareza e precisão. Evita-se o uso dos antigos ambientes `eqnarray` em favor dos ambientes fornecidos pelo `amsmath`, devido a problemas conhecidos de espaçamento e alinhamento do `eqnarray`.</a:t>
            </a:r>
          </a:p>
          <a:p>
            <a:pPr>
              <a:spcAft>
                <a:spcPts val="800"/>
              </a:spcAft>
              <a:defRPr sz="1700">
                <a:solidFill>
                  <a:srgbClr val="141414"/>
                </a:solidFill>
              </a:defRPr>
            </a:pPr>
            <a:r>
              <a:t>• 1.1 Ambientes Alinhados e Equações Multilinhas</a:t>
            </a:r>
          </a:p>
          <a:p>
            <a:pPr>
              <a:spcAft>
                <a:spcPts val="800"/>
              </a:spcAft>
              <a:defRPr sz="1700">
                <a:solidFill>
                  <a:srgbClr val="141414"/>
                </a:solidFill>
              </a:defRPr>
            </a:pPr>
            <a:r>
              <a:t>• Os principais ambientes para diagramação de equações são:</a:t>
            </a:r>
          </a:p>
          <a:p>
            <a:pPr>
              <a:spcAft>
                <a:spcPts val="800"/>
              </a:spcAft>
              <a:defRPr sz="1700">
                <a:solidFill>
                  <a:srgbClr val="141414"/>
                </a:solidFill>
              </a:defRPr>
            </a:pPr>
            <a:r>
              <a:t>• `equation`: Equação simples e numerada.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_iff_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46304"/>
            <a:ext cx="1461860" cy="40233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657600" y="137160"/>
            <a:ext cx="8168639" cy="402336"/>
          </a:xfrm>
          <a:prstGeom prst="rect">
            <a:avLst/>
          </a:prstGeom>
          <a:noFill/>
        </p:spPr>
        <p:txBody>
          <a:bodyPr wrap="none" tIns="27432">
            <a:spAutoFit/>
          </a:bodyPr>
          <a:lstStyle/>
          <a:p>
            <a:pPr algn="r"/>
            <a:r>
              <a:rPr sz="1300" b="1">
                <a:solidFill>
                  <a:srgbClr val="58187C"/>
                </a:solidFill>
                <a:hlinkClick r:id="rId3"/>
              </a:rPr>
              <a:t>[DISCIPLINA]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21792"/>
            <a:ext cx="12191999" cy="13716"/>
          </a:xfrm>
          <a:prstGeom prst="rect">
            <a:avLst/>
          </a:prstGeom>
          <a:solidFill>
            <a:srgbClr val="58187C"/>
          </a:solidFill>
          <a:ln>
            <a:solidFill>
              <a:srgbClr val="5818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713232"/>
            <a:ext cx="11460479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58187C"/>
                </a:solidFill>
              </a:defRPr>
            </a:pPr>
            <a:r>
              <a:t>2. Diagramação de Tabelas Profissionais com bookta...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999" cy="13716"/>
          </a:xfrm>
          <a:prstGeom prst="rect">
            <a:avLst/>
          </a:prstGeom>
          <a:solidFill>
            <a:srgbClr val="58187C"/>
          </a:solidFill>
          <a:ln>
            <a:solidFill>
              <a:srgbClr val="5818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6464808"/>
            <a:ext cx="426719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l"/>
            <a:r>
              <a:rPr sz="1400" b="1">
                <a:solidFill>
                  <a:srgbClr val="58187C"/>
                </a:solidFill>
                <a:hlinkClick r:id="rId4"/>
              </a:rPr>
              <a:t>Prof. Pedro Henrique Rocha de Andrade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67199" y="6464808"/>
            <a:ext cx="426719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ctr"/>
            <a:r>
              <a:rPr sz="1400">
                <a:solidFill>
                  <a:srgbClr val="5A5A5A"/>
                </a:solidFill>
              </a:rPr>
              <a:t>Aula 12: Sintaxe Canônica, Ambientes Matemáticos Avançados (amsmath) e Tabelas (booktabs)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34399" y="6464808"/>
            <a:ext cx="316991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r"/>
            <p:fld id="{4A0A0A0-1111-2222-3333-444444444444}" type="slidenum">
              <a:rPr lang="pt-BR" b="1" sz="1400">
                <a:solidFill>
                  <a:srgbClr val="58187C"/>
                </a:solidFill>
              </a:rPr>
              <p:t>4</p:t>
            </p:fld>
            <a:r>
              <a:rPr sz="1400" b="1">
                <a:solidFill>
                  <a:srgbClr val="58187C"/>
                </a:solidFill>
              </a:rPr>
              <a:t> / 9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1371600"/>
            <a:ext cx="1109471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  <a:defRPr sz="1700">
                <a:solidFill>
                  <a:srgbClr val="141414"/>
                </a:solidFill>
              </a:defRPr>
            </a:pPr>
            <a:r>
              <a:t>• Na escrita acadêmica e científica de alto nível, tabelas não devem se assemelhar a grades de planilhas. A filosofia da tipografia clássica estipula que linhas verticais (`|`) devem ser abolidas e linhas horizontais devem ser reduzidas ao mínimo essencial. O pacote `booktabs` provê comandos otimizados de espessura e espaçamento.</a:t>
            </a:r>
          </a:p>
          <a:p>
            <a:pPr>
              <a:spcAft>
                <a:spcPts val="800"/>
              </a:spcAft>
              <a:defRPr sz="1700">
                <a:solidFill>
                  <a:srgbClr val="141414"/>
                </a:solidFill>
              </a:defRPr>
            </a:pPr>
            <a:r>
              <a:t>• 2.1 Regras de Ouro (Normas IBGE e Práticas Acadêmicas)</a:t>
            </a:r>
          </a:p>
          <a:p>
            <a:pPr>
              <a:spcAft>
                <a:spcPts val="800"/>
              </a:spcAft>
              <a:defRPr sz="1700">
                <a:solidFill>
                  <a:srgbClr val="141414"/>
                </a:solidFill>
              </a:defRPr>
            </a:pPr>
            <a:r>
              <a:t>• A norma de Apresentação Tabular (IBGE, 1993), muitas vezes referenciada por instituições brasileiras, concorda com a abolição das bordas laterais.</a:t>
            </a:r>
          </a:p>
          <a:p>
            <a:pPr>
              <a:spcAft>
                <a:spcPts val="800"/>
              </a:spcAft>
              <a:defRPr sz="1700">
                <a:solidFill>
                  <a:srgbClr val="141414"/>
                </a:solidFill>
              </a:defRPr>
            </a:pPr>
            <a:r>
              <a:t>• 1. Não utilize linhas verticais.</a:t>
            </a:r>
          </a:p>
          <a:p>
            <a:pPr>
              <a:spcAft>
                <a:spcPts val="800"/>
              </a:spcAft>
              <a:defRPr sz="1700">
                <a:solidFill>
                  <a:srgbClr val="141414"/>
                </a:solidFill>
              </a:defRPr>
            </a:pPr>
            <a:r>
              <a:t>• 2. Não utilize linha dupla horizontal (`\hline\hline`).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_iff_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46304"/>
            <a:ext cx="1461860" cy="40233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657600" y="137160"/>
            <a:ext cx="8168639" cy="402336"/>
          </a:xfrm>
          <a:prstGeom prst="rect">
            <a:avLst/>
          </a:prstGeom>
          <a:noFill/>
        </p:spPr>
        <p:txBody>
          <a:bodyPr wrap="none" tIns="27432">
            <a:spAutoFit/>
          </a:bodyPr>
          <a:lstStyle/>
          <a:p>
            <a:pPr algn="r"/>
            <a:r>
              <a:rPr sz="1300" b="1">
                <a:solidFill>
                  <a:srgbClr val="58187C"/>
                </a:solidFill>
                <a:hlinkClick r:id="rId3"/>
              </a:rPr>
              <a:t>[DISCIPLINA]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21792"/>
            <a:ext cx="12191999" cy="13716"/>
          </a:xfrm>
          <a:prstGeom prst="rect">
            <a:avLst/>
          </a:prstGeom>
          <a:solidFill>
            <a:srgbClr val="58187C"/>
          </a:solidFill>
          <a:ln>
            <a:solidFill>
              <a:srgbClr val="5818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713232"/>
            <a:ext cx="11460479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58187C"/>
                </a:solidFill>
              </a:defRPr>
            </a:pPr>
            <a:r>
              <a:t>3. Estudo de Caso: Adequação Visual de uma Dissert...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999" cy="13716"/>
          </a:xfrm>
          <a:prstGeom prst="rect">
            <a:avLst/>
          </a:prstGeom>
          <a:solidFill>
            <a:srgbClr val="58187C"/>
          </a:solidFill>
          <a:ln>
            <a:solidFill>
              <a:srgbClr val="5818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6464808"/>
            <a:ext cx="426719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l"/>
            <a:r>
              <a:rPr sz="1400" b="1">
                <a:solidFill>
                  <a:srgbClr val="58187C"/>
                </a:solidFill>
                <a:hlinkClick r:id="rId4"/>
              </a:rPr>
              <a:t>Prof. Pedro Henrique Rocha de Andrade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67199" y="6464808"/>
            <a:ext cx="426719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ctr"/>
            <a:r>
              <a:rPr sz="1400">
                <a:solidFill>
                  <a:srgbClr val="5A5A5A"/>
                </a:solidFill>
              </a:rPr>
              <a:t>Aula 12: Sintaxe Canônica, Ambientes Matemáticos Avançados (amsmath) e Tabelas (booktabs)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34399" y="6464808"/>
            <a:ext cx="316991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r"/>
            <p:fld id="{5A0A0A0-1111-2222-3333-444444444444}" type="slidenum">
              <a:rPr lang="pt-BR" b="1" sz="1400">
                <a:solidFill>
                  <a:srgbClr val="58187C"/>
                </a:solidFill>
              </a:rPr>
              <p:t>5</p:t>
            </p:fld>
            <a:r>
              <a:rPr sz="1400" b="1">
                <a:solidFill>
                  <a:srgbClr val="58187C"/>
                </a:solidFill>
              </a:rPr>
              <a:t> / 9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1371600"/>
            <a:ext cx="1109471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  <a:defRPr sz="1700">
                <a:solidFill>
                  <a:srgbClr val="141414"/>
                </a:solidFill>
              </a:defRPr>
            </a:pPr>
            <a:r>
              <a:t>• A aluna Maria defendeu seu mestrado e a banca solicitou que as 35 tabelas de sua dissertação perdessem as "grades" de Excel. Ao longo de 4 horas, utilizando expressões regulares e o pacote `booktabs`, foi feita uma refatoração em massa.</a:t>
            </a:r>
          </a:p>
          <a:p>
            <a:pPr>
              <a:spcAft>
                <a:spcPts val="800"/>
              </a:spcAft>
              <a:defRPr sz="1700">
                <a:solidFill>
                  <a:srgbClr val="141414"/>
                </a:solidFill>
              </a:defRPr>
            </a:pPr>
            <a:r>
              <a:t>• Os ganhos foram imensos em legibilidade e profissionalismo, sendo elogiado pela banca avaliadora na entrega da versão final em conformidade com as normas IBGE/ABNT.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_iff_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46304"/>
            <a:ext cx="1461860" cy="40233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657600" y="137160"/>
            <a:ext cx="8168639" cy="402336"/>
          </a:xfrm>
          <a:prstGeom prst="rect">
            <a:avLst/>
          </a:prstGeom>
          <a:noFill/>
        </p:spPr>
        <p:txBody>
          <a:bodyPr wrap="none" tIns="27432">
            <a:spAutoFit/>
          </a:bodyPr>
          <a:lstStyle/>
          <a:p>
            <a:pPr algn="r"/>
            <a:r>
              <a:rPr sz="1300" b="1">
                <a:solidFill>
                  <a:srgbClr val="58187C"/>
                </a:solidFill>
                <a:hlinkClick r:id="rId3"/>
              </a:rPr>
              <a:t>[DISCIPLINA]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21792"/>
            <a:ext cx="12191999" cy="13716"/>
          </a:xfrm>
          <a:prstGeom prst="rect">
            <a:avLst/>
          </a:prstGeom>
          <a:solidFill>
            <a:srgbClr val="58187C"/>
          </a:solidFill>
          <a:ln>
            <a:solidFill>
              <a:srgbClr val="5818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713232"/>
            <a:ext cx="11460479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58187C"/>
                </a:solidFill>
              </a:defRPr>
            </a:pPr>
            <a:r>
              <a:t>4. Diagrama de Estrutura de Tabela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999" cy="13716"/>
          </a:xfrm>
          <a:prstGeom prst="rect">
            <a:avLst/>
          </a:prstGeom>
          <a:solidFill>
            <a:srgbClr val="58187C"/>
          </a:solidFill>
          <a:ln>
            <a:solidFill>
              <a:srgbClr val="5818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6464808"/>
            <a:ext cx="426719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l"/>
            <a:r>
              <a:rPr sz="1400" b="1">
                <a:solidFill>
                  <a:srgbClr val="58187C"/>
                </a:solidFill>
                <a:hlinkClick r:id="rId4"/>
              </a:rPr>
              <a:t>Prof. Pedro Henrique Rocha de Andrade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67199" y="6464808"/>
            <a:ext cx="426719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ctr"/>
            <a:r>
              <a:rPr sz="1400">
                <a:solidFill>
                  <a:srgbClr val="5A5A5A"/>
                </a:solidFill>
              </a:rPr>
              <a:t>Aula 12: Sintaxe Canônica, Ambientes Matemáticos Avançados (amsmath) e Tabelas (booktabs)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34399" y="6464808"/>
            <a:ext cx="316991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r"/>
            <p:fld id="{6A0A0A0-1111-2222-3333-444444444444}" type="slidenum">
              <a:rPr lang="pt-BR" b="1" sz="1400">
                <a:solidFill>
                  <a:srgbClr val="58187C"/>
                </a:solidFill>
              </a:rPr>
              <p:t>6</p:t>
            </p:fld>
            <a:r>
              <a:rPr sz="1400" b="1">
                <a:solidFill>
                  <a:srgbClr val="58187C"/>
                </a:solidFill>
              </a:rPr>
              <a:t> / 9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1371600"/>
            <a:ext cx="1109471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  <a:defRPr sz="1700">
                <a:solidFill>
                  <a:srgbClr val="141414"/>
                </a:solidFill>
              </a:defRPr>
            </a:pPr>
            <a:r>
              <a:t>• graph LR</a:t>
            </a:r>
          </a:p>
          <a:p>
            <a:pPr>
              <a:spcAft>
                <a:spcPts val="800"/>
              </a:spcAft>
              <a:defRPr sz="1700">
                <a:solidFill>
                  <a:srgbClr val="141414"/>
                </a:solidFill>
              </a:defRPr>
            </a:pPr>
            <a:r>
              <a:t>• T((Tabela)) --&gt; Top[toprule: Espessa, limite superior]</a:t>
            </a:r>
          </a:p>
          <a:p>
            <a:pPr>
              <a:spcAft>
                <a:spcPts val="800"/>
              </a:spcAft>
              <a:defRPr sz="1700">
                <a:solidFill>
                  <a:srgbClr val="141414"/>
                </a:solidFill>
              </a:defRPr>
            </a:pPr>
            <a:r>
              <a:t>• T --&gt; Mid[midrule: Separa cabeçalho dos dados]</a:t>
            </a:r>
          </a:p>
          <a:p>
            <a:pPr>
              <a:spcAft>
                <a:spcPts val="800"/>
              </a:spcAft>
              <a:defRPr sz="1700">
                <a:solidFill>
                  <a:srgbClr val="141414"/>
                </a:solidFill>
              </a:defRPr>
            </a:pPr>
            <a:r>
              <a:t>• T --&gt; Bot[bottomrule: Espessa, limite inferior]</a:t>
            </a:r>
          </a:p>
          <a:p>
            <a:pPr>
              <a:spcAft>
                <a:spcPts val="800"/>
              </a:spcAft>
              <a:defRPr sz="1700">
                <a:solidFill>
                  <a:srgbClr val="141414"/>
                </a:solidFill>
              </a:defRPr>
            </a:pPr>
            <a:r>
              <a:t>• Top -.-&gt; Cabeçalho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_iff_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46304"/>
            <a:ext cx="1461860" cy="40233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657600" y="137160"/>
            <a:ext cx="8168639" cy="402336"/>
          </a:xfrm>
          <a:prstGeom prst="rect">
            <a:avLst/>
          </a:prstGeom>
          <a:noFill/>
        </p:spPr>
        <p:txBody>
          <a:bodyPr wrap="none" tIns="27432">
            <a:spAutoFit/>
          </a:bodyPr>
          <a:lstStyle/>
          <a:p>
            <a:pPr algn="r"/>
            <a:r>
              <a:rPr sz="1300" b="1">
                <a:solidFill>
                  <a:srgbClr val="58187C"/>
                </a:solidFill>
                <a:hlinkClick r:id="rId3"/>
              </a:rPr>
              <a:t>[DISCIPLINA]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21792"/>
            <a:ext cx="12191999" cy="13716"/>
          </a:xfrm>
          <a:prstGeom prst="rect">
            <a:avLst/>
          </a:prstGeom>
          <a:solidFill>
            <a:srgbClr val="58187C"/>
          </a:solidFill>
          <a:ln>
            <a:solidFill>
              <a:srgbClr val="5818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713232"/>
            <a:ext cx="11460479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58187C"/>
                </a:solidFill>
              </a:defRPr>
            </a:pPr>
            <a:r>
              <a:t>5. Exercício Prático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999" cy="13716"/>
          </a:xfrm>
          <a:prstGeom prst="rect">
            <a:avLst/>
          </a:prstGeom>
          <a:solidFill>
            <a:srgbClr val="58187C"/>
          </a:solidFill>
          <a:ln>
            <a:solidFill>
              <a:srgbClr val="5818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6464808"/>
            <a:ext cx="426719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l"/>
            <a:r>
              <a:rPr sz="1400" b="1">
                <a:solidFill>
                  <a:srgbClr val="58187C"/>
                </a:solidFill>
                <a:hlinkClick r:id="rId4"/>
              </a:rPr>
              <a:t>Prof. Pedro Henrique Rocha de Andrade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67199" y="6464808"/>
            <a:ext cx="426719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ctr"/>
            <a:r>
              <a:rPr sz="1400">
                <a:solidFill>
                  <a:srgbClr val="5A5A5A"/>
                </a:solidFill>
              </a:rPr>
              <a:t>Aula 12: Sintaxe Canônica, Ambientes Matemáticos Avançados (amsmath) e Tabelas (booktabs)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34399" y="6464808"/>
            <a:ext cx="316991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r"/>
            <p:fld id="{7A0A0A0-1111-2222-3333-444444444444}" type="slidenum">
              <a:rPr lang="pt-BR" b="1" sz="1400">
                <a:solidFill>
                  <a:srgbClr val="58187C"/>
                </a:solidFill>
              </a:rPr>
              <p:t>7</p:t>
            </p:fld>
            <a:r>
              <a:rPr sz="1400" b="1">
                <a:solidFill>
                  <a:srgbClr val="58187C"/>
                </a:solidFill>
              </a:rPr>
              <a:t> / 9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1371600"/>
            <a:ext cx="1109471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  <a:defRPr sz="1700">
                <a:solidFill>
                  <a:srgbClr val="141414"/>
                </a:solidFill>
              </a:defRPr>
            </a:pPr>
            <a:r>
              <a:t>• 1. Inicie um documento e importe `mathtools` e `booktabs`.</a:t>
            </a:r>
          </a:p>
          <a:p>
            <a:pPr>
              <a:spcAft>
                <a:spcPts val="800"/>
              </a:spcAft>
              <a:defRPr sz="1700">
                <a:solidFill>
                  <a:srgbClr val="141414"/>
                </a:solidFill>
              </a:defRPr>
            </a:pPr>
            <a:r>
              <a:t>• 2. Escreva o Teorema de Pitágoras e a Fórmula de Bhaskara utilizando o ambiente `align`.</a:t>
            </a:r>
          </a:p>
          <a:p>
            <a:pPr>
              <a:spcAft>
                <a:spcPts val="800"/>
              </a:spcAft>
              <a:defRPr sz="1700">
                <a:solidFill>
                  <a:srgbClr val="141414"/>
                </a:solidFill>
              </a:defRPr>
            </a:pPr>
            <a:r>
              <a:t>• 3. Crie uma tabela apresentando resultados experimentais (3 colunas, 4 linhas de dados) utilizando estritamente a filosofia do `booktabs`.</a:t>
            </a:r>
          </a:p>
          <a:p>
            <a:pPr>
              <a:spcAft>
                <a:spcPts val="800"/>
              </a:spcAft>
              <a:defRPr sz="1700">
                <a:solidFill>
                  <a:srgbClr val="141414"/>
                </a:solidFill>
              </a:defRPr>
            </a:pPr>
            <a:r>
              <a:t>• 4. Inclua uma legenda (caption) superior e uma fonte inferior (padrão ABNT).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_iff_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46304"/>
            <a:ext cx="1461860" cy="40233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657600" y="137160"/>
            <a:ext cx="8168639" cy="402336"/>
          </a:xfrm>
          <a:prstGeom prst="rect">
            <a:avLst/>
          </a:prstGeom>
          <a:noFill/>
        </p:spPr>
        <p:txBody>
          <a:bodyPr wrap="none" tIns="27432">
            <a:spAutoFit/>
          </a:bodyPr>
          <a:lstStyle/>
          <a:p>
            <a:pPr algn="r"/>
            <a:r>
              <a:rPr sz="1300" b="1">
                <a:solidFill>
                  <a:srgbClr val="58187C"/>
                </a:solidFill>
                <a:hlinkClick r:id="rId3"/>
              </a:rPr>
              <a:t>[DISCIPLINA]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21792"/>
            <a:ext cx="12191999" cy="13716"/>
          </a:xfrm>
          <a:prstGeom prst="rect">
            <a:avLst/>
          </a:prstGeom>
          <a:solidFill>
            <a:srgbClr val="58187C"/>
          </a:solidFill>
          <a:ln>
            <a:solidFill>
              <a:srgbClr val="5818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713232"/>
            <a:ext cx="11460479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58187C"/>
                </a:solidFill>
              </a:defRPr>
            </a:pPr>
            <a:r>
              <a:t>6. Referências Bibliográficas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999" cy="13716"/>
          </a:xfrm>
          <a:prstGeom prst="rect">
            <a:avLst/>
          </a:prstGeom>
          <a:solidFill>
            <a:srgbClr val="58187C"/>
          </a:solidFill>
          <a:ln>
            <a:solidFill>
              <a:srgbClr val="5818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6464808"/>
            <a:ext cx="426719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l"/>
            <a:r>
              <a:rPr sz="1400" b="1">
                <a:solidFill>
                  <a:srgbClr val="58187C"/>
                </a:solidFill>
                <a:hlinkClick r:id="rId4"/>
              </a:rPr>
              <a:t>Prof. Pedro Henrique Rocha de Andrade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67199" y="6464808"/>
            <a:ext cx="426719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ctr"/>
            <a:r>
              <a:rPr sz="1400">
                <a:solidFill>
                  <a:srgbClr val="5A5A5A"/>
                </a:solidFill>
              </a:rPr>
              <a:t>Aula 12: Sintaxe Canônica, Ambientes Matemáticos Avançados (amsmath) e Tabelas (booktabs)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34399" y="6464808"/>
            <a:ext cx="316991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r"/>
            <p:fld id="{8A0A0A0-1111-2222-3333-444444444444}" type="slidenum">
              <a:rPr lang="pt-BR" b="1" sz="1400">
                <a:solidFill>
                  <a:srgbClr val="58187C"/>
                </a:solidFill>
              </a:rPr>
              <p:t>8</p:t>
            </p:fld>
            <a:r>
              <a:rPr sz="1400" b="1">
                <a:solidFill>
                  <a:srgbClr val="58187C"/>
                </a:solidFill>
              </a:rPr>
              <a:t> / 9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1371600"/>
            <a:ext cx="1109471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  <a:defRPr sz="1700">
                <a:solidFill>
                  <a:srgbClr val="141414"/>
                </a:solidFill>
              </a:defRPr>
            </a:pPr>
            <a:r>
              <a:t>• IBGE. Centro de Documentação e Disseminação de Informações. Normas de apresentação tabular. 3. ed. Rio de Janeiro: IBGE, 1993.</a:t>
            </a:r>
          </a:p>
          <a:p>
            <a:pPr>
              <a:spcAft>
                <a:spcPts val="800"/>
              </a:spcAft>
              <a:defRPr sz="1700">
                <a:solidFill>
                  <a:srgbClr val="141414"/>
                </a:solidFill>
              </a:defRPr>
            </a:pPr>
            <a:r>
              <a:t>• OETIKER, Tobias et al. The Not So Short Introduction to LaTeX2e. Version 6.4, 2021.</a:t>
            </a:r>
          </a:p>
          <a:p>
            <a:pPr>
              <a:spcAft>
                <a:spcPts val="800"/>
              </a:spcAft>
              <a:defRPr sz="1700">
                <a:solidFill>
                  <a:srgbClr val="141414"/>
                </a:solidFill>
              </a:defRPr>
            </a:pPr>
            <a:r>
              <a:t>• FEAR, Simon. Publication quality tables in LaTeX. CTAN, 2020.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noite_estrelada_soft_ligh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pic>
        <p:nvPicPr>
          <p:cNvPr id="3" name="Picture 2" descr="logo_iff_cro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46304"/>
            <a:ext cx="1461860" cy="40233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657600" y="137160"/>
            <a:ext cx="8168639" cy="402336"/>
          </a:xfrm>
          <a:prstGeom prst="rect">
            <a:avLst/>
          </a:prstGeom>
          <a:noFill/>
        </p:spPr>
        <p:txBody>
          <a:bodyPr wrap="none" tIns="27432">
            <a:spAutoFit/>
          </a:bodyPr>
          <a:lstStyle/>
          <a:p>
            <a:pPr algn="r"/>
            <a:r>
              <a:rPr sz="1300" b="1">
                <a:solidFill>
                  <a:srgbClr val="58187C"/>
                </a:solidFill>
                <a:hlinkClick r:id="rId4"/>
              </a:rPr>
              <a:t>[DISCIPLINA]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21792"/>
            <a:ext cx="12191999" cy="13716"/>
          </a:xfrm>
          <a:prstGeom prst="rect">
            <a:avLst/>
          </a:prstGeom>
          <a:solidFill>
            <a:srgbClr val="58187C"/>
          </a:solidFill>
          <a:ln>
            <a:solidFill>
              <a:srgbClr val="5818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419088"/>
            <a:ext cx="12191999" cy="13716"/>
          </a:xfrm>
          <a:prstGeom prst="rect">
            <a:avLst/>
          </a:prstGeom>
          <a:solidFill>
            <a:srgbClr val="58187C"/>
          </a:solidFill>
          <a:ln>
            <a:solidFill>
              <a:srgbClr val="5818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464808"/>
            <a:ext cx="426719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l"/>
            <a:r>
              <a:rPr sz="1400" b="1">
                <a:solidFill>
                  <a:srgbClr val="58187C"/>
                </a:solidFill>
                <a:hlinkClick r:id="rId5"/>
              </a:rPr>
              <a:t>Prof. Pedro Henrique Rocha de Andrade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67199" y="6464808"/>
            <a:ext cx="426719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ctr"/>
            <a:r>
              <a:rPr sz="1400">
                <a:solidFill>
                  <a:srgbClr val="5A5A5A"/>
                </a:solidFill>
              </a:rPr>
              <a:t>Aula 12: Sintaxe Canônica, Ambientes Matemáticos Avançados (amsmath) e Tabelas (booktabs)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34399" y="6464808"/>
            <a:ext cx="316991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r"/>
            <p:fld id="{9A0A0A0-1111-2222-3333-444444444444}" type="slidenum">
              <a:rPr lang="pt-BR" b="1" sz="1400">
                <a:solidFill>
                  <a:srgbClr val="58187C"/>
                </a:solidFill>
              </a:rPr>
              <p:t>9</p:t>
            </p:fld>
            <a:r>
              <a:rPr sz="1400" b="1">
                <a:solidFill>
                  <a:srgbClr val="58187C"/>
                </a:solidFill>
              </a:rPr>
              <a:t> / 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645920"/>
            <a:ext cx="4572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5400" b="1">
                <a:solidFill>
                  <a:srgbClr val="58187C"/>
                </a:solidFill>
              </a:defRPr>
            </a:pPr>
            <a:r>
              <a:t>Obrigado!</a:t>
            </a:r>
          </a:p>
          <a:p>
            <a:br/>
            <a:pPr>
              <a:defRPr sz="3200" b="1">
                <a:solidFill>
                  <a:srgbClr val="141414"/>
                </a:solidFill>
              </a:defRPr>
            </a:pPr>
            <a:r>
              <a:t>Perguntas?</a:t>
            </a:r>
          </a:p>
          <a:p>
            <a:r>
              <a:rPr sz="2200">
                <a:solidFill>
                  <a:srgbClr val="58187C"/>
                </a:solidFill>
                <a:hlinkClick r:id="rId5"/>
              </a:rPr>
              <a:t>
Contato: pedroiff0@gmail.com</a:t>
            </a:r>
          </a:p>
        </p:txBody>
      </p:sp>
      <p:pic>
        <p:nvPicPr>
          <p:cNvPr id="11" name="Picture 10" descr="qrcode_aula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17920" y="868680"/>
            <a:ext cx="4937760" cy="493776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669280" y="5897880"/>
            <a:ext cx="60350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58187C"/>
                </a:solidFill>
                <a:hlinkClick r:id="rId4"/>
              </a:rPr>
              <a:t>https://www.phrandrade.com/pt-br/resource/latex/aula-12-sintaxe-matematica-amsmath-e-tabelas-booktabs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3C145A"/>
      </a:dk2>
      <a:lt2>
        <a:srgbClr val="EEECE1"/>
      </a:lt2>
      <a:accent1>
        <a:srgbClr val="58187C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58187C"/>
      </a:hlink>
      <a:folHlink>
        <a:srgbClr val="58187C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