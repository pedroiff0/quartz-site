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20-automacao-latexmkrc-git-e-integracao-continua" TargetMode="External"/><Relationship Id="rId4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20-automacao-latexmkrc-git-e-integracao-continua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58187C"/>
                </a:solidFill>
              </a:rPr>
              <a:t>Aula 20: Automação LaTeX, Git e Integração Contínua CI/CD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5A5A5A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58187C"/>
                </a:solidFill>
              </a:rPr>
              <p:t>2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1. O Problema da Compilação Múltipla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2. A Solução Ouro: `latexmk` e o arquivo `.latexmkrc`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3. Versionamento Git em Projetos LaTeX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4. CI/CD: Integração Contínua (Pipelines) para Teses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5. Criptografia Automática (Optional)</a:t>
            </a:r>
          </a:p>
          <a:p>
            <a:pPr>
              <a:spcAft>
                <a:spcPts val="1000"/>
              </a:spcAft>
              <a:defRPr sz="1800" b="1">
                <a:solidFill>
                  <a:srgbClr val="58187C"/>
                </a:solidFill>
              </a:defRPr>
            </a:pPr>
            <a:r>
              <a:t>6. Estudo de Caso (Use Case): Orientação Assíncrona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1. O Problema da Compilação Múltipla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58187C"/>
                </a:solidFill>
              </a:rPr>
              <p:t>3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Escrever em LaTeX de forma profissional significa lidar com o processamento em cadeia. Para que um documento contendo sumário (TOC), citações bibliográficas (BibTeX) e referências cruzadas (`\label` e `\ref`) seja gerado perfeitamente, o motor tipográfico precisa ser invocado múltiplas vezes: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`pdflatex main.tex` (Lê a estrutura inicial)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`biber main` ou `bibtex main` (Associa as chaves `.bib`)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`pdflatex main.tex` (Insere as referências, mas as páginas mudam)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`pdflatex main.tex` (Consolida os números de páginas e TOC)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2. A Solução Ouro: `latexmk` e o arquivo `.latexmk...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58187C"/>
                </a:solidFill>
              </a:rPr>
              <p:t>4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ferramenta nativa e soberana para automação no ecossistema TeX é o `latexmk` (um script Perl). Ele analisa inteligentemente as dependências do seu documento e dispara os compiladores (pdflatex, lualatex, biber) exatamente quantas vezes forem necessárias, e nenhuma vez a mais.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Para personalizar o `latexmk`, criamos o arquivo oculto `.latexmkrc` na raiz do projeto da Tese: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# Arquivo: .latexmkrc na raiz do repositório da Tese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$pdf_mode = 1; # Força a compilação gerando PDF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$pdflatex = 'pdflatex -interaction=nonstopmode -synctex=1 -file-line-error %O %S';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3. Versionamento Git em Projetos LaTeX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58187C"/>
                </a:solidFill>
              </a:rPr>
              <p:t>5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Trabalhos Acadêmicos são o alvo perfeito para o Git (Versionamento de Código). O LaTeX gera puramente arquivos de texto em formato plano (`.tex`), o que permite diffs perfeitos e um histórico seguro contra perda de dados.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Entretanto, o LaTeX produz dezenas de arquivos auxiliares sujos (`.aux`, `.log`, `.fls`, `.bbl`, `.gz`). Se esses arquivos forem enviados para o Github/Gitlab, os commits ficarão imensos e gerarão conflitos de merge insolúveis.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3.1 O arquivo `.gitignore` Perfeito para TeX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 arquivo `.gitignore` assegura que apenas o código-fonte útil seja versionado.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# Arquivo .gitignore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4. CI/CD: Integração Contínua (Pipelines) para Tes...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58187C"/>
                </a:solidFill>
              </a:rPr>
              <p:t>6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Um fluxo moderno de produção científica hospeda o projeto LaTeX no GitHub e utiliza o GitHub Actions para compilar o PDF automaticamente toda vez que há um novo `git push`. Assim, o professor/orientador sempre pode baixar o PDF mais atualizado da Tese sem precisar instalar o LaTeX na máquina dele.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4.1 Arquivo YAML do GitHub Actions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Cria-se a pasta `.github/workflows/` e dentro dela o arquivo `latex-build.yml`: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name: Build Tese PDF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on: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5. Criptografia Automática (Optional)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58187C"/>
                </a:solidFill>
              </a:rPr>
              <p:t>7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Em pesquisas envolvendo patentes IFF ou dados corporativos sensíveis sob NDA (Non-Disclosure Agreement), os arquivos PDF podem ser gerados de forma cifrada no Pipeline, integrando o `qpdf` ou `pdftk` logo após o build para proteger o documento com a senha institucional "escritaiff2026", evitando vazamentos se o link do Github for público.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6. Estudo de Caso (Use Case): Orientação Assíncron...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58187C"/>
                </a:solidFill>
              </a:rPr>
              <p:t>8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No IFF, o Prof. Pedro adotou o fluxo CI/CD para co-orientar um aluno de mestrado que morava no exterior: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Aluno submetia o texto (`.tex`) e figuras via Git (Branch).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O GitLab CI gerava o PDF instantaneamente.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O Professor realizava comentários (Issues/Pull Requests) na linha exata do erro ortográfico, visualizando o PDF em tempo real.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 produtividade aumentou 300% eliminando a troca de pen-drives e e-mails "Tese_VersaoFinal_3_AgoraVai.docx".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7. Diagrama de CI/CD para Escrita Científica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58187C"/>
                </a:solidFill>
              </a:rPr>
              <p:t>9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graph LR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A[Discente] --&gt;|git push| B(GitHub)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B --&gt; C{GitHub Actions}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 --&gt;|Run latexmk| D[Docker Ubuntu + TeXLive]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D --&gt;|Sucesso| E[Artifact: Tese.pdf]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8.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0A0A0A0-1111-2222-3333-444444444444}" type="slidenum">
              <a:rPr lang="pt-BR" b="1" sz="1400">
                <a:solidFill>
                  <a:srgbClr val="58187C"/>
                </a:solidFill>
              </a:rPr>
              <p:t>10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1. Crie uma conta no GitHub.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2. Inicie um repositório local vazio e crie o arquivo `.gitignore` utilizando o conteúdo mostrado na Seção 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3. Crie um `main.tex` simples.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4. Execute `git init`, `git add .`, `git commit -m "Inicio"`. Observe que nenhum arquivo `.aux` ou `.log` foi adicionado à árvore.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5. Crie localmente o arquivo `.latexmkrc` e execute o comando de compilação automática para comprovar o direcionamento dos arquivos para a pasta de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187C"/>
                </a:solidFill>
              </a:defRPr>
            </a:pPr>
            <a:r>
              <a:t>9. Referências Bibliográficas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1A0A0A0-1111-2222-3333-444444444444}" type="slidenum">
              <a:rPr lang="pt-BR" b="1" sz="1400">
                <a:solidFill>
                  <a:srgbClr val="58187C"/>
                </a:solidFill>
              </a:rPr>
              <p:t>11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COLLINS, John. latexmk: Fully automated LaTeX document generation. Comprehensive TeX Archive Network, 2023.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CHACON, Scott; STRAUB, Ben. Pro Git. 2. ed. New York: Apress, 2014.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GITHUB. GitHub Actions Documentation. Microsoft Corporation, 2024. Disponível em: https://docs.github.com.</a:t>
            </a:r>
          </a:p>
          <a:p>
            <a:pPr>
              <a:spcAft>
                <a:spcPts val="800"/>
              </a:spcAft>
              <a:defRPr sz="1700">
                <a:solidFill>
                  <a:srgbClr val="141414"/>
                </a:solidFill>
              </a:defRPr>
            </a:pPr>
            <a:r>
              <a:t>• WRIGHT, Joseph. Best Practices in Version Control for TeX Documents. TUGboat, vol. 31, no. 1, 2010.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58187C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58187C"/>
          </a:solidFill>
          <a:ln>
            <a:solidFill>
              <a:srgbClr val="5818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58187C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5A5A5A"/>
                </a:solidFill>
              </a:rPr>
              <a:t>Aula 20: Automação LaTeX, Git e Integração Contínua 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12A0A0A0-1111-2222-3333-444444444444}" type="slidenum">
              <a:rPr lang="pt-BR" b="1" sz="1400">
                <a:solidFill>
                  <a:srgbClr val="58187C"/>
                </a:solidFill>
              </a:rPr>
              <p:t>12</p:t>
            </p:fld>
            <a:r>
              <a:rPr sz="1400" b="1">
                <a:solidFill>
                  <a:srgbClr val="58187C"/>
                </a:solidFill>
              </a:rPr>
              <a:t> /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58187C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141414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58187C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58187C"/>
                </a:solidFill>
                <a:hlinkClick r:id="rId4"/>
              </a:rPr>
              <a:t>https://www.phrandrade.com/pt-br/resource/latex/aula-20-automacao-latexmkrc-git-e-integracao-continua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3C145A"/>
      </a:dk2>
      <a:lt2>
        <a:srgbClr val="EEECE1"/>
      </a:lt2>
      <a:accent1>
        <a:srgbClr val="58187C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8187C"/>
      </a:hlink>
      <a:folHlink>
        <a:srgbClr val="58187C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