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6-revisao-sistematica-da-literatura-e-protocolo-prisma" TargetMode="External"/><Relationship Id="rId4" Type="http://schemas.openxmlformats.org/officeDocument/2006/relationships/hyperlink" Target="mailto:pedroiff0@g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6-revisao-sistematica-da-literatura-e-protocolo-prisma" TargetMode="External"/><Relationship Id="rId4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6-revisao-sistematica-da-literatura-e-protocolo-prisma" TargetMode="External"/><Relationship Id="rId4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6-revisao-sistematica-da-literatura-e-protocolo-prisma" TargetMode="External"/><Relationship Id="rId4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6-revisao-sistematica-da-literatura-e-protocolo-prisma" TargetMode="External"/><Relationship Id="rId4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6-revisao-sistematica-da-literatura-e-protocolo-prisma" TargetMode="External"/><Relationship Id="rId4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6-revisao-sistematica-da-literatura-e-protocolo-prisma" TargetMode="External"/><Relationship Id="rId4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6-revisao-sistematica-da-literatura-e-protocolo-prisma" TargetMode="External"/><Relationship Id="rId4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6-revisao-sistematica-da-literatura-e-protocolo-prisma" TargetMode="External"/><Relationship Id="rId4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hyperlink" Target="https://www.phrandrade.com/pt-br/resource/latex/aula-06-revisao-sistematica-da-literatura-e-protocolo-prisma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554" y="640080"/>
            <a:ext cx="3986891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01168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59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58187C"/>
                </a:solidFill>
              </a:rPr>
              <a:t>Aula 06: Revisão Sistemática da Literatura e Protocolo PRISMA 2020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775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7759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5A5A5A"/>
                </a:solidFill>
              </a:rPr>
              <a:t>Instituto Federal Fluminense --- Campus Bom Jesus do Itabapoana
Semestre Letivo 2026 | Bom Jesus do Itabapoana - RJ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Sumário da Aula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06: Revisão Sistemática da Literatura e Protocolo PRISMA 2020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2A0A0A0-1111-2222-3333-444444444444}" type="slidenum">
              <a:rPr lang="pt-BR" b="1" sz="1400">
                <a:solidFill>
                  <a:srgbClr val="58187C"/>
                </a:solidFill>
              </a:rPr>
              <p:t>2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1. Introdução à Revisão Sistemática da Literatura (RSL)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2. Bases Indexadas e Motores de Busca Científica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3. O Protocolo PRISMA 2020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4. Diagrama do Processo (Mermaid)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5. Estudo de Caso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6. Exercício Prático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1. Introdução à Revisão Sistemática da Literatura 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06: Revisão Sistemática da Literatura e Protocolo PRISMA 2020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3A0A0A0-1111-2222-3333-444444444444}" type="slidenum">
              <a:rPr lang="pt-BR" b="1" sz="1400">
                <a:solidFill>
                  <a:srgbClr val="58187C"/>
                </a:solidFill>
              </a:rPr>
              <p:t>3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Revisão Sistemática da Literatura (RSL) é uma abordagem metodológica rigorosa, cujo objetivo central é mapear, avaliar, sintetizar e sumarizar as evidências científicas disponíveis sobre um tema específico. Diferente da revisão narrativa (tradicional), que frequentemente apresenta um viés de seleção por parte do autor, a RSL busca a máxima isenção, replicabilidade e transparência.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No contexto da escrita acadêmica de alto nível, estruturar um capítulo de estado da arte ou de revisão de literatura através de métodos sistemáticos confere enorme peso à tese ou dissertação. A ABNT NBR 14724 recomenda que a fundamentação teórica seja consistente, atualizada e metodologicamente embasada. A RSL atende perfeitamente a esse requisito.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1.1 Revisão Narrativa vs. Revisão Sistemática vs. Mapeamento Sistemático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É crucial distinguir entre as principais formas de revisão bibliográfica: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Revisão Narrativa: Típica de TCCs introdutórios. O autor escolhe as fontes segundo sua conveniência ou conhecimento prévio. Não há critério explícito de busca ou seleção. Alta suscetibilidade ao viés de confirmação.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2. Bases Indexadas e Motores de Busca Científica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06: Revisão Sistemática da Literatura e Protocolo PRISMA 2020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4A0A0A0-1111-2222-3333-444444444444}" type="slidenum">
              <a:rPr lang="pt-BR" b="1" sz="1400">
                <a:solidFill>
                  <a:srgbClr val="58187C"/>
                </a:solidFill>
              </a:rPr>
              <p:t>4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Para garantir a validade de uma RSL, as buscas devem ser realizadas em bases de dados eletrônicas reconhecidas e de alto impacto na área do conhecimento da pesquisa.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2.1 Principais Bases Multidisciplinares e Específicas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  Scopus (Elsevier): Atualmente a maior base de dados de resumos e citações de literatura revisada por pares. Essencial para praticamente todas as áreas da engenharia e tecnologia.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2.  Web of Science (WoS - Clarivate): Conhecida pelo rigor em sua Coleção Principal. O índice h e o Fator de Impacto (JCR) são métricas consagradas vinculadas a esta base.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3.  IEEE Xplore: Base de dados fundamental e compulsória para pesquisadores de Engenharia Elétrica, Computação, Eletrônica e Telecomunicações.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3. O Protocolo PRISMA 2020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06: Revisão Sistemática da Literatura e Protocolo PRISMA 2020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5A0A0A0-1111-2222-3333-444444444444}" type="slidenum">
              <a:rPr lang="pt-BR" b="1" sz="1400">
                <a:solidFill>
                  <a:srgbClr val="58187C"/>
                </a:solidFill>
              </a:rPr>
              <p:t>5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 PRISMA (Preferred Reporting Items for Systematic reviews and Meta-Analyses) é um conjunto de diretrizes baseadas em evidências para relatar revisões sistemáticas e meta-análises. A versão atualizada (PRISMA 2020) consiste em um checklist de 27 itens e um fluxograma detalhado.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Embora o PRISMA seja essencialmente um guia de relato (como escrever o artigo/capítulo), ele também impulsiona a qualidade da condução da pesquisa, pois obriga o pesquisador a registrar dados métricos desde o início.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3.1 O Fluxograma PRISMA (Flow Diagram)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 fluxograma mapeia o fluxo de informação ao longo das quatro fases essenciais da RSL. É mandatório em dissertações e teses que aleguem conduzir uma revisão sistemática.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  Identificação (Identification): Número total de registros encontrados nas bases de dados.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4. Diagrama do Processo (Mermaid)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06: Revisão Sistemática da Literatura e Protocolo PRISMA 2020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6A0A0A0-1111-2222-3333-444444444444}" type="slidenum">
              <a:rPr lang="pt-BR" b="1" sz="1400">
                <a:solidFill>
                  <a:srgbClr val="58187C"/>
                </a:solidFill>
              </a:rPr>
              <p:t>6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Abaixo apresentamos uma simplificação do Fluxograma PRISMA estruturado em Mermaid: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flowchart TD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A[Registros identificados nas bases: \n Scopus=150, WoS=120, IEEE=80 \n Total = 350] --&gt; B(Remoção de Duplicatas);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B --&gt; |90 duplicatas removidas| C[Registros para Triagem de Título/Resumo \n Total = 260];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C --&gt; D{Aplicação de Critérios};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5. Estudo de Caso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06: Revisão Sistemática da Literatura e Protocolo PRISMA 2020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7A0A0A0-1111-2222-3333-444444444444}" type="slidenum">
              <a:rPr lang="pt-BR" b="1" sz="1400">
                <a:solidFill>
                  <a:srgbClr val="58187C"/>
                </a:solidFill>
              </a:rPr>
              <p:t>7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 Cenário: A doutoranda Juliana está conduzindo sua tese sobre "Uso de Inteligência Artificial para Previsão de Falhas em Motores de Indução". Ela precisa escrever o Capítulo 2 (Fundamentação Teórica e Trabalhos Relacionados).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Prática Incorreta (Narrativa): Juliana vai no Google Scholar, digita "IA motores indução", escolhe os 10 primeiros artigos em português que parecem interessantes e escreve um texto resumindo cada um. Seu orientador recusa, apontando viés e falta de profundidade.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Prática Correta (Sistemática com PRISMA):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  Juliana elabora uma string em inglês: `("Artificial Intelligence" OR "Machine Learning" OR "Deep Learning") AND ("Induction Motor" OR "Electric Motor") AND ("Fault Diagnosis" OR "Predictive Maintenance")`.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2.  Executa a string no IEEE Xplore, Scopus e Web of Science, restringindo para os últimos 5 anos (2021-2026).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6. Exercício Prático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06: Revisão Sistemática da Literatura e Protocolo PRISMA 2020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8A0A0A0-1111-2222-3333-444444444444}" type="slidenum">
              <a:rPr lang="pt-BR" b="1" sz="1400">
                <a:solidFill>
                  <a:srgbClr val="58187C"/>
                </a:solidFill>
              </a:rPr>
              <p:t>8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Objetivo: Estruturar a base de uma RSL.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  Defina uma Questão de Pesquisa (RQ) principal alinhada ao tema do seu projeto (TCC, Dissertação ou Tese).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2.  Utilizando a estrutura PICOC (ou PICO), defina as palavras-chave principais e secundárias.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3.  Construa a String de Busca Boolean em inglês.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4.  Liste pelo menos 3 Critérios de Inclusão e 3 Critérios de Exclusão objetivos e inquestionáveis.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7. Referências Bibliográficas (ABNT NBR 6023:2018)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06: Revisão Sistemática da Literatura e Protocolo PRISMA 2020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9A0A0A0-1111-2222-3333-444444444444}" type="slidenum">
              <a:rPr lang="pt-BR" b="1" sz="1400">
                <a:solidFill>
                  <a:srgbClr val="58187C"/>
                </a:solidFill>
              </a:rPr>
              <p:t>9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ASSOCIAÇÃO BRASILEIRA DE NORMAS TÉCNICAS. NBR 6023: Informação e documentação: referências: elaboração. Rio de Janeiro: ABNT, 2018.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ASSOCIAÇÃO BRASILEIRA DE NORMAS TÉCNICAS. NBR 14724: Informação e documentação: trabalhos acadêmicos: apresentação. Rio de Janeiro: ABNT, 2011.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KITCHENHAM, B. Procedures for performing systematic reviews. Keele, UK, Keele University, v. 33, n. 2004, p. 1-26, 2004.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PAGE, M. J. et al. The PRISMA 2020 statement: an updated guideline for reporting systematic reviews. Systematic reviews, v. 10, n. 1, p. 1-11, 2021. Disponível em: https://systematicreviewsjournal.biomedcentral.com/articles/10.1186/s13643-021-01539-5. Acesso em: 04 ago. 2026.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ite_estrelada_soft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4"/>
              </a:rPr>
              <a:t>[DISCIPLINA]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5"/>
              </a:rPr>
              <a:t>Prof. Pedro Henrique Rocha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06: Revisão Sistemática da Literatura e Protocolo PRISMA 2020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10A0A0A0-1111-2222-3333-444444444444}" type="slidenum">
              <a:rPr lang="pt-BR" b="1" sz="1400">
                <a:solidFill>
                  <a:srgbClr val="58187C"/>
                </a:solidFill>
              </a:rPr>
              <p:t>10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58187C"/>
                </a:solidFill>
              </a:defRPr>
            </a:pPr>
            <a:r>
              <a:t>Obrigado!</a:t>
            </a:r>
          </a:p>
          <a:p>
            <a:br/>
            <a:pPr>
              <a:defRPr sz="3200" b="1">
                <a:solidFill>
                  <a:srgbClr val="141414"/>
                </a:solidFill>
              </a:defRPr>
            </a:pPr>
            <a:r>
              <a:t>Perguntas?</a:t>
            </a:r>
          </a:p>
          <a:p>
            <a:r>
              <a:rPr sz="2200">
                <a:solidFill>
                  <a:srgbClr val="58187C"/>
                </a:solidFill>
                <a:hlinkClick r:id="rId5"/>
              </a:rPr>
              <a:t>
Contato: pedroiff0@gmail.com</a:t>
            </a:r>
          </a:p>
        </p:txBody>
      </p:sp>
      <p:pic>
        <p:nvPicPr>
          <p:cNvPr id="11" name="Picture 10" descr="qrcode_au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868680"/>
            <a:ext cx="4937760" cy="4937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0" y="589788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58187C"/>
                </a:solidFill>
                <a:hlinkClick r:id="rId4"/>
              </a:rPr>
              <a:t>https://www.phrandrade.com/pt-br/resource/latex/aula-06-revisao-sistematica-da-literatura-e-protocolo-prisma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C145A"/>
      </a:dk2>
      <a:lt2>
        <a:srgbClr val="EEECE1"/>
      </a:lt2>
      <a:accent1>
        <a:srgbClr val="58187C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8187C"/>
      </a:hlink>
      <a:folHlink>
        <a:srgbClr val="58187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