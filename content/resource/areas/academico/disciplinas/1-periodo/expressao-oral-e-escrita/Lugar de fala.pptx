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  <p:sldId id="272" r:id="rId55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Source Serif Pro" charset="1" panose="02040603050405020204"/>
      <p:regular r:id="rId10"/>
    </p:embeddedFont>
    <p:embeddedFont>
      <p:font typeface="Source Serif Pro Bold" charset="1" panose="02040803050405020204"/>
      <p:regular r:id="rId11"/>
    </p:embeddedFont>
    <p:embeddedFont>
      <p:font typeface="Dream Avenue" charset="1" panose="02000503000000020004"/>
      <p:regular r:id="rId12"/>
    </p:embeddedFont>
    <p:embeddedFont>
      <p:font typeface="Poppins" charset="1" panose="000005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 Italics" charset="1" panose="00000500000000000000"/>
      <p:regular r:id="rId15"/>
    </p:embeddedFont>
    <p:embeddedFont>
      <p:font typeface="Poppins Bold Italics" charset="1" panose="00000800000000000000"/>
      <p:regular r:id="rId16"/>
    </p:embeddedFont>
    <p:embeddedFont>
      <p:font typeface="Poppins Thin" charset="1" panose="00000300000000000000"/>
      <p:regular r:id="rId17"/>
    </p:embeddedFont>
    <p:embeddedFont>
      <p:font typeface="Poppins Thin Italics" charset="1" panose="00000300000000000000"/>
      <p:regular r:id="rId18"/>
    </p:embeddedFont>
    <p:embeddedFont>
      <p:font typeface="Poppins Extra-Light" charset="1" panose="00000300000000000000"/>
      <p:regular r:id="rId19"/>
    </p:embeddedFont>
    <p:embeddedFont>
      <p:font typeface="Poppins Extra-Light Italics" charset="1" panose="00000300000000000000"/>
      <p:regular r:id="rId20"/>
    </p:embeddedFont>
    <p:embeddedFont>
      <p:font typeface="Poppins Light" charset="1" panose="00000400000000000000"/>
      <p:regular r:id="rId21"/>
    </p:embeddedFont>
    <p:embeddedFont>
      <p:font typeface="Poppins Light Italics" charset="1" panose="00000400000000000000"/>
      <p:regular r:id="rId22"/>
    </p:embeddedFont>
    <p:embeddedFont>
      <p:font typeface="Poppins Medium" charset="1" panose="00000600000000000000"/>
      <p:regular r:id="rId23"/>
    </p:embeddedFont>
    <p:embeddedFont>
      <p:font typeface="Poppins Medium Italics" charset="1" panose="00000600000000000000"/>
      <p:regular r:id="rId24"/>
    </p:embeddedFont>
    <p:embeddedFont>
      <p:font typeface="Poppins Semi-Bold" charset="1" panose="00000700000000000000"/>
      <p:regular r:id="rId25"/>
    </p:embeddedFont>
    <p:embeddedFont>
      <p:font typeface="Poppins Semi-Bold Italics" charset="1" panose="00000700000000000000"/>
      <p:regular r:id="rId26"/>
    </p:embeddedFont>
    <p:embeddedFont>
      <p:font typeface="Poppins Ultra-Bold" charset="1" panose="00000900000000000000"/>
      <p:regular r:id="rId27"/>
    </p:embeddedFont>
    <p:embeddedFont>
      <p:font typeface="Poppins Ultra-Bold Italics" charset="1" panose="00000900000000000000"/>
      <p:regular r:id="rId28"/>
    </p:embeddedFont>
    <p:embeddedFont>
      <p:font typeface="Poppins Heavy" charset="1" panose="00000A00000000000000"/>
      <p:regular r:id="rId29"/>
    </p:embeddedFont>
    <p:embeddedFont>
      <p:font typeface="Poppins Heavy Italics" charset="1" panose="00000A00000000000000"/>
      <p:regular r:id="rId30"/>
    </p:embeddedFont>
    <p:embeddedFont>
      <p:font typeface="Open Sans" charset="1" panose="020B0606030504020204"/>
      <p:regular r:id="rId31"/>
    </p:embeddedFont>
    <p:embeddedFont>
      <p:font typeface="Open Sans Bold" charset="1" panose="020B0806030504020204"/>
      <p:regular r:id="rId32"/>
    </p:embeddedFont>
    <p:embeddedFont>
      <p:font typeface="Open Sans Italics" charset="1" panose="020B0606030504020204"/>
      <p:regular r:id="rId33"/>
    </p:embeddedFont>
    <p:embeddedFont>
      <p:font typeface="Open Sans Bold Italics" charset="1" panose="020B0806030504020204"/>
      <p:regular r:id="rId34"/>
    </p:embeddedFont>
    <p:embeddedFont>
      <p:font typeface="Open Sans Light" charset="1" panose="020B0306030504020204"/>
      <p:regular r:id="rId35"/>
    </p:embeddedFont>
    <p:embeddedFont>
      <p:font typeface="Open Sans Light Italics" charset="1" panose="020B0306030504020204"/>
      <p:regular r:id="rId36"/>
    </p:embeddedFont>
    <p:embeddedFont>
      <p:font typeface="Open Sans Ultra-Bold" charset="1" panose="00000000000000000000"/>
      <p:regular r:id="rId37"/>
    </p:embeddedFont>
    <p:embeddedFont>
      <p:font typeface="Open Sans Ultra-Bold Italics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slides/slide1.xml" Type="http://schemas.openxmlformats.org/officeDocument/2006/relationships/slide"/><Relationship Id="rId4" Target="theme/theme1.xml" Type="http://schemas.openxmlformats.org/officeDocument/2006/relationships/theme"/><Relationship Id="rId40" Target="slides/slide2.xml" Type="http://schemas.openxmlformats.org/officeDocument/2006/relationships/slide"/><Relationship Id="rId41" Target="slides/slide3.xml" Type="http://schemas.openxmlformats.org/officeDocument/2006/relationships/slide"/><Relationship Id="rId42" Target="slides/slide4.xml" Type="http://schemas.openxmlformats.org/officeDocument/2006/relationships/slide"/><Relationship Id="rId43" Target="slides/slide5.xml" Type="http://schemas.openxmlformats.org/officeDocument/2006/relationships/slide"/><Relationship Id="rId44" Target="slides/slide6.xml" Type="http://schemas.openxmlformats.org/officeDocument/2006/relationships/slide"/><Relationship Id="rId45" Target="slides/slide7.xml" Type="http://schemas.openxmlformats.org/officeDocument/2006/relationships/slide"/><Relationship Id="rId46" Target="slides/slide8.xml" Type="http://schemas.openxmlformats.org/officeDocument/2006/relationships/slide"/><Relationship Id="rId47" Target="slides/slide9.xml" Type="http://schemas.openxmlformats.org/officeDocument/2006/relationships/slide"/><Relationship Id="rId48" Target="slides/slide10.xml" Type="http://schemas.openxmlformats.org/officeDocument/2006/relationships/slide"/><Relationship Id="rId49" Target="slides/slide11.xml" Type="http://schemas.openxmlformats.org/officeDocument/2006/relationships/slide"/><Relationship Id="rId5" Target="tableStyles.xml" Type="http://schemas.openxmlformats.org/officeDocument/2006/relationships/tableStyles"/><Relationship Id="rId50" Target="slides/slide12.xml" Type="http://schemas.openxmlformats.org/officeDocument/2006/relationships/slide"/><Relationship Id="rId51" Target="slides/slide13.xml" Type="http://schemas.openxmlformats.org/officeDocument/2006/relationships/slide"/><Relationship Id="rId52" Target="slides/slide14.xml" Type="http://schemas.openxmlformats.org/officeDocument/2006/relationships/slide"/><Relationship Id="rId53" Target="slides/slide15.xml" Type="http://schemas.openxmlformats.org/officeDocument/2006/relationships/slide"/><Relationship Id="rId54" Target="slides/slide16.xml" Type="http://schemas.openxmlformats.org/officeDocument/2006/relationships/slide"/><Relationship Id="rId55" Target="slides/slide17.xml" Type="http://schemas.openxmlformats.org/officeDocument/2006/relationships/slide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9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63151" y="0"/>
            <a:ext cx="21000103" cy="10787397"/>
          </a:xfrm>
          <a:custGeom>
            <a:avLst/>
            <a:gdLst/>
            <a:ahLst/>
            <a:cxnLst/>
            <a:rect r="r" b="b" t="t" l="l"/>
            <a:pathLst>
              <a:path h="10787397" w="21000103">
                <a:moveTo>
                  <a:pt x="0" y="0"/>
                </a:moveTo>
                <a:lnTo>
                  <a:pt x="21000103" y="0"/>
                </a:lnTo>
                <a:lnTo>
                  <a:pt x="21000103" y="10787397"/>
                </a:lnTo>
                <a:lnTo>
                  <a:pt x="0" y="1078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60" t="0" r="-876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84175" y="2020209"/>
            <a:ext cx="12319650" cy="6246583"/>
            <a:chOff x="0" y="0"/>
            <a:chExt cx="5920967" cy="3002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20967" cy="3002180"/>
            </a:xfrm>
            <a:custGeom>
              <a:avLst/>
              <a:gdLst/>
              <a:ahLst/>
              <a:cxnLst/>
              <a:rect r="r" b="b" t="t" l="l"/>
              <a:pathLst>
                <a:path h="3002180" w="5920967">
                  <a:moveTo>
                    <a:pt x="0" y="0"/>
                  </a:moveTo>
                  <a:lnTo>
                    <a:pt x="5920967" y="0"/>
                  </a:lnTo>
                  <a:lnTo>
                    <a:pt x="5920967" y="3002180"/>
                  </a:lnTo>
                  <a:lnTo>
                    <a:pt x="0" y="3002180"/>
                  </a:lnTo>
                  <a:close/>
                </a:path>
              </a:pathLst>
            </a:custGeom>
            <a:solidFill>
              <a:srgbClr val="D6CFC8">
                <a:alpha val="90980"/>
              </a:srgbClr>
            </a:solidFill>
          </p:spPr>
        </p:sp>
      </p:grpSp>
      <p:sp>
        <p:nvSpPr>
          <p:cNvPr name="AutoShape 5" id="5"/>
          <p:cNvSpPr/>
          <p:nvPr/>
        </p:nvSpPr>
        <p:spPr>
          <a:xfrm rot="0">
            <a:off x="8767765" y="6539006"/>
            <a:ext cx="752470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770702" y="2805206"/>
            <a:ext cx="12746595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00000"/>
                </a:solidFill>
                <a:latin typeface="Dream Avenue"/>
              </a:rPr>
              <a:t>O QUE É LUGAR DE FALA?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41643" y="7229929"/>
            <a:ext cx="7604713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299" spc="1289">
                <a:solidFill>
                  <a:srgbClr val="130E0C"/>
                </a:solidFill>
                <a:latin typeface="Poppins"/>
              </a:rPr>
              <a:t>DJAMILA RIBEIRO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37790" y="5846281"/>
            <a:ext cx="5668424" cy="5427516"/>
          </a:xfrm>
          <a:custGeom>
            <a:avLst/>
            <a:gdLst/>
            <a:ahLst/>
            <a:cxnLst/>
            <a:rect r="r" b="b" t="t" l="l"/>
            <a:pathLst>
              <a:path h="5427516" w="5668424">
                <a:moveTo>
                  <a:pt x="0" y="0"/>
                </a:moveTo>
                <a:lnTo>
                  <a:pt x="5668425" y="0"/>
                </a:lnTo>
                <a:lnTo>
                  <a:pt x="5668425" y="5427516"/>
                </a:lnTo>
                <a:lnTo>
                  <a:pt x="0" y="542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388109">
            <a:off x="14408998" y="627572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649" y="-757610"/>
            <a:ext cx="4763763" cy="4561303"/>
          </a:xfrm>
          <a:custGeom>
            <a:avLst/>
            <a:gdLst/>
            <a:ahLst/>
            <a:cxnLst/>
            <a:rect r="r" b="b" t="t" l="l"/>
            <a:pathLst>
              <a:path h="4561303" w="4763763">
                <a:moveTo>
                  <a:pt x="0" y="0"/>
                </a:moveTo>
                <a:lnTo>
                  <a:pt x="4763763" y="0"/>
                </a:lnTo>
                <a:lnTo>
                  <a:pt x="4763763" y="4561302"/>
                </a:lnTo>
                <a:lnTo>
                  <a:pt x="0" y="4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98812" y="1953872"/>
            <a:ext cx="6547452" cy="6379255"/>
            <a:chOff x="0" y="0"/>
            <a:chExt cx="8729937" cy="850567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6"/>
            <a:srcRect l="16883" t="0" r="16883" b="0"/>
            <a:stretch>
              <a:fillRect/>
            </a:stretch>
          </p:blipFill>
          <p:spPr>
            <a:xfrm flipH="false" flipV="false">
              <a:off x="0" y="0"/>
              <a:ext cx="8729937" cy="8505674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7424850">
            <a:off x="-1937281" y="1903353"/>
            <a:ext cx="9589533" cy="6921899"/>
          </a:xfrm>
          <a:custGeom>
            <a:avLst/>
            <a:gdLst/>
            <a:ahLst/>
            <a:cxnLst/>
            <a:rect r="r" b="b" t="t" l="l"/>
            <a:pathLst>
              <a:path h="6921899" w="9589533">
                <a:moveTo>
                  <a:pt x="0" y="0"/>
                </a:moveTo>
                <a:lnTo>
                  <a:pt x="9589533" y="0"/>
                </a:lnTo>
                <a:lnTo>
                  <a:pt x="9589533" y="6921900"/>
                </a:lnTo>
                <a:lnTo>
                  <a:pt x="0" y="6921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90785" y="2725300"/>
            <a:ext cx="10094079" cy="5118124"/>
            <a:chOff x="0" y="0"/>
            <a:chExt cx="5920967" cy="30021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20967" cy="3002180"/>
            </a:xfrm>
            <a:custGeom>
              <a:avLst/>
              <a:gdLst/>
              <a:ahLst/>
              <a:cxnLst/>
              <a:rect r="r" b="b" t="t" l="l"/>
              <a:pathLst>
                <a:path h="3002180" w="5920967">
                  <a:moveTo>
                    <a:pt x="0" y="0"/>
                  </a:moveTo>
                  <a:lnTo>
                    <a:pt x="5920967" y="0"/>
                  </a:lnTo>
                  <a:lnTo>
                    <a:pt x="5920967" y="3002180"/>
                  </a:lnTo>
                  <a:lnTo>
                    <a:pt x="0" y="3002180"/>
                  </a:lnTo>
                  <a:close/>
                </a:path>
              </a:pathLst>
            </a:custGeom>
            <a:solidFill>
              <a:srgbClr val="BBBBBB">
                <a:alpha val="9098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9498" y="2888540"/>
            <a:ext cx="9076653" cy="471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8669"/>
              </a:lnSpc>
            </a:pPr>
            <a:r>
              <a:rPr lang="en-US" sz="14935">
                <a:solidFill>
                  <a:srgbClr val="000000"/>
                </a:solidFill>
                <a:latin typeface="Dream Avenue"/>
              </a:rPr>
              <a:t>SOBRE </a:t>
            </a:r>
          </a:p>
          <a:p>
            <a:pPr>
              <a:lnSpc>
                <a:spcPts val="18669"/>
              </a:lnSpc>
            </a:pPr>
            <a:r>
              <a:rPr lang="en-US" sz="14935">
                <a:solidFill>
                  <a:srgbClr val="000000"/>
                </a:solidFill>
                <a:latin typeface="Dream Avenue"/>
              </a:rPr>
              <a:t>A AUTORA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27143"/>
            <a:ext cx="7352494" cy="10979061"/>
            <a:chOff x="0" y="0"/>
            <a:chExt cx="9803326" cy="1463874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25" r="0" b="225"/>
            <a:stretch>
              <a:fillRect/>
            </a:stretch>
          </p:blipFill>
          <p:spPr>
            <a:xfrm flipH="false" flipV="false">
              <a:off x="0" y="0"/>
              <a:ext cx="9803326" cy="14638748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144000" y="1143000"/>
            <a:ext cx="6545432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48"/>
              </a:lnSpc>
            </a:pPr>
            <a:r>
              <a:rPr lang="en-US" sz="6648">
                <a:solidFill>
                  <a:srgbClr val="130E0C"/>
                </a:solidFill>
                <a:latin typeface="Dream Avenue"/>
              </a:rPr>
              <a:t>DJAMILA RIBEIRO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04586" y="2315127"/>
            <a:ext cx="8224259" cy="703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Nascida em 1980, Santos - SP;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Mestre em Filosofia Política - UNIFESP;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Colunista Jornal F. de SP;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Ativista Social;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Professora;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Escritora;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Feminista.</a:t>
            </a:r>
          </a:p>
          <a:p>
            <a:pPr>
              <a:lnSpc>
                <a:spcPts val="3699"/>
              </a:lnSpc>
            </a:pPr>
          </a:p>
          <a:p>
            <a:pPr>
              <a:lnSpc>
                <a:spcPts val="3699"/>
              </a:lnSpc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Trata de assuntos como: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Racismo;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Sexismo;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Representatividade;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Desigualdades Sociais;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Violência;</a:t>
            </a:r>
          </a:p>
          <a:p>
            <a:pPr marL="570464" indent="-285232" lvl="1">
              <a:lnSpc>
                <a:spcPts val="3699"/>
              </a:lnSpc>
              <a:buFont typeface="Arial"/>
              <a:buChar char="•"/>
            </a:pPr>
            <a:r>
              <a:rPr lang="en-US" sz="2642" spc="66">
                <a:solidFill>
                  <a:srgbClr val="130E0C"/>
                </a:solidFill>
                <a:latin typeface="Poppins"/>
              </a:rPr>
              <a:t>Marginalizados.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340273" y="7566025"/>
            <a:ext cx="3058796" cy="3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45">
                <a:solidFill>
                  <a:srgbClr val="130E0C"/>
                </a:solidFill>
                <a:latin typeface="Poppins"/>
              </a:rPr>
              <a:t>@reallygreatsite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1316" y="-2388267"/>
            <a:ext cx="7072552" cy="6044829"/>
            <a:chOff x="0" y="0"/>
            <a:chExt cx="2494620" cy="2132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619" cy="2132123"/>
            </a:xfrm>
            <a:custGeom>
              <a:avLst/>
              <a:gdLst/>
              <a:ahLst/>
              <a:cxnLst/>
              <a:rect r="r" b="b" t="t" l="l"/>
              <a:pathLst>
                <a:path h="2132123" w="2494619">
                  <a:moveTo>
                    <a:pt x="0" y="0"/>
                  </a:moveTo>
                  <a:lnTo>
                    <a:pt x="2494619" y="0"/>
                  </a:lnTo>
                  <a:lnTo>
                    <a:pt x="2494619" y="2132123"/>
                  </a:lnTo>
                  <a:lnTo>
                    <a:pt x="0" y="2132123"/>
                  </a:lnTo>
                  <a:close/>
                </a:path>
              </a:pathLst>
            </a:custGeom>
            <a:solidFill>
              <a:srgbClr val="AF886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23024" y="6716102"/>
            <a:ext cx="7072552" cy="6044829"/>
            <a:chOff x="0" y="0"/>
            <a:chExt cx="2494620" cy="21321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4619" cy="2132123"/>
            </a:xfrm>
            <a:custGeom>
              <a:avLst/>
              <a:gdLst/>
              <a:ahLst/>
              <a:cxnLst/>
              <a:rect r="r" b="b" t="t" l="l"/>
              <a:pathLst>
                <a:path h="2132123" w="2494619">
                  <a:moveTo>
                    <a:pt x="0" y="0"/>
                  </a:moveTo>
                  <a:lnTo>
                    <a:pt x="2494619" y="0"/>
                  </a:lnTo>
                  <a:lnTo>
                    <a:pt x="2494619" y="2132123"/>
                  </a:lnTo>
                  <a:lnTo>
                    <a:pt x="0" y="2132123"/>
                  </a:lnTo>
                  <a:close/>
                </a:path>
              </a:pathLst>
            </a:custGeom>
            <a:solidFill>
              <a:srgbClr val="AF886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543332" y="1040636"/>
            <a:ext cx="5715968" cy="7755723"/>
          </a:xfrm>
          <a:custGeom>
            <a:avLst/>
            <a:gdLst/>
            <a:ahLst/>
            <a:cxnLst/>
            <a:rect r="r" b="b" t="t" l="l"/>
            <a:pathLst>
              <a:path h="7755723" w="5715968">
                <a:moveTo>
                  <a:pt x="0" y="0"/>
                </a:moveTo>
                <a:lnTo>
                  <a:pt x="5715968" y="0"/>
                </a:lnTo>
                <a:lnTo>
                  <a:pt x="5715968" y="7755723"/>
                </a:lnTo>
                <a:lnTo>
                  <a:pt x="0" y="7755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866190"/>
            <a:ext cx="9019878" cy="1771891"/>
            <a:chOff x="0" y="0"/>
            <a:chExt cx="9013931" cy="17707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13931" cy="1770722"/>
            </a:xfrm>
            <a:custGeom>
              <a:avLst/>
              <a:gdLst/>
              <a:ahLst/>
              <a:cxnLst/>
              <a:rect r="r" b="b" t="t" l="l"/>
              <a:pathLst>
                <a:path h="1770722" w="9013931">
                  <a:moveTo>
                    <a:pt x="0" y="0"/>
                  </a:moveTo>
                  <a:lnTo>
                    <a:pt x="9013931" y="0"/>
                  </a:lnTo>
                  <a:lnTo>
                    <a:pt x="9013931" y="1770722"/>
                  </a:lnTo>
                  <a:lnTo>
                    <a:pt x="0" y="1770722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94380" y="1391263"/>
            <a:ext cx="8488518" cy="12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37"/>
              </a:lnSpc>
            </a:pPr>
            <a:r>
              <a:rPr lang="en-US" sz="9337">
                <a:solidFill>
                  <a:srgbClr val="FFFFFF"/>
                </a:solidFill>
                <a:latin typeface="Dream Avenue"/>
              </a:rPr>
              <a:t>SOBRE A OBRA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23780"/>
            <a:ext cx="9019878" cy="74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74"/>
              </a:lnSpc>
            </a:pPr>
          </a:p>
          <a:p>
            <a:pPr marL="539749" indent="-269875" lvl="1">
              <a:lnSpc>
                <a:spcPts val="3974"/>
              </a:lnSpc>
              <a:buFont typeface="Arial"/>
              <a:buChar char="•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A obra explora o conceito de Lugar de Fala e a relação com poder, opressão, representatividade e voz em debates sobre discriminação e desigualdade. Alguns dos tópicos são:</a:t>
            </a:r>
          </a:p>
          <a:p>
            <a:pPr marL="1079499" indent="-359833" lvl="2">
              <a:lnSpc>
                <a:spcPts val="3974"/>
              </a:lnSpc>
              <a:buFont typeface="Arial"/>
              <a:buChar char="⚬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Feminismo Negro</a:t>
            </a:r>
          </a:p>
          <a:p>
            <a:pPr marL="1079499" indent="-359833" lvl="2">
              <a:lnSpc>
                <a:spcPts val="3974"/>
              </a:lnSpc>
              <a:buFont typeface="Arial"/>
              <a:buChar char="⚬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Racismo Estrutural</a:t>
            </a:r>
          </a:p>
          <a:p>
            <a:pPr marL="1079499" indent="-359833" lvl="2">
              <a:lnSpc>
                <a:spcPts val="3974"/>
              </a:lnSpc>
              <a:buFont typeface="Arial"/>
              <a:buChar char="⚬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Transexualidade</a:t>
            </a:r>
          </a:p>
          <a:p>
            <a:pPr marL="1079499" indent="-359833" lvl="2">
              <a:lnSpc>
                <a:spcPts val="3974"/>
              </a:lnSpc>
              <a:buFont typeface="Arial"/>
              <a:buChar char="⚬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Masculinidade</a:t>
            </a:r>
          </a:p>
          <a:p>
            <a:pPr marL="539749" indent="-269875" lvl="1">
              <a:lnSpc>
                <a:spcPts val="3974"/>
              </a:lnSpc>
              <a:buFont typeface="Arial"/>
              <a:buChar char="•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Reconhecer e respeitar as variadas perspectivas;</a:t>
            </a:r>
          </a:p>
          <a:p>
            <a:pPr marL="539749" indent="-269875" lvl="1">
              <a:lnSpc>
                <a:spcPts val="3974"/>
              </a:lnSpc>
              <a:buFont typeface="Arial"/>
              <a:buChar char="•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Situações cotidianas;</a:t>
            </a:r>
          </a:p>
          <a:p>
            <a:pPr marL="539749" indent="-269875" lvl="1">
              <a:lnSpc>
                <a:spcPts val="3974"/>
              </a:lnSpc>
              <a:buFont typeface="Arial"/>
              <a:buChar char="•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Discussões e Debates Políticos;</a:t>
            </a:r>
          </a:p>
          <a:p>
            <a:pPr marL="539749" indent="-269875" lvl="1">
              <a:lnSpc>
                <a:spcPts val="3974"/>
              </a:lnSpc>
              <a:buFont typeface="Arial"/>
              <a:buChar char="•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Conscientização sobre os tópicos;</a:t>
            </a:r>
          </a:p>
          <a:p>
            <a:pPr marL="539749" indent="-269875" lvl="1">
              <a:lnSpc>
                <a:spcPts val="3974"/>
              </a:lnSpc>
              <a:buFont typeface="Arial"/>
              <a:buChar char="•"/>
            </a:pPr>
            <a:r>
              <a:rPr lang="en-US" sz="2499" spc="62">
                <a:solidFill>
                  <a:srgbClr val="130E0C"/>
                </a:solidFill>
                <a:latin typeface="Poppins"/>
              </a:rPr>
              <a:t>Influencia no ativismo social e pensamento crítico na busca da igualdade social.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88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0092" y="851831"/>
            <a:ext cx="17187816" cy="8583337"/>
          </a:xfrm>
          <a:custGeom>
            <a:avLst/>
            <a:gdLst/>
            <a:ahLst/>
            <a:cxnLst/>
            <a:rect r="r" b="b" t="t" l="l"/>
            <a:pathLst>
              <a:path h="8583337" w="17187816">
                <a:moveTo>
                  <a:pt x="0" y="0"/>
                </a:moveTo>
                <a:lnTo>
                  <a:pt x="17187816" y="0"/>
                </a:lnTo>
                <a:lnTo>
                  <a:pt x="17187816" y="8583338"/>
                </a:lnTo>
                <a:lnTo>
                  <a:pt x="0" y="858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88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16778" y="1676024"/>
            <a:ext cx="12054444" cy="926839"/>
            <a:chOff x="0" y="0"/>
            <a:chExt cx="12046496" cy="926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46496" cy="926228"/>
            </a:xfrm>
            <a:custGeom>
              <a:avLst/>
              <a:gdLst/>
              <a:ahLst/>
              <a:cxnLst/>
              <a:rect r="r" b="b" t="t" l="l"/>
              <a:pathLst>
                <a:path h="926228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926228"/>
                  </a:lnTo>
                  <a:lnTo>
                    <a:pt x="0" y="926228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171222" y="5446319"/>
            <a:ext cx="6617368" cy="4114800"/>
          </a:xfrm>
          <a:custGeom>
            <a:avLst/>
            <a:gdLst/>
            <a:ahLst/>
            <a:cxnLst/>
            <a:rect r="r" b="b" t="t" l="l"/>
            <a:pathLst>
              <a:path h="4114800" w="6617368">
                <a:moveTo>
                  <a:pt x="0" y="0"/>
                </a:moveTo>
                <a:lnTo>
                  <a:pt x="6617368" y="0"/>
                </a:lnTo>
                <a:lnTo>
                  <a:pt x="661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0973390" y="3774835"/>
            <a:ext cx="6324906" cy="5247662"/>
            <a:chOff x="0" y="0"/>
            <a:chExt cx="6901246" cy="57258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01246" cy="5725841"/>
            </a:xfrm>
            <a:custGeom>
              <a:avLst/>
              <a:gdLst/>
              <a:ahLst/>
              <a:cxnLst/>
              <a:rect r="r" b="b" t="t" l="l"/>
              <a:pathLst>
                <a:path h="5725841" w="6901246">
                  <a:moveTo>
                    <a:pt x="0" y="0"/>
                  </a:moveTo>
                  <a:lnTo>
                    <a:pt x="6901246" y="0"/>
                  </a:lnTo>
                  <a:lnTo>
                    <a:pt x="6901246" y="5725841"/>
                  </a:lnTo>
                  <a:lnTo>
                    <a:pt x="0" y="572584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14807" y="3015364"/>
            <a:ext cx="4744867" cy="5719267"/>
          </a:xfrm>
          <a:custGeom>
            <a:avLst/>
            <a:gdLst/>
            <a:ahLst/>
            <a:cxnLst/>
            <a:rect r="r" b="b" t="t" l="l"/>
            <a:pathLst>
              <a:path h="5719267" w="4744867">
                <a:moveTo>
                  <a:pt x="0" y="0"/>
                </a:moveTo>
                <a:lnTo>
                  <a:pt x="4744867" y="0"/>
                </a:lnTo>
                <a:lnTo>
                  <a:pt x="4744867" y="5719267"/>
                </a:lnTo>
                <a:lnTo>
                  <a:pt x="0" y="5719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007" r="0" b="-808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795107">
            <a:off x="-4182959" y="-1569559"/>
            <a:ext cx="6617368" cy="4114800"/>
          </a:xfrm>
          <a:custGeom>
            <a:avLst/>
            <a:gdLst/>
            <a:ahLst/>
            <a:cxnLst/>
            <a:rect r="r" b="b" t="t" l="l"/>
            <a:pathLst>
              <a:path h="4114800" w="6617368">
                <a:moveTo>
                  <a:pt x="0" y="0"/>
                </a:moveTo>
                <a:lnTo>
                  <a:pt x="6617368" y="0"/>
                </a:lnTo>
                <a:lnTo>
                  <a:pt x="661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84242">
            <a:off x="9187481" y="6485153"/>
            <a:ext cx="4024895" cy="3698087"/>
          </a:xfrm>
          <a:custGeom>
            <a:avLst/>
            <a:gdLst/>
            <a:ahLst/>
            <a:cxnLst/>
            <a:rect r="r" b="b" t="t" l="l"/>
            <a:pathLst>
              <a:path h="3698087" w="4024895">
                <a:moveTo>
                  <a:pt x="0" y="0"/>
                </a:moveTo>
                <a:lnTo>
                  <a:pt x="4024895" y="0"/>
                </a:lnTo>
                <a:lnTo>
                  <a:pt x="4024895" y="3698087"/>
                </a:lnTo>
                <a:lnTo>
                  <a:pt x="0" y="3698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836417">
            <a:off x="14564360" y="7271306"/>
            <a:ext cx="3616270" cy="2926650"/>
          </a:xfrm>
          <a:custGeom>
            <a:avLst/>
            <a:gdLst/>
            <a:ahLst/>
            <a:cxnLst/>
            <a:rect r="r" b="b" t="t" l="l"/>
            <a:pathLst>
              <a:path h="2926650" w="3616270">
                <a:moveTo>
                  <a:pt x="0" y="0"/>
                </a:moveTo>
                <a:lnTo>
                  <a:pt x="3616270" y="0"/>
                </a:lnTo>
                <a:lnTo>
                  <a:pt x="3616270" y="2926650"/>
                </a:lnTo>
                <a:lnTo>
                  <a:pt x="0" y="2926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055" r="0" b="-1850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55483" y="1828424"/>
            <a:ext cx="10977034" cy="107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069"/>
              </a:lnSpc>
            </a:pPr>
            <a:r>
              <a:rPr lang="en-US" sz="8069">
                <a:solidFill>
                  <a:srgbClr val="130E0C"/>
                </a:solidFill>
                <a:latin typeface="Dream Avenue"/>
              </a:rPr>
              <a:t>UM POUCO DE HISÓRIA: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71465" y="4010638"/>
            <a:ext cx="8115300" cy="5247662"/>
            <a:chOff x="0" y="0"/>
            <a:chExt cx="8854784" cy="57258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54784" cy="5725841"/>
            </a:xfrm>
            <a:custGeom>
              <a:avLst/>
              <a:gdLst/>
              <a:ahLst/>
              <a:cxnLst/>
              <a:rect r="r" b="b" t="t" l="l"/>
              <a:pathLst>
                <a:path h="5725841" w="8854784">
                  <a:moveTo>
                    <a:pt x="0" y="0"/>
                  </a:moveTo>
                  <a:lnTo>
                    <a:pt x="8854784" y="0"/>
                  </a:lnTo>
                  <a:lnTo>
                    <a:pt x="8854784" y="5725841"/>
                  </a:lnTo>
                  <a:lnTo>
                    <a:pt x="0" y="572584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48989" y="4636572"/>
            <a:ext cx="5679646" cy="492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025451" indent="-512726" lvl="1">
              <a:lnSpc>
                <a:spcPts val="8454"/>
              </a:lnSpc>
              <a:buFont typeface="Arial"/>
              <a:buChar char="•"/>
            </a:pPr>
            <a:r>
              <a:rPr lang="en-US" sz="4749">
                <a:solidFill>
                  <a:srgbClr val="130E0C"/>
                </a:solidFill>
                <a:latin typeface="Source Serif Pro"/>
              </a:rPr>
              <a:t>Sojourner Truth</a:t>
            </a:r>
          </a:p>
          <a:p>
            <a:pPr marL="1025451" indent="-512726" lvl="1">
              <a:lnSpc>
                <a:spcPts val="8454"/>
              </a:lnSpc>
              <a:buFont typeface="Arial"/>
              <a:buChar char="•"/>
            </a:pPr>
            <a:r>
              <a:rPr lang="en-US" sz="4749">
                <a:solidFill>
                  <a:srgbClr val="130E0C"/>
                </a:solidFill>
                <a:latin typeface="Source Serif Pro"/>
              </a:rPr>
              <a:t>Lélia Gonzalez</a:t>
            </a:r>
          </a:p>
          <a:p>
            <a:pPr marL="1025451" indent="-512726" lvl="1">
              <a:lnSpc>
                <a:spcPts val="8454"/>
              </a:lnSpc>
              <a:buFont typeface="Arial"/>
              <a:buChar char="•"/>
            </a:pPr>
            <a:r>
              <a:rPr lang="en-US" sz="4749">
                <a:solidFill>
                  <a:srgbClr val="130E0C"/>
                </a:solidFill>
                <a:latin typeface="Source Serif Pro"/>
              </a:rPr>
              <a:t>Bell Hooks                         </a:t>
            </a:r>
          </a:p>
          <a:p>
            <a:pPr>
              <a:lnSpc>
                <a:spcPts val="6649"/>
              </a:lnSpc>
            </a:pPr>
          </a:p>
          <a:p>
            <a:pPr>
              <a:lnSpc>
                <a:spcPts val="664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114425"/>
            <a:ext cx="2626783" cy="60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8"/>
              </a:lnSpc>
            </a:pPr>
            <a:r>
              <a:rPr lang="en-US" sz="4568">
                <a:solidFill>
                  <a:srgbClr val="FFFFFF"/>
                </a:solidFill>
                <a:latin typeface="Dream Avenue"/>
              </a:rPr>
              <a:t>Capítulo 1.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2157" y="1893498"/>
            <a:ext cx="15172347" cy="852712"/>
            <a:chOff x="0" y="0"/>
            <a:chExt cx="12046496" cy="677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46496" cy="677034"/>
            </a:xfrm>
            <a:custGeom>
              <a:avLst/>
              <a:gdLst/>
              <a:ahLst/>
              <a:cxnLst/>
              <a:rect r="r" b="b" t="t" l="l"/>
              <a:pathLst>
                <a:path h="67703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677034"/>
                  </a:lnTo>
                  <a:lnTo>
                    <a:pt x="0" y="677034"/>
                  </a:lnTo>
                  <a:close/>
                </a:path>
              </a:pathLst>
            </a:custGeom>
            <a:solidFill>
              <a:srgbClr val="2E2E2E">
                <a:alpha val="90980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3366" y="7730698"/>
            <a:ext cx="4995571" cy="3605894"/>
          </a:xfrm>
          <a:custGeom>
            <a:avLst/>
            <a:gdLst/>
            <a:ahLst/>
            <a:cxnLst/>
            <a:rect r="r" b="b" t="t" l="l"/>
            <a:pathLst>
              <a:path h="3605894" w="4995571">
                <a:moveTo>
                  <a:pt x="0" y="0"/>
                </a:moveTo>
                <a:lnTo>
                  <a:pt x="4995571" y="0"/>
                </a:lnTo>
                <a:lnTo>
                  <a:pt x="4995571" y="3605894"/>
                </a:lnTo>
                <a:lnTo>
                  <a:pt x="0" y="3605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99185" y="3683405"/>
            <a:ext cx="7889630" cy="4465818"/>
            <a:chOff x="0" y="0"/>
            <a:chExt cx="8127498" cy="4600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7498" cy="4600461"/>
            </a:xfrm>
            <a:custGeom>
              <a:avLst/>
              <a:gdLst/>
              <a:ahLst/>
              <a:cxnLst/>
              <a:rect r="r" b="b" t="t" l="l"/>
              <a:pathLst>
                <a:path h="4600461" w="8127498">
                  <a:moveTo>
                    <a:pt x="0" y="0"/>
                  </a:moveTo>
                  <a:lnTo>
                    <a:pt x="8127498" y="0"/>
                  </a:lnTo>
                  <a:lnTo>
                    <a:pt x="8127498" y="4600461"/>
                  </a:lnTo>
                  <a:lnTo>
                    <a:pt x="0" y="4600461"/>
                  </a:lnTo>
                  <a:close/>
                </a:path>
              </a:pathLst>
            </a:custGeom>
            <a:solidFill>
              <a:srgbClr val="E2E2E2">
                <a:alpha val="90980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14110" y="2007798"/>
            <a:ext cx="15259780" cy="89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29"/>
              </a:lnSpc>
            </a:pPr>
            <a:r>
              <a:rPr lang="en-US" sz="6629">
                <a:solidFill>
                  <a:srgbClr val="FFFFFF"/>
                </a:solidFill>
                <a:latin typeface="Dream Avenue"/>
              </a:rPr>
              <a:t>MULHER NEGRA: O OUTRO DO OUTRO: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114425"/>
            <a:ext cx="2765144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4560">
                <a:solidFill>
                  <a:srgbClr val="000000"/>
                </a:solidFill>
                <a:latin typeface="Dream Avenue"/>
              </a:rPr>
              <a:t>Capítulo 2.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45000" y="4581831"/>
            <a:ext cx="7198000" cy="314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4520">
                <a:solidFill>
                  <a:srgbClr val="000000"/>
                </a:solidFill>
                <a:latin typeface="Source Serif Pro Bold"/>
              </a:rPr>
              <a:t>Eu não estou indo embora</a:t>
            </a:r>
          </a:p>
          <a:p>
            <a:pPr algn="ctr">
              <a:lnSpc>
                <a:spcPts val="6328"/>
              </a:lnSpc>
            </a:pPr>
            <a:r>
              <a:rPr lang="en-US" sz="4520">
                <a:solidFill>
                  <a:srgbClr val="000000"/>
                </a:solidFill>
                <a:latin typeface="Source Serif Pro Bold"/>
              </a:rPr>
              <a:t>Vou ficar aqui</a:t>
            </a:r>
          </a:p>
          <a:p>
            <a:pPr algn="ctr">
              <a:lnSpc>
                <a:spcPts val="6328"/>
              </a:lnSpc>
            </a:pPr>
            <a:r>
              <a:rPr lang="en-US" sz="4520">
                <a:solidFill>
                  <a:srgbClr val="000000"/>
                </a:solidFill>
                <a:latin typeface="Source Serif Pro Bold"/>
              </a:rPr>
              <a:t>E resistir ao fogo.</a:t>
            </a:r>
          </a:p>
          <a:p>
            <a:pPr algn="r">
              <a:lnSpc>
                <a:spcPts val="632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7379275">
            <a:off x="15382310" y="1300160"/>
            <a:ext cx="7730650" cy="5580124"/>
          </a:xfrm>
          <a:custGeom>
            <a:avLst/>
            <a:gdLst/>
            <a:ahLst/>
            <a:cxnLst/>
            <a:rect r="r" b="b" t="t" l="l"/>
            <a:pathLst>
              <a:path h="5580124" w="7730650">
                <a:moveTo>
                  <a:pt x="0" y="0"/>
                </a:moveTo>
                <a:lnTo>
                  <a:pt x="7730650" y="0"/>
                </a:lnTo>
                <a:lnTo>
                  <a:pt x="7730650" y="5580124"/>
                </a:lnTo>
                <a:lnTo>
                  <a:pt x="0" y="558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23781" y="8650103"/>
            <a:ext cx="3465034" cy="60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6"/>
              </a:lnSpc>
            </a:pPr>
            <a:r>
              <a:rPr lang="en-US" sz="3618">
                <a:solidFill>
                  <a:srgbClr val="000000"/>
                </a:solidFill>
                <a:latin typeface="Source Serif Pro Bold"/>
              </a:rPr>
              <a:t>Sojourner Truth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51967" y="-176269"/>
            <a:ext cx="6916210" cy="4992246"/>
          </a:xfrm>
          <a:custGeom>
            <a:avLst/>
            <a:gdLst/>
            <a:ahLst/>
            <a:cxnLst/>
            <a:rect r="r" b="b" t="t" l="l"/>
            <a:pathLst>
              <a:path h="4992246" w="6916210">
                <a:moveTo>
                  <a:pt x="0" y="0"/>
                </a:moveTo>
                <a:lnTo>
                  <a:pt x="6916210" y="0"/>
                </a:lnTo>
                <a:lnTo>
                  <a:pt x="6916210" y="4992246"/>
                </a:lnTo>
                <a:lnTo>
                  <a:pt x="0" y="499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2157" y="1893498"/>
            <a:ext cx="15172347" cy="852712"/>
            <a:chOff x="0" y="0"/>
            <a:chExt cx="12046496" cy="6770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46496" cy="677034"/>
            </a:xfrm>
            <a:custGeom>
              <a:avLst/>
              <a:gdLst/>
              <a:ahLst/>
              <a:cxnLst/>
              <a:rect r="r" b="b" t="t" l="l"/>
              <a:pathLst>
                <a:path h="67703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677034"/>
                  </a:lnTo>
                  <a:lnTo>
                    <a:pt x="0" y="677034"/>
                  </a:lnTo>
                  <a:close/>
                </a:path>
              </a:pathLst>
            </a:custGeom>
            <a:solidFill>
              <a:srgbClr val="2E2E2E">
                <a:alpha val="9098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781680" y="2900085"/>
            <a:ext cx="8477620" cy="6358215"/>
          </a:xfrm>
          <a:custGeom>
            <a:avLst/>
            <a:gdLst/>
            <a:ahLst/>
            <a:cxnLst/>
            <a:rect r="r" b="b" t="t" l="l"/>
            <a:pathLst>
              <a:path h="6358215" w="8477620">
                <a:moveTo>
                  <a:pt x="0" y="0"/>
                </a:moveTo>
                <a:lnTo>
                  <a:pt x="8477620" y="0"/>
                </a:lnTo>
                <a:lnTo>
                  <a:pt x="8477620" y="6358215"/>
                </a:lnTo>
                <a:lnTo>
                  <a:pt x="0" y="6358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4110" y="2007798"/>
            <a:ext cx="15259780" cy="89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29"/>
              </a:lnSpc>
            </a:pPr>
            <a:r>
              <a:rPr lang="en-US" sz="6629">
                <a:solidFill>
                  <a:srgbClr val="FFFFFF"/>
                </a:solidFill>
                <a:latin typeface="Dream Avenue"/>
              </a:rPr>
              <a:t>MULHER NEGRA: O OUTRO DO OUTRO: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654" y="1114425"/>
            <a:ext cx="2879648" cy="60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4559">
                <a:solidFill>
                  <a:srgbClr val="000000"/>
                </a:solidFill>
                <a:latin typeface="Dream Avenue"/>
              </a:rPr>
              <a:t>Capítulo 2</a:t>
            </a:r>
            <a:r>
              <a:rPr lang="en-US" sz="4559">
                <a:solidFill>
                  <a:srgbClr val="000000"/>
                </a:solidFill>
                <a:latin typeface="Dream Avenue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5735" y="3846283"/>
            <a:ext cx="7504361" cy="4465818"/>
            <a:chOff x="0" y="0"/>
            <a:chExt cx="7730614" cy="46004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30614" cy="4600461"/>
            </a:xfrm>
            <a:custGeom>
              <a:avLst/>
              <a:gdLst/>
              <a:ahLst/>
              <a:cxnLst/>
              <a:rect r="r" b="b" t="t" l="l"/>
              <a:pathLst>
                <a:path h="4600461" w="7730614">
                  <a:moveTo>
                    <a:pt x="0" y="0"/>
                  </a:moveTo>
                  <a:lnTo>
                    <a:pt x="7730614" y="0"/>
                  </a:lnTo>
                  <a:lnTo>
                    <a:pt x="7730614" y="4600461"/>
                  </a:lnTo>
                  <a:lnTo>
                    <a:pt x="0" y="460046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5735" y="4007252"/>
            <a:ext cx="7000831" cy="422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94885" indent="-447442" lvl="1">
              <a:lnSpc>
                <a:spcPts val="4144"/>
              </a:lnSpc>
              <a:buFont typeface="Arial"/>
              <a:buChar char="•"/>
            </a:pPr>
            <a:r>
              <a:rPr lang="en-US" sz="4144">
                <a:solidFill>
                  <a:srgbClr val="000000"/>
                </a:solidFill>
                <a:latin typeface="Source Serif Pro Bold"/>
              </a:rPr>
              <a:t>Objetificação e desigualdade de Gênero</a:t>
            </a:r>
          </a:p>
          <a:p>
            <a:pPr>
              <a:lnSpc>
                <a:spcPts val="4144"/>
              </a:lnSpc>
            </a:pPr>
          </a:p>
          <a:p>
            <a:pPr marL="894885" indent="-447442" lvl="1">
              <a:lnSpc>
                <a:spcPts val="4144"/>
              </a:lnSpc>
              <a:buFont typeface="Arial"/>
              <a:buChar char="•"/>
            </a:pPr>
            <a:r>
              <a:rPr lang="en-US" sz="4144">
                <a:solidFill>
                  <a:srgbClr val="000000"/>
                </a:solidFill>
                <a:latin typeface="Source Serif Pro Bold"/>
              </a:rPr>
              <a:t>Desafios das Mulheres Negras</a:t>
            </a:r>
          </a:p>
          <a:p>
            <a:pPr>
              <a:lnSpc>
                <a:spcPts val="4144"/>
              </a:lnSpc>
            </a:pPr>
          </a:p>
          <a:p>
            <a:pPr marL="894885" indent="-447442" lvl="1">
              <a:lnSpc>
                <a:spcPts val="4144"/>
              </a:lnSpc>
              <a:buFont typeface="Arial"/>
              <a:buChar char="•"/>
            </a:pPr>
            <a:r>
              <a:rPr lang="en-US" sz="4144">
                <a:solidFill>
                  <a:srgbClr val="000000"/>
                </a:solidFill>
                <a:latin typeface="Source Serif Pro Bold"/>
              </a:rPr>
              <a:t> Importância de Políticas Públicas Específicas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88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256117" y="-4112324"/>
            <a:ext cx="4900774" cy="19774937"/>
          </a:xfrm>
          <a:custGeom>
            <a:avLst/>
            <a:gdLst/>
            <a:ahLst/>
            <a:cxnLst/>
            <a:rect r="r" b="b" t="t" l="l"/>
            <a:pathLst>
              <a:path h="19774937" w="4900774">
                <a:moveTo>
                  <a:pt x="0" y="0"/>
                </a:moveTo>
                <a:lnTo>
                  <a:pt x="4900775" y="0"/>
                </a:lnTo>
                <a:lnTo>
                  <a:pt x="4900775" y="19774937"/>
                </a:lnTo>
                <a:lnTo>
                  <a:pt x="0" y="19774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563" t="0" r="-7014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39939" y="3639271"/>
            <a:ext cx="9808122" cy="4271747"/>
            <a:chOff x="0" y="0"/>
            <a:chExt cx="9801655" cy="42689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01655" cy="4268931"/>
            </a:xfrm>
            <a:custGeom>
              <a:avLst/>
              <a:gdLst/>
              <a:ahLst/>
              <a:cxnLst/>
              <a:rect r="r" b="b" t="t" l="l"/>
              <a:pathLst>
                <a:path h="4268931" w="9801655">
                  <a:moveTo>
                    <a:pt x="0" y="0"/>
                  </a:moveTo>
                  <a:lnTo>
                    <a:pt x="9801655" y="0"/>
                  </a:lnTo>
                  <a:lnTo>
                    <a:pt x="9801655" y="4268931"/>
                  </a:lnTo>
                  <a:lnTo>
                    <a:pt x="0" y="426893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798288" y="1832068"/>
            <a:ext cx="12691423" cy="108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182"/>
              </a:lnSpc>
            </a:pPr>
            <a:r>
              <a:rPr lang="en-US" sz="8182">
                <a:solidFill>
                  <a:srgbClr val="FFFFFF"/>
                </a:solidFill>
                <a:latin typeface="Dream Avenue"/>
              </a:rPr>
              <a:t>O QUE É LUGAR DE FALA?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09097" y="3678554"/>
            <a:ext cx="8669805" cy="505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8"/>
              </a:lnSpc>
            </a:pPr>
            <a:r>
              <a:rPr lang="en-US" sz="4791">
                <a:solidFill>
                  <a:srgbClr val="854E35"/>
                </a:solidFill>
                <a:latin typeface="Source Serif Pro"/>
              </a:rPr>
              <a:t>"Por que eu escrevo?</a:t>
            </a:r>
          </a:p>
          <a:p>
            <a:pPr algn="ctr">
              <a:lnSpc>
                <a:spcPts val="6708"/>
              </a:lnSpc>
            </a:pPr>
            <a:r>
              <a:rPr lang="en-US" sz="4791">
                <a:solidFill>
                  <a:srgbClr val="854E35"/>
                </a:solidFill>
                <a:latin typeface="Source Serif Pro"/>
              </a:rPr>
              <a:t>Por que tenho que</a:t>
            </a:r>
          </a:p>
          <a:p>
            <a:pPr algn="ctr">
              <a:lnSpc>
                <a:spcPts val="6708"/>
              </a:lnSpc>
            </a:pPr>
            <a:r>
              <a:rPr lang="en-US" sz="4791">
                <a:solidFill>
                  <a:srgbClr val="854E35"/>
                </a:solidFill>
                <a:latin typeface="Source Serif Pro"/>
              </a:rPr>
              <a:t>Porque minha voz</a:t>
            </a:r>
          </a:p>
          <a:p>
            <a:pPr algn="ctr">
              <a:lnSpc>
                <a:spcPts val="6708"/>
              </a:lnSpc>
            </a:pPr>
            <a:r>
              <a:rPr lang="en-US" sz="4791">
                <a:solidFill>
                  <a:srgbClr val="854E35"/>
                </a:solidFill>
                <a:latin typeface="Source Serif Pro"/>
              </a:rPr>
              <a:t>em todas suas dialéticas</a:t>
            </a:r>
          </a:p>
          <a:p>
            <a:pPr algn="ctr">
              <a:lnSpc>
                <a:spcPts val="6708"/>
              </a:lnSpc>
            </a:pPr>
            <a:r>
              <a:rPr lang="en-US" sz="4791">
                <a:solidFill>
                  <a:srgbClr val="854E35"/>
                </a:solidFill>
                <a:latin typeface="Source Serif Pro"/>
              </a:rPr>
              <a:t>foi silenciada por muito tempo"</a:t>
            </a:r>
          </a:p>
          <a:p>
            <a:pPr algn="just">
              <a:lnSpc>
                <a:spcPts val="670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1897678" y="2018893"/>
            <a:ext cx="4407303" cy="278532"/>
            <a:chOff x="0" y="0"/>
            <a:chExt cx="4415506" cy="27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5505" cy="279050"/>
            </a:xfrm>
            <a:custGeom>
              <a:avLst/>
              <a:gdLst/>
              <a:ahLst/>
              <a:cxnLst/>
              <a:rect r="r" b="b" t="t" l="l"/>
              <a:pathLst>
                <a:path h="279050" w="4415505">
                  <a:moveTo>
                    <a:pt x="0" y="0"/>
                  </a:moveTo>
                  <a:lnTo>
                    <a:pt x="4415505" y="0"/>
                  </a:lnTo>
                  <a:lnTo>
                    <a:pt x="4415505" y="279050"/>
                  </a:lnTo>
                  <a:lnTo>
                    <a:pt x="0" y="279050"/>
                  </a:lnTo>
                  <a:close/>
                </a:path>
              </a:pathLst>
            </a:custGeom>
            <a:solidFill>
              <a:srgbClr val="F1EEEB">
                <a:alpha val="9098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44410" y="8701237"/>
            <a:ext cx="4407303" cy="1255014"/>
            <a:chOff x="0" y="0"/>
            <a:chExt cx="4415506" cy="12573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5505" cy="1257349"/>
            </a:xfrm>
            <a:custGeom>
              <a:avLst/>
              <a:gdLst/>
              <a:ahLst/>
              <a:cxnLst/>
              <a:rect r="r" b="b" t="t" l="l"/>
              <a:pathLst>
                <a:path h="1257349" w="4415505">
                  <a:moveTo>
                    <a:pt x="0" y="0"/>
                  </a:moveTo>
                  <a:lnTo>
                    <a:pt x="4415505" y="0"/>
                  </a:lnTo>
                  <a:lnTo>
                    <a:pt x="4415505" y="1257349"/>
                  </a:lnTo>
                  <a:lnTo>
                    <a:pt x="0" y="1257349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94898" y="1085850"/>
            <a:ext cx="2626783" cy="52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39"/>
              </a:lnSpc>
            </a:pPr>
            <a:r>
              <a:rPr lang="en-US" sz="3839">
                <a:solidFill>
                  <a:srgbClr val="FFFFFF"/>
                </a:solidFill>
                <a:latin typeface="Dream Avenue"/>
              </a:rPr>
              <a:t>Capítulo 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8798" y="8828771"/>
            <a:ext cx="3656261" cy="177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9"/>
              </a:lnSpc>
            </a:pPr>
            <a:r>
              <a:rPr lang="en-US" sz="3406">
                <a:solidFill>
                  <a:srgbClr val="854E35"/>
                </a:solidFill>
                <a:latin typeface="Source Serif Pro"/>
              </a:rPr>
              <a:t>Jacob Sam-La Rose</a:t>
            </a:r>
          </a:p>
          <a:p>
            <a:pPr algn="r">
              <a:lnSpc>
                <a:spcPts val="4769"/>
              </a:lnSpc>
            </a:pPr>
            <a:r>
              <a:rPr lang="en-US" sz="3406">
                <a:solidFill>
                  <a:srgbClr val="854E35"/>
                </a:solidFill>
                <a:latin typeface="Source Serif Pro"/>
              </a:rPr>
              <a:t>32</a:t>
            </a:r>
          </a:p>
          <a:p>
            <a:pPr algn="ctr">
              <a:lnSpc>
                <a:spcPts val="476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5489712" y="2018893"/>
            <a:ext cx="4407303" cy="278532"/>
            <a:chOff x="0" y="0"/>
            <a:chExt cx="4415506" cy="27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15505" cy="279050"/>
            </a:xfrm>
            <a:custGeom>
              <a:avLst/>
              <a:gdLst/>
              <a:ahLst/>
              <a:cxnLst/>
              <a:rect r="r" b="b" t="t" l="l"/>
              <a:pathLst>
                <a:path h="279050" w="4415505">
                  <a:moveTo>
                    <a:pt x="0" y="0"/>
                  </a:moveTo>
                  <a:lnTo>
                    <a:pt x="4415505" y="0"/>
                  </a:lnTo>
                  <a:lnTo>
                    <a:pt x="4415505" y="279050"/>
                  </a:lnTo>
                  <a:lnTo>
                    <a:pt x="0" y="279050"/>
                  </a:lnTo>
                  <a:close/>
                </a:path>
              </a:pathLst>
            </a:custGeom>
            <a:solidFill>
              <a:srgbClr val="F1EEEB">
                <a:alpha val="90980"/>
              </a:srgbClr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88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740538" y="-3443312"/>
            <a:ext cx="2806924" cy="19076987"/>
          </a:xfrm>
          <a:custGeom>
            <a:avLst/>
            <a:gdLst/>
            <a:ahLst/>
            <a:cxnLst/>
            <a:rect r="r" b="b" t="t" l="l"/>
            <a:pathLst>
              <a:path h="19076987" w="2806924">
                <a:moveTo>
                  <a:pt x="0" y="0"/>
                </a:moveTo>
                <a:lnTo>
                  <a:pt x="2806924" y="0"/>
                </a:lnTo>
                <a:lnTo>
                  <a:pt x="2806924" y="19076987"/>
                </a:lnTo>
                <a:lnTo>
                  <a:pt x="0" y="19076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3750" t="0" r="-19127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657602"/>
            <a:ext cx="16230600" cy="4875160"/>
            <a:chOff x="0" y="0"/>
            <a:chExt cx="11324463" cy="34015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24463" cy="3401511"/>
            </a:xfrm>
            <a:custGeom>
              <a:avLst/>
              <a:gdLst/>
              <a:ahLst/>
              <a:cxnLst/>
              <a:rect r="r" b="b" t="t" l="l"/>
              <a:pathLst>
                <a:path h="3401511" w="11324463">
                  <a:moveTo>
                    <a:pt x="0" y="0"/>
                  </a:moveTo>
                  <a:lnTo>
                    <a:pt x="11324463" y="0"/>
                  </a:lnTo>
                  <a:lnTo>
                    <a:pt x="11324463" y="3401511"/>
                  </a:lnTo>
                  <a:lnTo>
                    <a:pt x="0" y="340151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798288" y="1832068"/>
            <a:ext cx="12691423" cy="108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182"/>
              </a:lnSpc>
            </a:pPr>
            <a:r>
              <a:rPr lang="en-US" sz="8182">
                <a:solidFill>
                  <a:srgbClr val="FFFFFF"/>
                </a:solidFill>
                <a:latin typeface="Dream Avenue"/>
              </a:rPr>
              <a:t>O QUE É LUGAR DE FALA?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81402"/>
            <a:ext cx="16230600" cy="553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854E35"/>
                </a:solidFill>
                <a:latin typeface="Source Serif Pro"/>
              </a:rPr>
              <a:t>Mas, quem poderia falar, então?</a:t>
            </a:r>
          </a:p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854E35"/>
                </a:solidFill>
                <a:latin typeface="Source Serif Pro"/>
              </a:rPr>
              <a:t>O subalterno não pode falar. Não há valor algum atribuído à “mulher-negra, pobre” como um item</a:t>
            </a:r>
          </a:p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854E35"/>
                </a:solidFill>
                <a:latin typeface="Source Serif Pro"/>
              </a:rPr>
              <a:t>respeitoso na lista de prioridade globais. A representação não definhou. A mulher como uma intelectual</a:t>
            </a:r>
          </a:p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854E35"/>
                </a:solidFill>
                <a:latin typeface="Source Serif Pro"/>
              </a:rPr>
              <a:t>tem uma tarefa circunscrita que ela não deve rejeitar com um floreio.</a:t>
            </a:r>
          </a:p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854E35"/>
                </a:solidFill>
                <a:latin typeface="Source Serif Pro"/>
              </a:rPr>
              <a:t> (SPIVAK, 2010, p. 126.)</a:t>
            </a:r>
          </a:p>
          <a:p>
            <a:pPr algn="just">
              <a:lnSpc>
                <a:spcPts val="553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1897678" y="2018893"/>
            <a:ext cx="4407303" cy="278532"/>
            <a:chOff x="0" y="0"/>
            <a:chExt cx="4415506" cy="27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5505" cy="279050"/>
            </a:xfrm>
            <a:custGeom>
              <a:avLst/>
              <a:gdLst/>
              <a:ahLst/>
              <a:cxnLst/>
              <a:rect r="r" b="b" t="t" l="l"/>
              <a:pathLst>
                <a:path h="279050" w="4415505">
                  <a:moveTo>
                    <a:pt x="0" y="0"/>
                  </a:moveTo>
                  <a:lnTo>
                    <a:pt x="4415505" y="0"/>
                  </a:lnTo>
                  <a:lnTo>
                    <a:pt x="4415505" y="279050"/>
                  </a:lnTo>
                  <a:lnTo>
                    <a:pt x="0" y="279050"/>
                  </a:lnTo>
                  <a:close/>
                </a:path>
              </a:pathLst>
            </a:custGeom>
            <a:solidFill>
              <a:srgbClr val="F1EEEB">
                <a:alpha val="9098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4898" y="1085850"/>
            <a:ext cx="2626783" cy="52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39"/>
              </a:lnSpc>
            </a:pPr>
            <a:r>
              <a:rPr lang="en-US" sz="3839">
                <a:solidFill>
                  <a:srgbClr val="FFFFFF"/>
                </a:solidFill>
                <a:latin typeface="Dream Avenue"/>
              </a:rPr>
              <a:t>Capítulo 3.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89712" y="2018893"/>
            <a:ext cx="4407303" cy="278532"/>
            <a:chOff x="0" y="0"/>
            <a:chExt cx="4415506" cy="27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15505" cy="279050"/>
            </a:xfrm>
            <a:custGeom>
              <a:avLst/>
              <a:gdLst/>
              <a:ahLst/>
              <a:cxnLst/>
              <a:rect r="r" b="b" t="t" l="l"/>
              <a:pathLst>
                <a:path h="279050" w="4415505">
                  <a:moveTo>
                    <a:pt x="0" y="0"/>
                  </a:moveTo>
                  <a:lnTo>
                    <a:pt x="4415505" y="0"/>
                  </a:lnTo>
                  <a:lnTo>
                    <a:pt x="4415505" y="279050"/>
                  </a:lnTo>
                  <a:lnTo>
                    <a:pt x="0" y="279050"/>
                  </a:lnTo>
                  <a:close/>
                </a:path>
              </a:pathLst>
            </a:custGeom>
            <a:solidFill>
              <a:srgbClr val="F1EEEB">
                <a:alpha val="90980"/>
              </a:srgbClr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16778" y="2192061"/>
            <a:ext cx="12054444" cy="532345"/>
            <a:chOff x="0" y="0"/>
            <a:chExt cx="12046496" cy="531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6771" y="3528682"/>
            <a:ext cx="14500898" cy="5729618"/>
            <a:chOff x="0" y="0"/>
            <a:chExt cx="14491337" cy="57258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91337" cy="5725841"/>
            </a:xfrm>
            <a:custGeom>
              <a:avLst/>
              <a:gdLst/>
              <a:ahLst/>
              <a:cxnLst/>
              <a:rect r="r" b="b" t="t" l="l"/>
              <a:pathLst>
                <a:path h="5725841" w="14491337">
                  <a:moveTo>
                    <a:pt x="0" y="0"/>
                  </a:moveTo>
                  <a:lnTo>
                    <a:pt x="14491337" y="0"/>
                  </a:lnTo>
                  <a:lnTo>
                    <a:pt x="14491337" y="5725841"/>
                  </a:lnTo>
                  <a:lnTo>
                    <a:pt x="0" y="572584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21821" y="4391370"/>
            <a:ext cx="5930798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 spc="72">
                <a:solidFill>
                  <a:srgbClr val="130E0C"/>
                </a:solidFill>
                <a:latin typeface="Poppins"/>
              </a:rPr>
              <a:t> VOZ E REPRESENTATIVIDADE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898" y="1095375"/>
            <a:ext cx="2626783" cy="58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39"/>
              </a:lnSpc>
            </a:pPr>
            <a:r>
              <a:rPr lang="en-US" sz="4339">
                <a:solidFill>
                  <a:srgbClr val="000000"/>
                </a:solidFill>
                <a:latin typeface="Dream Avenue"/>
              </a:rPr>
              <a:t>Capítulo 4</a:t>
            </a:r>
            <a:r>
              <a:rPr lang="en-US" sz="4339">
                <a:solidFill>
                  <a:srgbClr val="130E0C"/>
                </a:solidFill>
                <a:latin typeface="Dream Avenue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5608" y="1681045"/>
            <a:ext cx="7783223" cy="166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5"/>
              </a:lnSpc>
            </a:pPr>
            <a:r>
              <a:rPr lang="en-US" sz="6445">
                <a:solidFill>
                  <a:srgbClr val="000000"/>
                </a:solidFill>
                <a:latin typeface="Dream Avenue"/>
              </a:rPr>
              <a:t>TODO MUNDO TEM LUGAR DE FALA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9019" y="5876601"/>
            <a:ext cx="9056400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spc="72">
                <a:solidFill>
                  <a:srgbClr val="130E0C"/>
                </a:solidFill>
                <a:latin typeface="Poppins"/>
              </a:rPr>
              <a:t>2.  DISCORDANTES OU REFORÇAR HIERARQUIAS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59019" y="7431716"/>
            <a:ext cx="9056400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spc="72">
                <a:solidFill>
                  <a:srgbClr val="130E0C"/>
                </a:solidFill>
                <a:latin typeface="Poppins"/>
              </a:rPr>
              <a:t>3. PROMOVER INCLUSÃO E EQUIDADE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857876">
            <a:off x="15289667" y="2323746"/>
            <a:ext cx="5185834" cy="3630084"/>
          </a:xfrm>
          <a:custGeom>
            <a:avLst/>
            <a:gdLst/>
            <a:ahLst/>
            <a:cxnLst/>
            <a:rect r="r" b="b" t="t" l="l"/>
            <a:pathLst>
              <a:path h="3630084" w="5185834">
                <a:moveTo>
                  <a:pt x="0" y="0"/>
                </a:moveTo>
                <a:lnTo>
                  <a:pt x="5185835" y="0"/>
                </a:lnTo>
                <a:lnTo>
                  <a:pt x="5185835" y="3630084"/>
                </a:lnTo>
                <a:lnTo>
                  <a:pt x="0" y="363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79275">
            <a:off x="15382310" y="1300160"/>
            <a:ext cx="7730650" cy="5580124"/>
          </a:xfrm>
          <a:custGeom>
            <a:avLst/>
            <a:gdLst/>
            <a:ahLst/>
            <a:cxnLst/>
            <a:rect r="r" b="b" t="t" l="l"/>
            <a:pathLst>
              <a:path h="5580124" w="7730650">
                <a:moveTo>
                  <a:pt x="0" y="0"/>
                </a:moveTo>
                <a:lnTo>
                  <a:pt x="7730650" y="0"/>
                </a:lnTo>
                <a:lnTo>
                  <a:pt x="7730650" y="5580124"/>
                </a:lnTo>
                <a:lnTo>
                  <a:pt x="0" y="558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57827" y="1103976"/>
            <a:ext cx="15172347" cy="852712"/>
            <a:chOff x="0" y="0"/>
            <a:chExt cx="12046496" cy="677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46496" cy="677034"/>
            </a:xfrm>
            <a:custGeom>
              <a:avLst/>
              <a:gdLst/>
              <a:ahLst/>
              <a:cxnLst/>
              <a:rect r="r" b="b" t="t" l="l"/>
              <a:pathLst>
                <a:path h="67703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677034"/>
                  </a:lnTo>
                  <a:lnTo>
                    <a:pt x="0" y="677034"/>
                  </a:lnTo>
                  <a:close/>
                </a:path>
              </a:pathLst>
            </a:custGeom>
            <a:solidFill>
              <a:srgbClr val="2E2E2E">
                <a:alpha val="90980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35851" y="8471958"/>
            <a:ext cx="5185834" cy="3630084"/>
          </a:xfrm>
          <a:custGeom>
            <a:avLst/>
            <a:gdLst/>
            <a:ahLst/>
            <a:cxnLst/>
            <a:rect r="r" b="b" t="t" l="l"/>
            <a:pathLst>
              <a:path h="3630084" w="5185834">
                <a:moveTo>
                  <a:pt x="0" y="0"/>
                </a:moveTo>
                <a:lnTo>
                  <a:pt x="5185834" y="0"/>
                </a:lnTo>
                <a:lnTo>
                  <a:pt x="5185834" y="3630084"/>
                </a:lnTo>
                <a:lnTo>
                  <a:pt x="0" y="363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40720" y="7639661"/>
            <a:ext cx="4995571" cy="3605894"/>
          </a:xfrm>
          <a:custGeom>
            <a:avLst/>
            <a:gdLst/>
            <a:ahLst/>
            <a:cxnLst/>
            <a:rect r="r" b="b" t="t" l="l"/>
            <a:pathLst>
              <a:path h="3605894" w="4995571">
                <a:moveTo>
                  <a:pt x="0" y="0"/>
                </a:moveTo>
                <a:lnTo>
                  <a:pt x="4995572" y="0"/>
                </a:lnTo>
                <a:lnTo>
                  <a:pt x="4995572" y="3605894"/>
                </a:lnTo>
                <a:lnTo>
                  <a:pt x="0" y="360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6787951"/>
            <a:ext cx="7449590" cy="2470349"/>
            <a:chOff x="0" y="0"/>
            <a:chExt cx="7444678" cy="24687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44678" cy="2468721"/>
            </a:xfrm>
            <a:custGeom>
              <a:avLst/>
              <a:gdLst/>
              <a:ahLst/>
              <a:cxnLst/>
              <a:rect r="r" b="b" t="t" l="l"/>
              <a:pathLst>
                <a:path h="2468721" w="7444678">
                  <a:moveTo>
                    <a:pt x="0" y="0"/>
                  </a:moveTo>
                  <a:lnTo>
                    <a:pt x="7444678" y="0"/>
                  </a:lnTo>
                  <a:lnTo>
                    <a:pt x="7444678" y="2468721"/>
                  </a:lnTo>
                  <a:lnTo>
                    <a:pt x="0" y="2468721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69670" y="3112737"/>
            <a:ext cx="7889630" cy="5738746"/>
            <a:chOff x="0" y="0"/>
            <a:chExt cx="7884428" cy="57349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84428" cy="5734963"/>
            </a:xfrm>
            <a:custGeom>
              <a:avLst/>
              <a:gdLst/>
              <a:ahLst/>
              <a:cxnLst/>
              <a:rect r="r" b="b" t="t" l="l"/>
              <a:pathLst>
                <a:path h="5734963" w="7884428">
                  <a:moveTo>
                    <a:pt x="0" y="0"/>
                  </a:moveTo>
                  <a:lnTo>
                    <a:pt x="7884428" y="0"/>
                  </a:lnTo>
                  <a:lnTo>
                    <a:pt x="7884428" y="5734963"/>
                  </a:lnTo>
                  <a:lnTo>
                    <a:pt x="0" y="5734963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015705" y="1218276"/>
            <a:ext cx="10707931" cy="89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29"/>
              </a:lnSpc>
            </a:pPr>
            <a:r>
              <a:rPr lang="en-US" sz="6629">
                <a:solidFill>
                  <a:srgbClr val="FFFFFF"/>
                </a:solidFill>
                <a:latin typeface="Dream Avenue"/>
              </a:rPr>
              <a:t>PERGUNTAS E REFLEXÕES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112737"/>
            <a:ext cx="7449590" cy="2075856"/>
            <a:chOff x="0" y="0"/>
            <a:chExt cx="7444678" cy="20744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44678" cy="2074487"/>
            </a:xfrm>
            <a:custGeom>
              <a:avLst/>
              <a:gdLst/>
              <a:ahLst/>
              <a:cxnLst/>
              <a:rect r="r" b="b" t="t" l="l"/>
              <a:pathLst>
                <a:path h="2074487" w="7444678">
                  <a:moveTo>
                    <a:pt x="0" y="0"/>
                  </a:moveTo>
                  <a:lnTo>
                    <a:pt x="7444678" y="0"/>
                  </a:lnTo>
                  <a:lnTo>
                    <a:pt x="7444678" y="2074487"/>
                  </a:lnTo>
                  <a:lnTo>
                    <a:pt x="0" y="207448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71469" y="3065112"/>
            <a:ext cx="7164053" cy="251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856">
                <a:solidFill>
                  <a:srgbClr val="000000"/>
                </a:solidFill>
                <a:latin typeface="Source Serif Pro Bold"/>
              </a:rPr>
              <a:t>Cap 2.</a:t>
            </a:r>
          </a:p>
          <a:p>
            <a:pPr algn="just">
              <a:lnSpc>
                <a:spcPts val="3999"/>
              </a:lnSpc>
            </a:pPr>
            <a:r>
              <a:rPr lang="en-US" sz="2856">
                <a:solidFill>
                  <a:srgbClr val="000000"/>
                </a:solidFill>
                <a:latin typeface="Source Serif Pro Bold"/>
              </a:rPr>
              <a:t>Como a objetificação das mulheres contribui para a desigualdade de gênero, especialmente para as mulheres negras?</a:t>
            </a:r>
          </a:p>
          <a:p>
            <a:pPr algn="ctr">
              <a:lnSpc>
                <a:spcPts val="39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71469" y="6762877"/>
            <a:ext cx="7164053" cy="148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856">
                <a:solidFill>
                  <a:srgbClr val="000000"/>
                </a:solidFill>
                <a:latin typeface="Source Serif Pro Bold"/>
              </a:rPr>
              <a:t>Cap 3. </a:t>
            </a:r>
          </a:p>
          <a:p>
            <a:pPr algn="just" marL="616767" indent="-308384" lvl="1">
              <a:lnSpc>
                <a:spcPts val="3999"/>
              </a:lnSpc>
              <a:buFont typeface="Arial"/>
              <a:buChar char="•"/>
            </a:pPr>
            <a:r>
              <a:rPr lang="en-US" sz="2856">
                <a:solidFill>
                  <a:srgbClr val="000000"/>
                </a:solidFill>
                <a:latin typeface="Source Serif Pro Bold"/>
              </a:rPr>
              <a:t>Vocês já ouviram ou já utilizaram esse termo, "lugar de fala"?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9670" y="3055587"/>
            <a:ext cx="7646865" cy="733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2"/>
              </a:lnSpc>
            </a:pPr>
            <a:r>
              <a:rPr lang="en-US" sz="3116">
                <a:solidFill>
                  <a:srgbClr val="000000"/>
                </a:solidFill>
                <a:latin typeface="Source Serif Pro Bold"/>
              </a:rPr>
              <a:t>Cap 4.</a:t>
            </a:r>
          </a:p>
          <a:p>
            <a:pPr algn="just" marL="672805" indent="-336403" lvl="1">
              <a:lnSpc>
                <a:spcPts val="3739"/>
              </a:lnSpc>
              <a:buFont typeface="Arial"/>
              <a:buChar char="•"/>
            </a:pPr>
            <a:r>
              <a:rPr lang="en-US" sz="3116">
                <a:solidFill>
                  <a:srgbClr val="000000"/>
                </a:solidFill>
                <a:latin typeface="Source Serif Pro Bold"/>
              </a:rPr>
              <a:t>Qual o papel da liberdade de expressão em relação ao “lugar de fala”? Até que ponto a consideração do “lugar de fala” pode limitar a liberdade de expressão?</a:t>
            </a:r>
          </a:p>
          <a:p>
            <a:pPr algn="just">
              <a:lnSpc>
                <a:spcPts val="3739"/>
              </a:lnSpc>
            </a:pPr>
          </a:p>
          <a:p>
            <a:pPr algn="just" marL="672805" indent="-336403" lvl="1">
              <a:lnSpc>
                <a:spcPts val="3739"/>
              </a:lnSpc>
              <a:buFont typeface="Arial"/>
              <a:buChar char="•"/>
            </a:pPr>
            <a:r>
              <a:rPr lang="en-US" sz="3116">
                <a:solidFill>
                  <a:srgbClr val="000000"/>
                </a:solidFill>
                <a:latin typeface="Source Serif Pro Bold"/>
              </a:rPr>
              <a:t> Você acredita que o conceito de “lugar de fala” e uma ferramenta eficaz para promover a igualdade e a justiça social ou você vê potenciais problemas em sua aplicação?</a:t>
            </a:r>
          </a:p>
          <a:p>
            <a:pPr algn="just">
              <a:lnSpc>
                <a:spcPts val="4362"/>
              </a:lnSpc>
            </a:pPr>
            <a:r>
              <a:rPr lang="en-US" sz="3116">
                <a:solidFill>
                  <a:srgbClr val="000000"/>
                </a:solidFill>
                <a:latin typeface="Source Serif Pro Bold"/>
              </a:rPr>
              <a:t> </a:t>
            </a:r>
          </a:p>
          <a:p>
            <a:pPr algn="just">
              <a:lnSpc>
                <a:spcPts val="4362"/>
              </a:lnSpc>
            </a:pPr>
          </a:p>
          <a:p>
            <a:pPr algn="ctr">
              <a:lnSpc>
                <a:spcPts val="436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71469" y="8196293"/>
            <a:ext cx="7164053" cy="98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6767" indent="-308384" lvl="1">
              <a:lnSpc>
                <a:spcPts val="3999"/>
              </a:lnSpc>
              <a:buFont typeface="Arial"/>
              <a:buChar char="•"/>
            </a:pPr>
            <a:r>
              <a:rPr lang="en-US" sz="2856">
                <a:solidFill>
                  <a:srgbClr val="000000"/>
                </a:solidFill>
                <a:latin typeface="Source Serif Pro Bold"/>
              </a:rPr>
              <a:t>O que vocês entendem como "lugar de fala"?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165" y="7665712"/>
            <a:ext cx="6419917" cy="1361280"/>
            <a:chOff x="0" y="0"/>
            <a:chExt cx="6415684" cy="1360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5684" cy="1360382"/>
            </a:xfrm>
            <a:custGeom>
              <a:avLst/>
              <a:gdLst/>
              <a:ahLst/>
              <a:cxnLst/>
              <a:rect r="r" b="b" t="t" l="l"/>
              <a:pathLst>
                <a:path h="1360382" w="6415684">
                  <a:moveTo>
                    <a:pt x="0" y="0"/>
                  </a:moveTo>
                  <a:lnTo>
                    <a:pt x="6415684" y="0"/>
                  </a:lnTo>
                  <a:lnTo>
                    <a:pt x="6415684" y="1360382"/>
                  </a:lnTo>
                  <a:lnTo>
                    <a:pt x="0" y="1360382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55151" y="2020642"/>
            <a:ext cx="10577698" cy="467130"/>
            <a:chOff x="0" y="0"/>
            <a:chExt cx="12046496" cy="531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387252" y="627713"/>
            <a:ext cx="9513495" cy="186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sz="7172">
                <a:solidFill>
                  <a:srgbClr val="000000"/>
                </a:solidFill>
                <a:latin typeface="Dream Avenue"/>
              </a:rPr>
              <a:t>CONCLUSÃO E RECOMENDAÇÕES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18563" y="7665712"/>
            <a:ext cx="6144727" cy="1361280"/>
            <a:chOff x="0" y="0"/>
            <a:chExt cx="6140675" cy="13603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40675" cy="1360382"/>
            </a:xfrm>
            <a:custGeom>
              <a:avLst/>
              <a:gdLst/>
              <a:ahLst/>
              <a:cxnLst/>
              <a:rect r="r" b="b" t="t" l="l"/>
              <a:pathLst>
                <a:path h="1360382" w="6140675">
                  <a:moveTo>
                    <a:pt x="0" y="0"/>
                  </a:moveTo>
                  <a:lnTo>
                    <a:pt x="6140675" y="0"/>
                  </a:lnTo>
                  <a:lnTo>
                    <a:pt x="6140675" y="1360382"/>
                  </a:lnTo>
                  <a:lnTo>
                    <a:pt x="0" y="1360382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18563" y="5056368"/>
            <a:ext cx="6144727" cy="1361568"/>
            <a:chOff x="0" y="0"/>
            <a:chExt cx="6140675" cy="1360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40675" cy="1360670"/>
            </a:xfrm>
            <a:custGeom>
              <a:avLst/>
              <a:gdLst/>
              <a:ahLst/>
              <a:cxnLst/>
              <a:rect r="r" b="b" t="t" l="l"/>
              <a:pathLst>
                <a:path h="1360670" w="6140675">
                  <a:moveTo>
                    <a:pt x="0" y="0"/>
                  </a:moveTo>
                  <a:lnTo>
                    <a:pt x="6140675" y="0"/>
                  </a:lnTo>
                  <a:lnTo>
                    <a:pt x="6140675" y="1360670"/>
                  </a:lnTo>
                  <a:lnTo>
                    <a:pt x="0" y="1360670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28165" y="5056368"/>
            <a:ext cx="6419917" cy="1361568"/>
            <a:chOff x="0" y="0"/>
            <a:chExt cx="6415684" cy="1360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15684" cy="1360670"/>
            </a:xfrm>
            <a:custGeom>
              <a:avLst/>
              <a:gdLst/>
              <a:ahLst/>
              <a:cxnLst/>
              <a:rect r="r" b="b" t="t" l="l"/>
              <a:pathLst>
                <a:path h="1360670" w="6415684">
                  <a:moveTo>
                    <a:pt x="0" y="0"/>
                  </a:moveTo>
                  <a:lnTo>
                    <a:pt x="6415684" y="0"/>
                  </a:lnTo>
                  <a:lnTo>
                    <a:pt x="6415684" y="1360670"/>
                  </a:lnTo>
                  <a:lnTo>
                    <a:pt x="0" y="1360670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28165" y="3263276"/>
            <a:ext cx="5497090" cy="242761"/>
            <a:chOff x="0" y="0"/>
            <a:chExt cx="12046496" cy="5319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34806" y="2854093"/>
            <a:ext cx="2518974" cy="95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2"/>
              </a:lnSpc>
            </a:pPr>
            <a:r>
              <a:rPr lang="en-US" sz="5615">
                <a:solidFill>
                  <a:srgbClr val="000000"/>
                </a:solidFill>
                <a:latin typeface="Dream Avenue"/>
              </a:rPr>
              <a:t>Músicas: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66199" y="3263276"/>
            <a:ext cx="5497090" cy="242761"/>
            <a:chOff x="0" y="0"/>
            <a:chExt cx="12046496" cy="5319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28165" y="4951593"/>
            <a:ext cx="6144727" cy="1466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sz="4744">
                <a:solidFill>
                  <a:srgbClr val="000000"/>
                </a:solidFill>
                <a:latin typeface="Dream Avenue"/>
              </a:rPr>
              <a:t>O que se cala</a:t>
            </a:r>
          </a:p>
          <a:p>
            <a:pPr algn="r">
              <a:lnSpc>
                <a:spcPts val="4962"/>
              </a:lnSpc>
            </a:pPr>
            <a:r>
              <a:rPr lang="en-US" sz="3544">
                <a:solidFill>
                  <a:srgbClr val="000000"/>
                </a:solidFill>
                <a:latin typeface="Dream Avenue"/>
              </a:rPr>
              <a:t>Elza Soares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5405" y="4951593"/>
            <a:ext cx="5492361" cy="1466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sz="4744">
                <a:solidFill>
                  <a:srgbClr val="000000"/>
                </a:solidFill>
                <a:latin typeface="Dream Avenue"/>
              </a:rPr>
              <a:t>Zumbi</a:t>
            </a:r>
          </a:p>
          <a:p>
            <a:pPr algn="r">
              <a:lnSpc>
                <a:spcPts val="4962"/>
              </a:lnSpc>
            </a:pPr>
            <a:r>
              <a:rPr lang="en-US" sz="3544">
                <a:solidFill>
                  <a:srgbClr val="000000"/>
                </a:solidFill>
                <a:latin typeface="Dream Avenue"/>
              </a:rPr>
              <a:t>Jorge Ben Jor</a:t>
            </a:r>
            <a:r>
              <a:rPr lang="en-US" sz="3544">
                <a:solidFill>
                  <a:srgbClr val="000000"/>
                </a:solidFill>
                <a:latin typeface="Dream Avenue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28165" y="7560648"/>
            <a:ext cx="6144727" cy="1466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sz="4744">
                <a:solidFill>
                  <a:srgbClr val="000000"/>
                </a:solidFill>
                <a:latin typeface="Dream Avenue"/>
              </a:rPr>
              <a:t>Preconceito</a:t>
            </a:r>
          </a:p>
          <a:p>
            <a:pPr algn="r">
              <a:lnSpc>
                <a:spcPts val="4962"/>
              </a:lnSpc>
            </a:pPr>
            <a:r>
              <a:rPr lang="en-US" sz="3544">
                <a:solidFill>
                  <a:srgbClr val="000000"/>
                </a:solidFill>
                <a:latin typeface="Dream Avenue"/>
              </a:rPr>
              <a:t>Wilson Batista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84088" y="7636767"/>
            <a:ext cx="5613678" cy="139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4"/>
              </a:lnSpc>
            </a:pPr>
            <a:r>
              <a:rPr lang="en-US" sz="4546">
                <a:solidFill>
                  <a:srgbClr val="000000"/>
                </a:solidFill>
                <a:latin typeface="Dream Avenue"/>
              </a:rPr>
              <a:t>Lemonade (álbum)</a:t>
            </a:r>
          </a:p>
          <a:p>
            <a:pPr algn="r">
              <a:lnSpc>
                <a:spcPts val="4754"/>
              </a:lnSpc>
            </a:pPr>
            <a:r>
              <a:rPr lang="en-US" sz="3396">
                <a:solidFill>
                  <a:srgbClr val="000000"/>
                </a:solidFill>
                <a:latin typeface="Dream Avenue"/>
              </a:rPr>
              <a:t>Beyoncé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9630" y="2084332"/>
            <a:ext cx="19570043" cy="270839"/>
            <a:chOff x="0" y="0"/>
            <a:chExt cx="12046496" cy="166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46496" cy="166717"/>
            </a:xfrm>
            <a:custGeom>
              <a:avLst/>
              <a:gdLst/>
              <a:ahLst/>
              <a:cxnLst/>
              <a:rect r="r" b="b" t="t" l="l"/>
              <a:pathLst>
                <a:path h="166717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166717"/>
                  </a:lnTo>
                  <a:lnTo>
                    <a:pt x="0" y="166717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95550" y="1777418"/>
            <a:ext cx="13496899" cy="134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5"/>
              </a:lnSpc>
            </a:pPr>
            <a:r>
              <a:rPr lang="en-US" sz="10175">
                <a:solidFill>
                  <a:srgbClr val="000000"/>
                </a:solidFill>
                <a:latin typeface="Dream Avenue"/>
              </a:rPr>
              <a:t>O QUE SE CALA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304943" y="3787752"/>
            <a:ext cx="14500898" cy="3163180"/>
            <a:chOff x="0" y="0"/>
            <a:chExt cx="14491337" cy="3161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91337" cy="3161094"/>
            </a:xfrm>
            <a:custGeom>
              <a:avLst/>
              <a:gdLst/>
              <a:ahLst/>
              <a:cxnLst/>
              <a:rect r="r" b="b" t="t" l="l"/>
              <a:pathLst>
                <a:path h="3161094" w="14491337">
                  <a:moveTo>
                    <a:pt x="0" y="0"/>
                  </a:moveTo>
                  <a:lnTo>
                    <a:pt x="14491337" y="0"/>
                  </a:lnTo>
                  <a:lnTo>
                    <a:pt x="14491337" y="3161094"/>
                  </a:lnTo>
                  <a:lnTo>
                    <a:pt x="0" y="3161094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460531" y="3663927"/>
            <a:ext cx="14189721" cy="32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6"/>
              </a:lnSpc>
            </a:pPr>
            <a:r>
              <a:rPr lang="en-US" sz="6254">
                <a:solidFill>
                  <a:srgbClr val="000000"/>
                </a:solidFill>
                <a:latin typeface="Source Serif Pro"/>
              </a:rPr>
              <a:t>Mil nações moldaram minha cara;</a:t>
            </a:r>
          </a:p>
          <a:p>
            <a:pPr algn="ctr">
              <a:lnSpc>
                <a:spcPts val="8756"/>
              </a:lnSpc>
            </a:pPr>
            <a:r>
              <a:rPr lang="en-US" sz="6254">
                <a:solidFill>
                  <a:srgbClr val="000000"/>
                </a:solidFill>
                <a:latin typeface="Source Serif Pro"/>
              </a:rPr>
              <a:t>Minha voz uso pra dizer o que se cala;</a:t>
            </a:r>
          </a:p>
          <a:p>
            <a:pPr algn="ctr">
              <a:lnSpc>
                <a:spcPts val="8756"/>
              </a:lnSpc>
            </a:pPr>
            <a:r>
              <a:rPr lang="en-US" sz="6254">
                <a:solidFill>
                  <a:srgbClr val="000000"/>
                </a:solidFill>
                <a:latin typeface="Source Serif Pro"/>
              </a:rPr>
              <a:t>O meu país é meu lugar de fala.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434115"/>
            <a:ext cx="7005520" cy="1824185"/>
            <a:chOff x="0" y="0"/>
            <a:chExt cx="7000901" cy="1822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00901" cy="1822983"/>
            </a:xfrm>
            <a:custGeom>
              <a:avLst/>
              <a:gdLst/>
              <a:ahLst/>
              <a:cxnLst/>
              <a:rect r="r" b="b" t="t" l="l"/>
              <a:pathLst>
                <a:path h="1822983" w="7000901">
                  <a:moveTo>
                    <a:pt x="0" y="0"/>
                  </a:moveTo>
                  <a:lnTo>
                    <a:pt x="7000901" y="0"/>
                  </a:lnTo>
                  <a:lnTo>
                    <a:pt x="7000901" y="1822983"/>
                  </a:lnTo>
                  <a:lnTo>
                    <a:pt x="0" y="1822983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55151" y="2020642"/>
            <a:ext cx="10577698" cy="467130"/>
            <a:chOff x="0" y="0"/>
            <a:chExt cx="12046496" cy="531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387252" y="627713"/>
            <a:ext cx="9513495" cy="186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sz="7172">
                <a:solidFill>
                  <a:srgbClr val="000000"/>
                </a:solidFill>
                <a:latin typeface="Dream Avenue"/>
              </a:rPr>
              <a:t>CONCLUSÃO E RECOMENDAÇÕES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53780" y="7434115"/>
            <a:ext cx="7005520" cy="1824185"/>
            <a:chOff x="0" y="0"/>
            <a:chExt cx="7000901" cy="1822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00901" cy="1822983"/>
            </a:xfrm>
            <a:custGeom>
              <a:avLst/>
              <a:gdLst/>
              <a:ahLst/>
              <a:cxnLst/>
              <a:rect r="r" b="b" t="t" l="l"/>
              <a:pathLst>
                <a:path h="1822983" w="7000901">
                  <a:moveTo>
                    <a:pt x="0" y="0"/>
                  </a:moveTo>
                  <a:lnTo>
                    <a:pt x="7000901" y="0"/>
                  </a:lnTo>
                  <a:lnTo>
                    <a:pt x="7000901" y="1822983"/>
                  </a:lnTo>
                  <a:lnTo>
                    <a:pt x="0" y="1822983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53780" y="4825060"/>
            <a:ext cx="7005520" cy="1824185"/>
            <a:chOff x="0" y="0"/>
            <a:chExt cx="7000901" cy="18229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00901" cy="1822983"/>
            </a:xfrm>
            <a:custGeom>
              <a:avLst/>
              <a:gdLst/>
              <a:ahLst/>
              <a:cxnLst/>
              <a:rect r="r" b="b" t="t" l="l"/>
              <a:pathLst>
                <a:path h="1822983" w="7000901">
                  <a:moveTo>
                    <a:pt x="0" y="0"/>
                  </a:moveTo>
                  <a:lnTo>
                    <a:pt x="7000901" y="0"/>
                  </a:lnTo>
                  <a:lnTo>
                    <a:pt x="7000901" y="1822983"/>
                  </a:lnTo>
                  <a:lnTo>
                    <a:pt x="0" y="1822983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4825060"/>
            <a:ext cx="7005520" cy="1824185"/>
            <a:chOff x="0" y="0"/>
            <a:chExt cx="7000901" cy="1822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0901" cy="1822983"/>
            </a:xfrm>
            <a:custGeom>
              <a:avLst/>
              <a:gdLst/>
              <a:ahLst/>
              <a:cxnLst/>
              <a:rect r="r" b="b" t="t" l="l"/>
              <a:pathLst>
                <a:path h="1822983" w="7000901">
                  <a:moveTo>
                    <a:pt x="0" y="0"/>
                  </a:moveTo>
                  <a:lnTo>
                    <a:pt x="7000901" y="0"/>
                  </a:lnTo>
                  <a:lnTo>
                    <a:pt x="7000901" y="1822983"/>
                  </a:lnTo>
                  <a:lnTo>
                    <a:pt x="0" y="1822983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80525" y="3263276"/>
            <a:ext cx="5497090" cy="242761"/>
            <a:chOff x="0" y="0"/>
            <a:chExt cx="12046496" cy="5319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68115" y="2854093"/>
            <a:ext cx="4452356" cy="95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2"/>
              </a:lnSpc>
            </a:pPr>
            <a:r>
              <a:rPr lang="en-US" sz="5615">
                <a:solidFill>
                  <a:srgbClr val="000000"/>
                </a:solidFill>
                <a:latin typeface="Dream Avenue"/>
              </a:rPr>
              <a:t>Filmes e séries: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06915" y="3263276"/>
            <a:ext cx="5497090" cy="242761"/>
            <a:chOff x="0" y="0"/>
            <a:chExt cx="12046496" cy="5319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46496" cy="531994"/>
            </a:xfrm>
            <a:custGeom>
              <a:avLst/>
              <a:gdLst/>
              <a:ahLst/>
              <a:cxnLst/>
              <a:rect r="r" b="b" t="t" l="l"/>
              <a:pathLst>
                <a:path h="531994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531994"/>
                  </a:lnTo>
                  <a:lnTo>
                    <a:pt x="0" y="531994"/>
                  </a:lnTo>
                  <a:close/>
                </a:path>
              </a:pathLst>
            </a:custGeom>
            <a:solidFill>
              <a:srgbClr val="AF8862">
                <a:alpha val="90980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938225" y="4963615"/>
            <a:ext cx="5186471" cy="146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179">
                <a:solidFill>
                  <a:srgbClr val="000000"/>
                </a:solidFill>
                <a:latin typeface="Dream Avenue"/>
              </a:rPr>
              <a:t>12 Anos de Escravidão</a:t>
            </a:r>
          </a:p>
          <a:p>
            <a:pPr algn="ctr">
              <a:lnSpc>
                <a:spcPts val="5850"/>
              </a:lnSpc>
            </a:pPr>
            <a:r>
              <a:rPr lang="en-US" sz="4179">
                <a:solidFill>
                  <a:srgbClr val="000000"/>
                </a:solidFill>
                <a:latin typeface="Dream Avenue"/>
              </a:rPr>
              <a:t>(12 Years a Slave)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8225" y="7582695"/>
            <a:ext cx="5186471" cy="146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179">
                <a:solidFill>
                  <a:srgbClr val="000000"/>
                </a:solidFill>
                <a:latin typeface="Dream Avenue"/>
              </a:rPr>
              <a:t>Corra!</a:t>
            </a:r>
          </a:p>
          <a:p>
            <a:pPr algn="ctr">
              <a:lnSpc>
                <a:spcPts val="5850"/>
              </a:lnSpc>
            </a:pPr>
            <a:r>
              <a:rPr lang="en-US" sz="4179">
                <a:solidFill>
                  <a:srgbClr val="000000"/>
                </a:solidFill>
                <a:latin typeface="Dream Avenue"/>
              </a:rPr>
              <a:t>(Get Out)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05700" y="7808544"/>
            <a:ext cx="3901680" cy="95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9"/>
              </a:lnSpc>
            </a:pPr>
            <a:r>
              <a:rPr lang="en-US" sz="5449">
                <a:solidFill>
                  <a:srgbClr val="000000"/>
                </a:solidFill>
                <a:latin typeface="Dream Avenue"/>
              </a:rPr>
              <a:t>All American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83188" y="5119748"/>
            <a:ext cx="3346704" cy="111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>
                <a:solidFill>
                  <a:srgbClr val="000000"/>
                </a:solidFill>
                <a:latin typeface="Dream Avenue"/>
              </a:rPr>
              <a:t>Insecure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88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060" y="4788389"/>
            <a:ext cx="4499619" cy="5251194"/>
            <a:chOff x="0" y="0"/>
            <a:chExt cx="1936056" cy="22594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6056" cy="2259437"/>
            </a:xfrm>
            <a:custGeom>
              <a:avLst/>
              <a:gdLst/>
              <a:ahLst/>
              <a:cxnLst/>
              <a:rect r="r" b="b" t="t" l="l"/>
              <a:pathLst>
                <a:path h="2259437" w="1936056">
                  <a:moveTo>
                    <a:pt x="0" y="0"/>
                  </a:moveTo>
                  <a:lnTo>
                    <a:pt x="1936056" y="0"/>
                  </a:lnTo>
                  <a:lnTo>
                    <a:pt x="1936056" y="2259437"/>
                  </a:lnTo>
                  <a:lnTo>
                    <a:pt x="0" y="2259437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73063" y="-493336"/>
            <a:ext cx="2290948" cy="4808154"/>
            <a:chOff x="0" y="0"/>
            <a:chExt cx="875323" cy="1837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5323" cy="1837095"/>
            </a:xfrm>
            <a:custGeom>
              <a:avLst/>
              <a:gdLst/>
              <a:ahLst/>
              <a:cxnLst/>
              <a:rect r="r" b="b" t="t" l="l"/>
              <a:pathLst>
                <a:path h="1837095" w="875323">
                  <a:moveTo>
                    <a:pt x="0" y="0"/>
                  </a:moveTo>
                  <a:lnTo>
                    <a:pt x="875323" y="0"/>
                  </a:lnTo>
                  <a:lnTo>
                    <a:pt x="875323" y="1837095"/>
                  </a:lnTo>
                  <a:lnTo>
                    <a:pt x="0" y="1837095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8142" y="-1836494"/>
            <a:ext cx="4499619" cy="5251194"/>
            <a:chOff x="0" y="0"/>
            <a:chExt cx="1936056" cy="22594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6056" cy="2259437"/>
            </a:xfrm>
            <a:custGeom>
              <a:avLst/>
              <a:gdLst/>
              <a:ahLst/>
              <a:cxnLst/>
              <a:rect r="r" b="b" t="t" l="l"/>
              <a:pathLst>
                <a:path h="2259437" w="1936056">
                  <a:moveTo>
                    <a:pt x="0" y="0"/>
                  </a:moveTo>
                  <a:lnTo>
                    <a:pt x="1936056" y="0"/>
                  </a:lnTo>
                  <a:lnTo>
                    <a:pt x="1936056" y="2259437"/>
                  </a:lnTo>
                  <a:lnTo>
                    <a:pt x="0" y="2259437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37575"/>
            <a:ext cx="4281488" cy="4119521"/>
            <a:chOff x="0" y="0"/>
            <a:chExt cx="5708651" cy="5492695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0" t="2146" r="0" b="2146"/>
            <a:stretch>
              <a:fillRect/>
            </a:stretch>
          </p:blipFill>
          <p:spPr>
            <a:xfrm flipH="false" flipV="false">
              <a:off x="0" y="0"/>
              <a:ext cx="5708651" cy="5492695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-452834" y="7498252"/>
            <a:ext cx="5187155" cy="5599471"/>
            <a:chOff x="0" y="0"/>
            <a:chExt cx="3060697" cy="33039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60697" cy="3303986"/>
            </a:xfrm>
            <a:custGeom>
              <a:avLst/>
              <a:gdLst/>
              <a:ahLst/>
              <a:cxnLst/>
              <a:rect r="r" b="b" t="t" l="l"/>
              <a:pathLst>
                <a:path h="3303986" w="3060697">
                  <a:moveTo>
                    <a:pt x="0" y="0"/>
                  </a:moveTo>
                  <a:lnTo>
                    <a:pt x="3060697" y="0"/>
                  </a:lnTo>
                  <a:lnTo>
                    <a:pt x="3060697" y="3303986"/>
                  </a:lnTo>
                  <a:lnTo>
                    <a:pt x="0" y="3303986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1317361" y="5047336"/>
            <a:ext cx="6916210" cy="4992246"/>
          </a:xfrm>
          <a:custGeom>
            <a:avLst/>
            <a:gdLst/>
            <a:ahLst/>
            <a:cxnLst/>
            <a:rect r="r" b="b" t="t" l="l"/>
            <a:pathLst>
              <a:path h="4992246" w="6916210">
                <a:moveTo>
                  <a:pt x="0" y="0"/>
                </a:moveTo>
                <a:lnTo>
                  <a:pt x="6916210" y="0"/>
                </a:lnTo>
                <a:lnTo>
                  <a:pt x="6916210" y="4992246"/>
                </a:lnTo>
                <a:lnTo>
                  <a:pt x="0" y="499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724332" y="6045524"/>
            <a:ext cx="5005820" cy="4406131"/>
            <a:chOff x="0" y="0"/>
            <a:chExt cx="6674427" cy="5874841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5"/>
            <a:srcRect l="0" t="6066" r="0" b="6066"/>
            <a:stretch>
              <a:fillRect/>
            </a:stretch>
          </p:blipFill>
          <p:spPr>
            <a:xfrm flipH="false" flipV="false">
              <a:off x="0" y="0"/>
              <a:ext cx="6674427" cy="5874841"/>
            </a:xfrm>
            <a:prstGeom prst="rect">
              <a:avLst/>
            </a:prstGeom>
          </p:spPr>
        </p:pic>
      </p:grpSp>
      <p:grpSp>
        <p:nvGrpSpPr>
          <p:cNvPr name="Group 15" id="15"/>
          <p:cNvGrpSpPr/>
          <p:nvPr/>
        </p:nvGrpSpPr>
        <p:grpSpPr>
          <a:xfrm rot="0">
            <a:off x="7657101" y="-1169247"/>
            <a:ext cx="4499619" cy="5251194"/>
            <a:chOff x="0" y="0"/>
            <a:chExt cx="1936056" cy="22594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6056" cy="2259437"/>
            </a:xfrm>
            <a:custGeom>
              <a:avLst/>
              <a:gdLst/>
              <a:ahLst/>
              <a:cxnLst/>
              <a:rect r="r" b="b" t="t" l="l"/>
              <a:pathLst>
                <a:path h="2259437" w="1936056">
                  <a:moveTo>
                    <a:pt x="0" y="0"/>
                  </a:moveTo>
                  <a:lnTo>
                    <a:pt x="1936056" y="0"/>
                  </a:lnTo>
                  <a:lnTo>
                    <a:pt x="1936056" y="2259437"/>
                  </a:lnTo>
                  <a:lnTo>
                    <a:pt x="0" y="2259437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92262" y="0"/>
            <a:ext cx="4668124" cy="3821482"/>
            <a:chOff x="0" y="0"/>
            <a:chExt cx="6224165" cy="5095310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6"/>
            <a:srcRect l="0" t="9448" r="0" b="9448"/>
            <a:stretch>
              <a:fillRect/>
            </a:stretch>
          </p:blipFill>
          <p:spPr>
            <a:xfrm flipH="false" flipV="false">
              <a:off x="0" y="0"/>
              <a:ext cx="6224165" cy="5095310"/>
            </a:xfrm>
            <a:prstGeom prst="rect">
              <a:avLst/>
            </a:prstGeom>
          </p:spPr>
        </p:pic>
      </p:grpSp>
      <p:grpSp>
        <p:nvGrpSpPr>
          <p:cNvPr name="Group 19" id="19"/>
          <p:cNvGrpSpPr/>
          <p:nvPr/>
        </p:nvGrpSpPr>
        <p:grpSpPr>
          <a:xfrm rot="0">
            <a:off x="15161089" y="5317649"/>
            <a:ext cx="7113416" cy="7678846"/>
            <a:chOff x="0" y="0"/>
            <a:chExt cx="3060697" cy="33039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60697" cy="3303986"/>
            </a:xfrm>
            <a:custGeom>
              <a:avLst/>
              <a:gdLst/>
              <a:ahLst/>
              <a:cxnLst/>
              <a:rect r="r" b="b" t="t" l="l"/>
              <a:pathLst>
                <a:path h="3303986" w="3060697">
                  <a:moveTo>
                    <a:pt x="0" y="0"/>
                  </a:moveTo>
                  <a:lnTo>
                    <a:pt x="3060697" y="0"/>
                  </a:lnTo>
                  <a:lnTo>
                    <a:pt x="3060697" y="3303986"/>
                  </a:lnTo>
                  <a:lnTo>
                    <a:pt x="0" y="3303986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645489" y="6151815"/>
            <a:ext cx="4779955" cy="4193550"/>
            <a:chOff x="0" y="0"/>
            <a:chExt cx="6373274" cy="5591400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7"/>
            <a:srcRect l="0" t="5485" r="0" b="5485"/>
            <a:stretch>
              <a:fillRect/>
            </a:stretch>
          </p:blipFill>
          <p:spPr>
            <a:xfrm flipH="false" flipV="false">
              <a:off x="0" y="0"/>
              <a:ext cx="6373274" cy="5591400"/>
            </a:xfrm>
            <a:prstGeom prst="rect">
              <a:avLst/>
            </a:prstGeom>
          </p:spPr>
        </p:pic>
      </p:grpSp>
      <p:sp>
        <p:nvSpPr>
          <p:cNvPr name="Freeform 23" id="23"/>
          <p:cNvSpPr/>
          <p:nvPr/>
        </p:nvSpPr>
        <p:spPr>
          <a:xfrm flipH="false" flipV="false" rot="8100000">
            <a:off x="15246100" y="1390245"/>
            <a:ext cx="5609320" cy="4048909"/>
          </a:xfrm>
          <a:custGeom>
            <a:avLst/>
            <a:gdLst/>
            <a:ahLst/>
            <a:cxnLst/>
            <a:rect r="r" b="b" t="t" l="l"/>
            <a:pathLst>
              <a:path h="4048909" w="5609320">
                <a:moveTo>
                  <a:pt x="0" y="0"/>
                </a:moveTo>
                <a:lnTo>
                  <a:pt x="5609319" y="0"/>
                </a:lnTo>
                <a:lnTo>
                  <a:pt x="5609319" y="4048909"/>
                </a:lnTo>
                <a:lnTo>
                  <a:pt x="0" y="40489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782933" y="0"/>
            <a:ext cx="4505067" cy="3983531"/>
            <a:chOff x="0" y="0"/>
            <a:chExt cx="6006756" cy="5311375"/>
          </a:xfrm>
        </p:grpSpPr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8"/>
            <a:srcRect l="0" t="2857" r="0" b="2857"/>
            <a:stretch>
              <a:fillRect/>
            </a:stretch>
          </p:blipFill>
          <p:spPr>
            <a:xfrm flipH="false" flipV="false">
              <a:off x="0" y="0"/>
              <a:ext cx="6006756" cy="5311375"/>
            </a:xfrm>
            <a:prstGeom prst="rect">
              <a:avLst/>
            </a:prstGeom>
          </p:spPr>
        </p:pic>
      </p:grpSp>
      <p:grpSp>
        <p:nvGrpSpPr>
          <p:cNvPr name="Group 26" id="26"/>
          <p:cNvGrpSpPr/>
          <p:nvPr/>
        </p:nvGrpSpPr>
        <p:grpSpPr>
          <a:xfrm rot="0">
            <a:off x="7997502" y="6553351"/>
            <a:ext cx="4499619" cy="5251194"/>
            <a:chOff x="0" y="0"/>
            <a:chExt cx="1936056" cy="22594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056" cy="2259437"/>
            </a:xfrm>
            <a:custGeom>
              <a:avLst/>
              <a:gdLst/>
              <a:ahLst/>
              <a:cxnLst/>
              <a:rect r="r" b="b" t="t" l="l"/>
              <a:pathLst>
                <a:path h="2259437" w="1936056">
                  <a:moveTo>
                    <a:pt x="0" y="0"/>
                  </a:moveTo>
                  <a:lnTo>
                    <a:pt x="1936056" y="0"/>
                  </a:lnTo>
                  <a:lnTo>
                    <a:pt x="1936056" y="2259437"/>
                  </a:lnTo>
                  <a:lnTo>
                    <a:pt x="0" y="2259437"/>
                  </a:lnTo>
                  <a:close/>
                </a:path>
              </a:pathLst>
            </a:custGeom>
            <a:solidFill>
              <a:srgbClr val="D6CFC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19677" y="5939234"/>
            <a:ext cx="4940708" cy="4406131"/>
            <a:chOff x="0" y="0"/>
            <a:chExt cx="6587610" cy="5874841"/>
          </a:xfrm>
        </p:grpSpPr>
        <p:pic>
          <p:nvPicPr>
            <p:cNvPr name="Picture 29" id="29"/>
            <p:cNvPicPr>
              <a:picLocks noChangeAspect="true"/>
            </p:cNvPicPr>
            <p:nvPr/>
          </p:nvPicPr>
          <p:blipFill>
            <a:blip r:embed="rId9"/>
            <a:srcRect l="0" t="5213" r="0" b="5213"/>
            <a:stretch>
              <a:fillRect/>
            </a:stretch>
          </p:blipFill>
          <p:spPr>
            <a:xfrm flipH="false" flipV="false">
              <a:off x="0" y="0"/>
              <a:ext cx="6587610" cy="5874841"/>
            </a:xfrm>
            <a:prstGeom prst="rect">
              <a:avLst/>
            </a:prstGeom>
          </p:spPr>
        </p:pic>
      </p:grpSp>
      <p:sp>
        <p:nvSpPr>
          <p:cNvPr name="TextBox 30" id="30"/>
          <p:cNvSpPr txBox="true"/>
          <p:nvPr/>
        </p:nvSpPr>
        <p:spPr>
          <a:xfrm rot="0">
            <a:off x="4281488" y="3758096"/>
            <a:ext cx="10479551" cy="27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23"/>
              </a:lnSpc>
            </a:pPr>
            <a:r>
              <a:rPr lang="en-US" sz="16230">
                <a:solidFill>
                  <a:srgbClr val="FFFFFF"/>
                </a:solidFill>
                <a:latin typeface="Dream Avenue"/>
              </a:rPr>
              <a:t>OBRIGADO!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14733" y="1660609"/>
            <a:ext cx="23123025" cy="564982"/>
            <a:chOff x="0" y="0"/>
            <a:chExt cx="12046496" cy="294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46496" cy="294341"/>
            </a:xfrm>
            <a:custGeom>
              <a:avLst/>
              <a:gdLst/>
              <a:ahLst/>
              <a:cxnLst/>
              <a:rect r="r" b="b" t="t" l="l"/>
              <a:pathLst>
                <a:path h="294341" w="12046496">
                  <a:moveTo>
                    <a:pt x="0" y="0"/>
                  </a:moveTo>
                  <a:lnTo>
                    <a:pt x="12046496" y="0"/>
                  </a:lnTo>
                  <a:lnTo>
                    <a:pt x="12046496" y="294341"/>
                  </a:lnTo>
                  <a:lnTo>
                    <a:pt x="0" y="294341"/>
                  </a:lnTo>
                  <a:close/>
                </a:path>
              </a:pathLst>
            </a:custGeom>
            <a:solidFill>
              <a:srgbClr val="854E35">
                <a:alpha val="90980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55759"/>
            <a:ext cx="11101462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000"/>
              </a:lnSpc>
            </a:pPr>
            <a:r>
              <a:rPr lang="en-US" sz="12000">
                <a:solidFill>
                  <a:srgbClr val="130E0C"/>
                </a:solidFill>
                <a:latin typeface="Dream Avenue"/>
              </a:rPr>
              <a:t>RFERÊNCIAS: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18809"/>
            <a:ext cx="16230600" cy="132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01"/>
              </a:lnSpc>
            </a:pPr>
            <a:r>
              <a:rPr lang="en-US" sz="3786">
                <a:solidFill>
                  <a:srgbClr val="130E0C"/>
                </a:solidFill>
                <a:latin typeface="Source Serif Pro Bold"/>
              </a:rPr>
              <a:t>RIBEIRO, Djamila. O que é Lugar de Fala: Coleção Feminismos Plurais. 1ª edição. ed. Belo Horizonte (MG): Letramento, 2017. 112 p. v. 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188303"/>
            <a:ext cx="16230600" cy="132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01"/>
              </a:lnSpc>
            </a:pPr>
            <a:r>
              <a:rPr lang="en-US" sz="3786">
                <a:solidFill>
                  <a:srgbClr val="130E0C"/>
                </a:solidFill>
                <a:latin typeface="Source Serif Pro Bold"/>
              </a:rPr>
              <a:t>RIBEIRO, Djamila. Lugar de Fala. 1ª edição. ed. Brasil: Letramento, 2017. 96 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DAFzOzXUhsI</dc:identifier>
  <dcterms:modified xsi:type="dcterms:W3CDTF">2011-08-01T06:04:30Z</dcterms:modified>
  <cp:revision>1</cp:revision>
  <dc:title>Lugar de fala</dc:title>
</cp:coreProperties>
</file>